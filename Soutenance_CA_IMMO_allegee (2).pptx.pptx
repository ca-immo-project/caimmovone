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alibri (MS) Bold" charset="1" panose="020F0702030404030204"/>
      <p:regular r:id="rId20"/>
    </p:embeddedFont>
    <p:embeddedFont>
      <p:font typeface="Arial Bold" charset="1" panose="020B0704020202020204"/>
      <p:regular r:id="rId21"/>
    </p:embeddedFont>
    <p:embeddedFont>
      <p:font typeface="Calibri (MS)" charset="1" panose="020F0502020204030204"/>
      <p:regular r:id="rId24"/>
    </p:embeddedFont>
    <p:embeddedFont>
      <p:font typeface="Calibri (MS) Italics" charset="1" panose="020F05020202040A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fonts/font24.fntdata" Type="http://schemas.openxmlformats.org/officeDocument/2006/relationships/font"/><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 s] Bonjour à toutes et à tous. Je vais vous présenter CA IMMO, la plateforme web réalisée pendant mon stage chez Eray Digital : le besoin, la solution, les résultats, puis une démonstration en direct.</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 s] Le plan : le contexte et la problématique, la solution avec la démarche et les outils, le fonctionnement de la plateforme, les résultats et perspectives, puis la démonstration en live à la fin.</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min] Mon stage s'est déroulé chez Eray Digital, société de solutions numériques à Antananarivo, pour son client CA IMMO, une agence qui vend des terrains. J'étais développeur full-stack, de la base de données aux écrans, et le livrable est un prototype fonctionnel avec des données de démonstration. Avant le projet, tout était éparpillé : l'offre sur les réseaux sociaux et les panneaux, le suivi des clients dans des tableurs, WhatsApp et du papier, et la diaspora n'avait aucun canal fiable. D'où la problématique affichée.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min 15] La solution tient en deux espaces reliés. À gauche, le site public : le visiteur consulte le catalogue, filtre, envoie une demande d'achat ou de visite, ou dépose son terrain. À droite, l'espace d'administration réservé à l'équipe : tableau de bord, catalogue, clients, demandes, et validation de chaque dossier avant publication. Trois objectifs guident l'ensemble : centraliser l'information, relier le site, l'admin et les données, et sécuriser les accès et les documents sensibles.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[~45 s] Méthode itérative inspirée de l'agilité : par petits cycles, on comprend le besoin, on développe, on montre à l'encadreur, puis on corrige et on valide. Les fonctionnalités ont été priorisées avec la méthode MoSCoW : 8 indispensables et 3 utiles. Côté technologies, en une phrase chacune : React pour ce que l'on voit, Laravel pour les règles de gestion et la sécurité, PostgreSQL pour stocker les données de façon fiable, GitHub pour suivre le code et lancer des tests automatiques.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min] Vous allez voir tout cela en direct dans quelques instants, donc je reste bref. Côté visiteur : un catalogue filtrable par région, zone et prix, une fiche complète pour chaque terrain, et des formulaires qui transforment l'intérêt en demande exploitable, datée et référencée ; si le même visiteur renvoie sa demande, le dossier est mis à jour au lieu de créer un doublon. Côté agence : un tableau de bord de ce qu'il reste à traiter, la fiche client unifiée qui regroupe tout l'historique, et les dossiers vendeurs dont les documents restent privés, avec validation avant toute publication.</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min 15] Pour la fiabilité : 16 tests automatisés réussis, soit 37 vérifications, aucune vulnérabilité détectée sur les dépendances, et les 11 fonctionnalités prévues sont couvertes. Je reprends ensuite les problèmes de départ : l'offre dispersée devient un catalogue centralisé, les demandes multi-canaux arrivent par des formulaires reliés à l'espace admin, les fichiers clients séparés deviennent une fiche client unifiée, et les documents sensibles sont dans un stockage privé accessible aux seuls administrateurs. Côté sécurité, en clair : accès admin protégé, données vérifiées avant enregistrement, documents privés, envois répétés limités.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min] Les limites, en toute transparence : c'est un prototype alimenté par des données de démonstration, pas encore testé par de vrais utilisateurs, sans journal d'audit ni rôles distincts. Et la plateforme n'est pas une garantie juridique : elle ne remplace ni le notaire ni le géomètre. La suite, en trois temps : court terme, une mise en exploitation maîtrisée avec HTTPS, sauvegardes, vraies données et formation des agents ; moyen terme, qualité et pilotage avec journal d'audit, rôles et notifications ; long terme, une version mobile installable et un espace de suivi pour les clients.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 s] En conclusion : un marché dispersé, une réponse centralisée, et une preuve par un prototype fonctionnel et des tests réussis. La valeur réelle dépendra maintenant de l'adoption par les agents, de la qualité des données et des contrôles juridiques. Je vous propose de passer à la démonstration.</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 min, démo live] Avant de commencer : onglets du site public et de l'admin déjà ouverts, session admin connectée. Parcours 1 : visiteur — catalogue, filtre région/prix, fiche, demande de visite. Parcours 2 : agence — back-office, tableau de bord, retrouver la demande qui vient d'arriver, fiche client unifiée. Parcours 3 (bonus si le temps manque) : dépôt vendeur — soumettre un terrain, dossier en attente de validation, documents privés. Plan B si problème de connexion : slides masquées de secours à la fin (12 et 13).</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Remercier l'encadreur pédagogique, l'encadreur professionnel, l'équipe Eray Digital, le jury, l'équipe pédagogique et la famille. Puis ouvrir aux questions.</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notesSlides/notesSlide2.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5.jpe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13.jpe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5.jpeg" Type="http://schemas.openxmlformats.org/officeDocument/2006/relationships/image"/><Relationship Id="rId5" Target="../media/image17.jpeg" Type="http://schemas.openxmlformats.org/officeDocument/2006/relationships/image"/><Relationship Id="rId6" Target="../media/image18.jpe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png" Type="http://schemas.openxmlformats.org/officeDocument/2006/relationships/image"/><Relationship Id="rId4"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notesSlides/notesSlide6.xml" Type="http://schemas.openxmlformats.org/officeDocument/2006/relationships/notesSlide"/><Relationship Id="rId3" Target="../media/image6.png" Type="http://schemas.openxmlformats.org/officeDocument/2006/relationships/image"/><Relationship Id="rId4" Target="../media/image5.jpe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png" Type="http://schemas.openxmlformats.org/officeDocument/2006/relationships/image"/><Relationship Id="rId4"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 Id="rId4" Target="../media/image5.jpeg" Type="http://schemas.openxmlformats.org/officeDocument/2006/relationships/image"/><Relationship Id="rId5"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 Id="rId4"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1536192"/>
            <a:ext cx="10149840" cy="7717536"/>
            <a:chOff x="0" y="0"/>
            <a:chExt cx="13533120" cy="10290048"/>
          </a:xfrm>
        </p:grpSpPr>
        <p:sp>
          <p:nvSpPr>
            <p:cNvPr name="Freeform 3" id="3" descr="assets/blob_title.png"/>
            <p:cNvSpPr/>
            <p:nvPr/>
          </p:nvSpPr>
          <p:spPr>
            <a:xfrm flipH="false" flipV="false" rot="0">
              <a:off x="0" y="0"/>
              <a:ext cx="13533120" cy="10290048"/>
            </a:xfrm>
            <a:custGeom>
              <a:avLst/>
              <a:gdLst/>
              <a:ahLst/>
              <a:cxnLst/>
              <a:rect r="r" b="b" t="t" l="l"/>
              <a:pathLst>
                <a:path h="10290048" w="13533120">
                  <a:moveTo>
                    <a:pt x="0" y="0"/>
                  </a:moveTo>
                  <a:lnTo>
                    <a:pt x="13533120" y="0"/>
                  </a:lnTo>
                  <a:lnTo>
                    <a:pt x="13533120" y="10290048"/>
                  </a:lnTo>
                  <a:lnTo>
                    <a:pt x="0" y="10290048"/>
                  </a:lnTo>
                  <a:lnTo>
                    <a:pt x="0" y="0"/>
                  </a:lnTo>
                  <a:close/>
                </a:path>
              </a:pathLst>
            </a:custGeom>
            <a:blipFill>
              <a:blip r:embed="rId3"/>
              <a:stretch>
                <a:fillRect l="0" t="0" r="0" b="0"/>
              </a:stretch>
            </a:blipFill>
          </p:spPr>
        </p:sp>
      </p:grpSp>
      <p:grpSp>
        <p:nvGrpSpPr>
          <p:cNvPr name="Group 4" id="4"/>
          <p:cNvGrpSpPr/>
          <p:nvPr/>
        </p:nvGrpSpPr>
        <p:grpSpPr>
          <a:xfrm rot="0">
            <a:off x="8997696" y="1865376"/>
            <a:ext cx="9290304" cy="7991856"/>
            <a:chOff x="0" y="0"/>
            <a:chExt cx="12387072" cy="10655808"/>
          </a:xfrm>
        </p:grpSpPr>
        <p:sp>
          <p:nvSpPr>
            <p:cNvPr name="Freeform 5" id="5" descr="assets/laptop_crop.png"/>
            <p:cNvSpPr/>
            <p:nvPr/>
          </p:nvSpPr>
          <p:spPr>
            <a:xfrm flipH="false" flipV="false" rot="0">
              <a:off x="0" y="0"/>
              <a:ext cx="12387072" cy="10655808"/>
            </a:xfrm>
            <a:custGeom>
              <a:avLst/>
              <a:gdLst/>
              <a:ahLst/>
              <a:cxnLst/>
              <a:rect r="r" b="b" t="t" l="l"/>
              <a:pathLst>
                <a:path h="10655808" w="12387072">
                  <a:moveTo>
                    <a:pt x="0" y="0"/>
                  </a:moveTo>
                  <a:lnTo>
                    <a:pt x="12387072" y="0"/>
                  </a:lnTo>
                  <a:lnTo>
                    <a:pt x="12387072" y="10655808"/>
                  </a:lnTo>
                  <a:lnTo>
                    <a:pt x="0" y="10655808"/>
                  </a:lnTo>
                  <a:lnTo>
                    <a:pt x="0" y="0"/>
                  </a:lnTo>
                  <a:close/>
                </a:path>
              </a:pathLst>
            </a:custGeom>
            <a:blipFill>
              <a:blip r:embed="rId4"/>
              <a:stretch>
                <a:fillRect l="-16" t="0" r="-16" b="0"/>
              </a:stretch>
            </a:blipFill>
          </p:spPr>
        </p:sp>
      </p:grpSp>
      <p:grpSp>
        <p:nvGrpSpPr>
          <p:cNvPr name="Group 6" id="6"/>
          <p:cNvGrpSpPr/>
          <p:nvPr/>
        </p:nvGrpSpPr>
        <p:grpSpPr>
          <a:xfrm rot="0">
            <a:off x="0" y="36576"/>
            <a:ext cx="1645920" cy="1673352"/>
            <a:chOff x="0" y="0"/>
            <a:chExt cx="2194560" cy="2231136"/>
          </a:xfrm>
        </p:grpSpPr>
        <p:sp>
          <p:nvSpPr>
            <p:cNvPr name="Freeform 7" id="7" descr="assets/eray.png"/>
            <p:cNvSpPr/>
            <p:nvPr/>
          </p:nvSpPr>
          <p:spPr>
            <a:xfrm flipH="false" flipV="false" rot="0">
              <a:off x="0" y="0"/>
              <a:ext cx="2194560" cy="2231136"/>
            </a:xfrm>
            <a:custGeom>
              <a:avLst/>
              <a:gdLst/>
              <a:ahLst/>
              <a:cxnLst/>
              <a:rect r="r" b="b" t="t" l="l"/>
              <a:pathLst>
                <a:path h="2231136" w="2194560">
                  <a:moveTo>
                    <a:pt x="0" y="0"/>
                  </a:moveTo>
                  <a:lnTo>
                    <a:pt x="2194560" y="0"/>
                  </a:lnTo>
                  <a:lnTo>
                    <a:pt x="2194560" y="2231136"/>
                  </a:lnTo>
                  <a:lnTo>
                    <a:pt x="0" y="2231136"/>
                  </a:lnTo>
                  <a:lnTo>
                    <a:pt x="0" y="0"/>
                  </a:lnTo>
                  <a:close/>
                </a:path>
              </a:pathLst>
            </a:custGeom>
            <a:blipFill>
              <a:blip r:embed="rId5"/>
              <a:stretch>
                <a:fillRect l="0" t="-4" r="0" b="-4"/>
              </a:stretch>
            </a:blipFill>
          </p:spPr>
        </p:sp>
      </p:grpSp>
      <p:grpSp>
        <p:nvGrpSpPr>
          <p:cNvPr name="Group 8" id="8"/>
          <p:cNvGrpSpPr/>
          <p:nvPr/>
        </p:nvGrpSpPr>
        <p:grpSpPr>
          <a:xfrm rot="0">
            <a:off x="16770096" y="36576"/>
            <a:ext cx="1517904" cy="1517904"/>
            <a:chOff x="0" y="0"/>
            <a:chExt cx="2023872" cy="2023872"/>
          </a:xfrm>
        </p:grpSpPr>
        <p:sp>
          <p:nvSpPr>
            <p:cNvPr name="Freeform 9" id="9" descr="assets/geit.png"/>
            <p:cNvSpPr/>
            <p:nvPr/>
          </p:nvSpPr>
          <p:spPr>
            <a:xfrm flipH="false" flipV="false" rot="0">
              <a:off x="0" y="0"/>
              <a:ext cx="2023872" cy="2023872"/>
            </a:xfrm>
            <a:custGeom>
              <a:avLst/>
              <a:gdLst/>
              <a:ahLst/>
              <a:cxnLst/>
              <a:rect r="r" b="b" t="t" l="l"/>
              <a:pathLst>
                <a:path h="2023872" w="2023872">
                  <a:moveTo>
                    <a:pt x="0" y="0"/>
                  </a:moveTo>
                  <a:lnTo>
                    <a:pt x="2023872" y="0"/>
                  </a:lnTo>
                  <a:lnTo>
                    <a:pt x="2023872" y="2023872"/>
                  </a:lnTo>
                  <a:lnTo>
                    <a:pt x="0" y="2023872"/>
                  </a:lnTo>
                  <a:lnTo>
                    <a:pt x="0" y="0"/>
                  </a:lnTo>
                  <a:close/>
                </a:path>
              </a:pathLst>
            </a:custGeom>
            <a:blipFill>
              <a:blip r:embed="rId6"/>
              <a:stretch>
                <a:fillRect l="0" t="0" r="0" b="0"/>
              </a:stretch>
            </a:blipFill>
          </p:spPr>
        </p:sp>
      </p:grpSp>
      <p:grpSp>
        <p:nvGrpSpPr>
          <p:cNvPr name="Group 10" id="10"/>
          <p:cNvGrpSpPr/>
          <p:nvPr/>
        </p:nvGrpSpPr>
        <p:grpSpPr>
          <a:xfrm rot="0">
            <a:off x="292608" y="9509760"/>
            <a:ext cx="7315200" cy="548640"/>
            <a:chOff x="0" y="0"/>
            <a:chExt cx="9753600" cy="731520"/>
          </a:xfrm>
        </p:grpSpPr>
        <p:sp>
          <p:nvSpPr>
            <p:cNvPr name="Freeform 11" id="11"/>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7">
                <a:alphaModFix amt="0"/>
              </a:blip>
              <a:stretch>
                <a:fillRect l="0" t="-209800" r="0" b="-209800"/>
              </a:stretch>
            </a:blipFill>
          </p:spPr>
        </p:sp>
        <p:sp>
          <p:nvSpPr>
            <p:cNvPr name="TextBox 12" id="12"/>
            <p:cNvSpPr txBox="true"/>
            <p:nvPr/>
          </p:nvSpPr>
          <p:spPr>
            <a:xfrm>
              <a:off x="0" y="-38100"/>
              <a:ext cx="9753600" cy="769620"/>
            </a:xfrm>
            <a:prstGeom prst="rect">
              <a:avLst/>
            </a:prstGeom>
          </p:spPr>
          <p:txBody>
            <a:bodyPr anchor="ctr" rtlCol="false" tIns="0" lIns="0" bIns="0" rIns="0"/>
            <a:lstStyle/>
            <a:p>
              <a:pPr algn="l">
                <a:lnSpc>
                  <a:spcPts val="2879"/>
                </a:lnSpc>
              </a:pPr>
              <a:r>
                <a:rPr lang="en-US" sz="2400" b="true">
                  <a:solidFill>
                    <a:srgbClr val="0A1D42"/>
                  </a:solidFill>
                  <a:latin typeface="Calibri (MS) Bold"/>
                  <a:ea typeface="Calibri (MS) Bold"/>
                  <a:cs typeface="Calibri (MS) Bold"/>
                  <a:sym typeface="Calibri (MS) Bold"/>
                </a:rPr>
                <a:t>Année Scolaire : 2025 - 2026</a:t>
              </a:r>
            </a:p>
          </p:txBody>
        </p:sp>
      </p:grpSp>
      <p:sp>
        <p:nvSpPr>
          <p:cNvPr name="TextBox 13" id="13"/>
          <p:cNvSpPr txBox="true"/>
          <p:nvPr/>
        </p:nvSpPr>
        <p:spPr>
          <a:xfrm rot="0">
            <a:off x="2011680" y="264795"/>
            <a:ext cx="14264640" cy="1143381"/>
          </a:xfrm>
          <a:prstGeom prst="rect">
            <a:avLst/>
          </a:prstGeom>
        </p:spPr>
        <p:txBody>
          <a:bodyPr anchor="t" rtlCol="false" tIns="0" lIns="0" bIns="0" rIns="0">
            <a:spAutoFit/>
          </a:bodyPr>
          <a:lstStyle/>
          <a:p>
            <a:pPr algn="ctr">
              <a:lnSpc>
                <a:spcPts val="2879"/>
              </a:lnSpc>
            </a:pPr>
            <a:r>
              <a:rPr lang="en-US" sz="2400" b="true">
                <a:solidFill>
                  <a:srgbClr val="0A1D42"/>
                </a:solidFill>
                <a:latin typeface="Arial Bold"/>
                <a:ea typeface="Arial Bold"/>
                <a:cs typeface="Arial Bold"/>
                <a:sym typeface="Arial Bold"/>
              </a:rPr>
              <a:t>MÉMOIRE EN VUE DE L'OBTENTION DU DIPLÔME DE LICENCE</a:t>
            </a:r>
          </a:p>
          <a:p>
            <a:pPr algn="ctr">
              <a:lnSpc>
                <a:spcPts val="2879"/>
              </a:lnSpc>
            </a:pPr>
            <a:r>
              <a:rPr lang="en-US" sz="2400" b="true">
                <a:solidFill>
                  <a:srgbClr val="0A1D42"/>
                </a:solidFill>
                <a:latin typeface="Arial Bold"/>
                <a:ea typeface="Arial Bold"/>
                <a:cs typeface="Arial Bold"/>
                <a:sym typeface="Arial Bold"/>
              </a:rPr>
              <a:t>PARCOURS : DÉVELOPPEMENT WEB ET MOBILE</a:t>
            </a:r>
          </a:p>
        </p:txBody>
      </p:sp>
      <p:sp>
        <p:nvSpPr>
          <p:cNvPr name="TextBox 14" id="14"/>
          <p:cNvSpPr txBox="true"/>
          <p:nvPr/>
        </p:nvSpPr>
        <p:spPr>
          <a:xfrm rot="0">
            <a:off x="365760" y="3556635"/>
            <a:ext cx="9418320" cy="2112645"/>
          </a:xfrm>
          <a:prstGeom prst="rect">
            <a:avLst/>
          </a:prstGeom>
        </p:spPr>
        <p:txBody>
          <a:bodyPr anchor="t" rtlCol="false" tIns="0" lIns="0" bIns="0" rIns="0">
            <a:spAutoFit/>
          </a:bodyPr>
          <a:lstStyle/>
          <a:p>
            <a:pPr algn="l">
              <a:lnSpc>
                <a:spcPts val="4799"/>
              </a:lnSpc>
            </a:pPr>
            <a:r>
              <a:rPr lang="en-US" sz="3999" b="true">
                <a:solidFill>
                  <a:srgbClr val="FFE69C"/>
                </a:solidFill>
                <a:latin typeface="Arial Bold"/>
                <a:ea typeface="Arial Bold"/>
                <a:cs typeface="Arial Bold"/>
                <a:sym typeface="Arial Bold"/>
              </a:rPr>
              <a:t>CONCEPTION ET RÉALISATION D'UNE PLATEFORME WEB CENTRALISÉE POUR CA IMMO</a:t>
            </a:r>
          </a:p>
        </p:txBody>
      </p:sp>
      <p:grpSp>
        <p:nvGrpSpPr>
          <p:cNvPr name="Group 15" id="15"/>
          <p:cNvGrpSpPr/>
          <p:nvPr/>
        </p:nvGrpSpPr>
        <p:grpSpPr>
          <a:xfrm rot="0">
            <a:off x="365760" y="6505575"/>
            <a:ext cx="9509760" cy="731520"/>
            <a:chOff x="0" y="0"/>
            <a:chExt cx="12679680" cy="975360"/>
          </a:xfrm>
        </p:grpSpPr>
        <p:sp>
          <p:nvSpPr>
            <p:cNvPr name="Freeform 16" id="16"/>
            <p:cNvSpPr/>
            <p:nvPr/>
          </p:nvSpPr>
          <p:spPr>
            <a:xfrm flipH="false" flipV="false" rot="0">
              <a:off x="0" y="0"/>
              <a:ext cx="12679680" cy="975360"/>
            </a:xfrm>
            <a:custGeom>
              <a:avLst/>
              <a:gdLst/>
              <a:ahLst/>
              <a:cxnLst/>
              <a:rect r="r" b="b" t="t" l="l"/>
              <a:pathLst>
                <a:path h="975360" w="12679680">
                  <a:moveTo>
                    <a:pt x="0" y="0"/>
                  </a:moveTo>
                  <a:lnTo>
                    <a:pt x="12679680" y="0"/>
                  </a:lnTo>
                  <a:lnTo>
                    <a:pt x="12679680" y="975360"/>
                  </a:lnTo>
                  <a:lnTo>
                    <a:pt x="0" y="975360"/>
                  </a:lnTo>
                  <a:close/>
                </a:path>
              </a:pathLst>
            </a:custGeom>
            <a:blipFill>
              <a:blip r:embed="rId7">
                <a:alphaModFix amt="0"/>
              </a:blip>
              <a:stretch>
                <a:fillRect l="0" t="-203305" r="0" b="-203305"/>
              </a:stretch>
            </a:blipFill>
          </p:spPr>
        </p:sp>
        <p:sp>
          <p:nvSpPr>
            <p:cNvPr name="TextBox 17" id="17"/>
            <p:cNvSpPr txBox="true"/>
            <p:nvPr/>
          </p:nvSpPr>
          <p:spPr>
            <a:xfrm>
              <a:off x="0" y="-19050"/>
              <a:ext cx="12679680" cy="994410"/>
            </a:xfrm>
            <a:prstGeom prst="rect">
              <a:avLst/>
            </a:prstGeom>
          </p:spPr>
          <p:txBody>
            <a:bodyPr anchor="ctr" rtlCol="false" tIns="0" lIns="0" bIns="0" rIns="0"/>
            <a:lstStyle/>
            <a:p>
              <a:pPr algn="l">
                <a:lnSpc>
                  <a:spcPts val="3600"/>
                </a:lnSpc>
              </a:pPr>
              <a:r>
                <a:rPr lang="en-US" sz="3000" b="true">
                  <a:solidFill>
                    <a:srgbClr val="FFFFFF"/>
                  </a:solidFill>
                  <a:latin typeface="Arial Bold"/>
                  <a:ea typeface="Arial Bold"/>
                  <a:cs typeface="Arial Bold"/>
                  <a:sym typeface="Arial Bold"/>
                </a:rPr>
                <a:t>Présenté par : MAHATRATRANIMARO </a:t>
              </a:r>
              <a:r>
                <a:rPr lang="en-US" sz="3000" b="true">
                  <a:solidFill>
                    <a:srgbClr val="FDC830"/>
                  </a:solidFill>
                  <a:latin typeface="Arial Bold"/>
                  <a:ea typeface="Arial Bold"/>
                  <a:cs typeface="Arial Bold"/>
                  <a:sym typeface="Arial Bold"/>
                </a:rPr>
                <a:t>Adolph</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5352031" y="-189233"/>
            <a:ext cx="12375385" cy="12375385"/>
            <a:chOff x="0" y="0"/>
            <a:chExt cx="16500513" cy="16500513"/>
          </a:xfrm>
        </p:grpSpPr>
        <p:sp>
          <p:nvSpPr>
            <p:cNvPr name="Freeform 3" id="3"/>
            <p:cNvSpPr/>
            <p:nvPr/>
          </p:nvSpPr>
          <p:spPr>
            <a:xfrm flipH="false" flipV="false" rot="0">
              <a:off x="0" y="0"/>
              <a:ext cx="16500602" cy="16500602"/>
            </a:xfrm>
            <a:custGeom>
              <a:avLst/>
              <a:gdLst/>
              <a:ahLst/>
              <a:cxnLst/>
              <a:rect r="r" b="b" t="t" l="l"/>
              <a:pathLst>
                <a:path h="16500602" w="16500602">
                  <a:moveTo>
                    <a:pt x="0" y="8250301"/>
                  </a:moveTo>
                  <a:cubicBezTo>
                    <a:pt x="0" y="3693795"/>
                    <a:pt x="3693795" y="0"/>
                    <a:pt x="8250301" y="0"/>
                  </a:cubicBezTo>
                  <a:cubicBezTo>
                    <a:pt x="12806807" y="0"/>
                    <a:pt x="16500602" y="3693795"/>
                    <a:pt x="16500602" y="8250301"/>
                  </a:cubicBezTo>
                  <a:cubicBezTo>
                    <a:pt x="16500602" y="12806807"/>
                    <a:pt x="12806807" y="16500602"/>
                    <a:pt x="8250301" y="16500602"/>
                  </a:cubicBezTo>
                  <a:cubicBezTo>
                    <a:pt x="3693795" y="16500602"/>
                    <a:pt x="0" y="12806807"/>
                    <a:pt x="0" y="8250301"/>
                  </a:cubicBezTo>
                  <a:close/>
                </a:path>
              </a:pathLst>
            </a:custGeom>
            <a:solidFill>
              <a:srgbClr val="FDC830"/>
            </a:solidFill>
            <a:ln w="12700" cap="sq">
              <a:solidFill>
                <a:srgbClr val="FDC830"/>
              </a:solidFill>
              <a:prstDash val="solid"/>
              <a:miter/>
            </a:ln>
          </p:spPr>
        </p:sp>
      </p:grpSp>
      <p:grpSp>
        <p:nvGrpSpPr>
          <p:cNvPr name="Group 4" id="4"/>
          <p:cNvGrpSpPr/>
          <p:nvPr/>
        </p:nvGrpSpPr>
        <p:grpSpPr>
          <a:xfrm rot="0">
            <a:off x="16349472" y="0"/>
            <a:ext cx="1938528" cy="2980944"/>
            <a:chOff x="0" y="0"/>
            <a:chExt cx="2584704" cy="3974592"/>
          </a:xfrm>
        </p:grpSpPr>
        <p:sp>
          <p:nvSpPr>
            <p:cNvPr name="Freeform 5" id="5" descr="Décoration"/>
            <p:cNvSpPr/>
            <p:nvPr/>
          </p:nvSpPr>
          <p:spPr>
            <a:xfrm flipH="false" flipV="false" rot="0">
              <a:off x="0" y="0"/>
              <a:ext cx="2584704" cy="3974592"/>
            </a:xfrm>
            <a:custGeom>
              <a:avLst/>
              <a:gdLst/>
              <a:ahLst/>
              <a:cxnLst/>
              <a:rect r="r" b="b" t="t" l="l"/>
              <a:pathLst>
                <a:path h="3974592" w="2584704">
                  <a:moveTo>
                    <a:pt x="0" y="0"/>
                  </a:moveTo>
                  <a:lnTo>
                    <a:pt x="2584704" y="0"/>
                  </a:lnTo>
                  <a:lnTo>
                    <a:pt x="2584704" y="3974592"/>
                  </a:lnTo>
                  <a:lnTo>
                    <a:pt x="0" y="3974592"/>
                  </a:lnTo>
                  <a:lnTo>
                    <a:pt x="0" y="0"/>
                  </a:lnTo>
                  <a:close/>
                </a:path>
              </a:pathLst>
            </a:custGeom>
            <a:blipFill>
              <a:blip r:embed="rId3"/>
              <a:stretch>
                <a:fillRect l="-187" t="0" r="-187" b="0"/>
              </a:stretch>
            </a:blipFill>
          </p:spPr>
        </p:sp>
      </p:grpSp>
      <p:grpSp>
        <p:nvGrpSpPr>
          <p:cNvPr name="Group 6" id="6"/>
          <p:cNvGrpSpPr/>
          <p:nvPr/>
        </p:nvGrpSpPr>
        <p:grpSpPr>
          <a:xfrm rot="0">
            <a:off x="0" y="6089904"/>
            <a:ext cx="2816352" cy="4187952"/>
            <a:chOff x="0" y="0"/>
            <a:chExt cx="3755136" cy="5583936"/>
          </a:xfrm>
        </p:grpSpPr>
        <p:sp>
          <p:nvSpPr>
            <p:cNvPr name="Freeform 7" id="7" descr="Décoration"/>
            <p:cNvSpPr/>
            <p:nvPr/>
          </p:nvSpPr>
          <p:spPr>
            <a:xfrm flipH="false" flipV="false" rot="0">
              <a:off x="0" y="0"/>
              <a:ext cx="3755136" cy="5583936"/>
            </a:xfrm>
            <a:custGeom>
              <a:avLst/>
              <a:gdLst/>
              <a:ahLst/>
              <a:cxnLst/>
              <a:rect r="r" b="b" t="t" l="l"/>
              <a:pathLst>
                <a:path h="5583936" w="3755136">
                  <a:moveTo>
                    <a:pt x="0" y="0"/>
                  </a:moveTo>
                  <a:lnTo>
                    <a:pt x="3755136" y="0"/>
                  </a:lnTo>
                  <a:lnTo>
                    <a:pt x="3755136" y="5583936"/>
                  </a:lnTo>
                  <a:lnTo>
                    <a:pt x="0" y="5583936"/>
                  </a:lnTo>
                  <a:lnTo>
                    <a:pt x="0" y="0"/>
                  </a:lnTo>
                  <a:close/>
                </a:path>
              </a:pathLst>
            </a:custGeom>
            <a:blipFill>
              <a:blip r:embed="rId4"/>
              <a:stretch>
                <a:fillRect l="-43" t="0" r="-43" b="0"/>
              </a:stretch>
            </a:blipFill>
          </p:spPr>
        </p:sp>
      </p:grpSp>
      <p:sp>
        <p:nvSpPr>
          <p:cNvPr name="TextBox 8" id="8"/>
          <p:cNvSpPr txBox="true"/>
          <p:nvPr/>
        </p:nvSpPr>
        <p:spPr>
          <a:xfrm rot="0">
            <a:off x="731520" y="510540"/>
            <a:ext cx="7132320" cy="2415540"/>
          </a:xfrm>
          <a:prstGeom prst="rect">
            <a:avLst/>
          </a:prstGeom>
        </p:spPr>
        <p:txBody>
          <a:bodyPr anchor="t" rtlCol="false" tIns="0" lIns="0" bIns="0" rIns="0">
            <a:spAutoFit/>
          </a:bodyPr>
          <a:lstStyle/>
          <a:p>
            <a:pPr algn="l">
              <a:lnSpc>
                <a:spcPts val="6720"/>
              </a:lnSpc>
            </a:pPr>
            <a:r>
              <a:rPr lang="en-US" sz="5600" b="true">
                <a:solidFill>
                  <a:srgbClr val="0A1D42"/>
                </a:solidFill>
                <a:latin typeface="Arial Bold"/>
                <a:ea typeface="Arial Bold"/>
                <a:cs typeface="Arial Bold"/>
                <a:sym typeface="Arial Bold"/>
              </a:rPr>
              <a:t>SOMMAIRE</a:t>
            </a:r>
          </a:p>
        </p:txBody>
      </p:sp>
      <p:grpSp>
        <p:nvGrpSpPr>
          <p:cNvPr name="Group 9" id="9"/>
          <p:cNvGrpSpPr/>
          <p:nvPr/>
        </p:nvGrpSpPr>
        <p:grpSpPr>
          <a:xfrm rot="0">
            <a:off x="6997951" y="2169919"/>
            <a:ext cx="1219705" cy="1219705"/>
            <a:chOff x="0" y="0"/>
            <a:chExt cx="1626273" cy="1626273"/>
          </a:xfrm>
        </p:grpSpPr>
        <p:sp>
          <p:nvSpPr>
            <p:cNvPr name="Freeform 10" id="10"/>
            <p:cNvSpPr/>
            <p:nvPr/>
          </p:nvSpPr>
          <p:spPr>
            <a:xfrm flipH="false" flipV="false" rot="0">
              <a:off x="0" y="0"/>
              <a:ext cx="1626362" cy="1626362"/>
            </a:xfrm>
            <a:custGeom>
              <a:avLst/>
              <a:gdLst/>
              <a:ahLst/>
              <a:cxnLst/>
              <a:rect r="r" b="b" t="t" l="l"/>
              <a:pathLst>
                <a:path h="1626362" w="1626362">
                  <a:moveTo>
                    <a:pt x="0" y="813181"/>
                  </a:moveTo>
                  <a:cubicBezTo>
                    <a:pt x="0" y="364109"/>
                    <a:pt x="364109" y="0"/>
                    <a:pt x="813181" y="0"/>
                  </a:cubicBezTo>
                  <a:cubicBezTo>
                    <a:pt x="1262253" y="0"/>
                    <a:pt x="1626362" y="364109"/>
                    <a:pt x="1626362" y="813181"/>
                  </a:cubicBezTo>
                  <a:cubicBezTo>
                    <a:pt x="1626362" y="1262253"/>
                    <a:pt x="1262253" y="1626362"/>
                    <a:pt x="813181" y="1626362"/>
                  </a:cubicBezTo>
                  <a:cubicBezTo>
                    <a:pt x="364109" y="1626362"/>
                    <a:pt x="0" y="1262253"/>
                    <a:pt x="0" y="813181"/>
                  </a:cubicBezTo>
                  <a:close/>
                </a:path>
              </a:pathLst>
            </a:custGeom>
            <a:solidFill>
              <a:srgbClr val="0A1D42"/>
            </a:solidFill>
            <a:ln w="12700" cap="sq">
              <a:solidFill>
                <a:srgbClr val="0A1D42"/>
              </a:solidFill>
              <a:prstDash val="solid"/>
              <a:miter/>
            </a:ln>
          </p:spPr>
        </p:sp>
      </p:grpSp>
      <p:grpSp>
        <p:nvGrpSpPr>
          <p:cNvPr name="Group 11" id="11"/>
          <p:cNvGrpSpPr/>
          <p:nvPr/>
        </p:nvGrpSpPr>
        <p:grpSpPr>
          <a:xfrm rot="0">
            <a:off x="7306056" y="2478024"/>
            <a:ext cx="603504" cy="603504"/>
            <a:chOff x="0" y="0"/>
            <a:chExt cx="804672" cy="804672"/>
          </a:xfrm>
        </p:grpSpPr>
        <p:sp>
          <p:nvSpPr>
            <p:cNvPr name="Freeform 12" id="12" descr="Icône sommaire 1"/>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5"/>
              <a:stretch>
                <a:fillRect l="0" t="0" r="0" b="0"/>
              </a:stretch>
            </a:blipFill>
          </p:spPr>
        </p:sp>
      </p:grpSp>
      <p:grpSp>
        <p:nvGrpSpPr>
          <p:cNvPr name="Group 13" id="13"/>
          <p:cNvGrpSpPr/>
          <p:nvPr/>
        </p:nvGrpSpPr>
        <p:grpSpPr>
          <a:xfrm rot="0">
            <a:off x="8613648" y="2048256"/>
            <a:ext cx="7680960" cy="1463040"/>
            <a:chOff x="0" y="0"/>
            <a:chExt cx="10241280" cy="1950720"/>
          </a:xfrm>
        </p:grpSpPr>
        <p:sp>
          <p:nvSpPr>
            <p:cNvPr name="Freeform 14" id="14"/>
            <p:cNvSpPr/>
            <p:nvPr/>
          </p:nvSpPr>
          <p:spPr>
            <a:xfrm flipH="false" flipV="false" rot="0">
              <a:off x="0" y="0"/>
              <a:ext cx="10241280" cy="1950720"/>
            </a:xfrm>
            <a:custGeom>
              <a:avLst/>
              <a:gdLst/>
              <a:ahLst/>
              <a:cxnLst/>
              <a:rect r="r" b="b" t="t" l="l"/>
              <a:pathLst>
                <a:path h="1950720" w="10241280">
                  <a:moveTo>
                    <a:pt x="0" y="0"/>
                  </a:moveTo>
                  <a:lnTo>
                    <a:pt x="10241280" y="0"/>
                  </a:lnTo>
                  <a:lnTo>
                    <a:pt x="10241280" y="1950720"/>
                  </a:lnTo>
                  <a:lnTo>
                    <a:pt x="0" y="1950720"/>
                  </a:lnTo>
                  <a:close/>
                </a:path>
              </a:pathLst>
            </a:custGeom>
            <a:blipFill>
              <a:blip r:embed="rId6">
                <a:alphaModFix amt="0"/>
              </a:blip>
              <a:stretch>
                <a:fillRect l="0" t="-52296" r="0" b="-52296"/>
              </a:stretch>
            </a:blipFill>
          </p:spPr>
        </p:sp>
        <p:sp>
          <p:nvSpPr>
            <p:cNvPr name="TextBox 15" id="15"/>
            <p:cNvSpPr txBox="true"/>
            <p:nvPr/>
          </p:nvSpPr>
          <p:spPr>
            <a:xfrm>
              <a:off x="0" y="-76200"/>
              <a:ext cx="10241280" cy="2026920"/>
            </a:xfrm>
            <a:prstGeom prst="rect">
              <a:avLst/>
            </a:prstGeom>
          </p:spPr>
          <p:txBody>
            <a:bodyPr anchor="ctr" rtlCol="false" tIns="0" lIns="0" bIns="0" rIns="0"/>
            <a:lstStyle/>
            <a:p>
              <a:pPr algn="l">
                <a:lnSpc>
                  <a:spcPts val="5280"/>
                </a:lnSpc>
              </a:pPr>
              <a:r>
                <a:rPr lang="en-US" sz="4400" b="true">
                  <a:solidFill>
                    <a:srgbClr val="0A1D42"/>
                  </a:solidFill>
                  <a:latin typeface="Calibri (MS) Bold"/>
                  <a:ea typeface="Calibri (MS) Bold"/>
                  <a:cs typeface="Calibri (MS) Bold"/>
                  <a:sym typeface="Calibri (MS) Bold"/>
                </a:rPr>
                <a:t>Contexte &amp; problématique</a:t>
              </a:r>
            </a:p>
          </p:txBody>
        </p:sp>
      </p:grpSp>
      <p:grpSp>
        <p:nvGrpSpPr>
          <p:cNvPr name="Group 16" id="16"/>
          <p:cNvGrpSpPr/>
          <p:nvPr/>
        </p:nvGrpSpPr>
        <p:grpSpPr>
          <a:xfrm rot="0">
            <a:off x="6997951" y="3742687"/>
            <a:ext cx="1219705" cy="1219705"/>
            <a:chOff x="0" y="0"/>
            <a:chExt cx="1626273" cy="1626273"/>
          </a:xfrm>
        </p:grpSpPr>
        <p:sp>
          <p:nvSpPr>
            <p:cNvPr name="Freeform 17" id="17"/>
            <p:cNvSpPr/>
            <p:nvPr/>
          </p:nvSpPr>
          <p:spPr>
            <a:xfrm flipH="false" flipV="false" rot="0">
              <a:off x="0" y="0"/>
              <a:ext cx="1626362" cy="1626362"/>
            </a:xfrm>
            <a:custGeom>
              <a:avLst/>
              <a:gdLst/>
              <a:ahLst/>
              <a:cxnLst/>
              <a:rect r="r" b="b" t="t" l="l"/>
              <a:pathLst>
                <a:path h="1626362" w="1626362">
                  <a:moveTo>
                    <a:pt x="0" y="813181"/>
                  </a:moveTo>
                  <a:cubicBezTo>
                    <a:pt x="0" y="364109"/>
                    <a:pt x="364109" y="0"/>
                    <a:pt x="813181" y="0"/>
                  </a:cubicBezTo>
                  <a:cubicBezTo>
                    <a:pt x="1262253" y="0"/>
                    <a:pt x="1626362" y="364109"/>
                    <a:pt x="1626362" y="813181"/>
                  </a:cubicBezTo>
                  <a:cubicBezTo>
                    <a:pt x="1626362" y="1262253"/>
                    <a:pt x="1262253" y="1626362"/>
                    <a:pt x="813181" y="1626362"/>
                  </a:cubicBezTo>
                  <a:cubicBezTo>
                    <a:pt x="364109" y="1626362"/>
                    <a:pt x="0" y="1262253"/>
                    <a:pt x="0" y="813181"/>
                  </a:cubicBezTo>
                  <a:close/>
                </a:path>
              </a:pathLst>
            </a:custGeom>
            <a:solidFill>
              <a:srgbClr val="0A1D42"/>
            </a:solidFill>
            <a:ln w="12700" cap="sq">
              <a:solidFill>
                <a:srgbClr val="0A1D42"/>
              </a:solidFill>
              <a:prstDash val="solid"/>
              <a:miter/>
            </a:ln>
          </p:spPr>
        </p:sp>
      </p:grpSp>
      <p:grpSp>
        <p:nvGrpSpPr>
          <p:cNvPr name="Group 18" id="18"/>
          <p:cNvGrpSpPr/>
          <p:nvPr/>
        </p:nvGrpSpPr>
        <p:grpSpPr>
          <a:xfrm rot="0">
            <a:off x="7306056" y="4050792"/>
            <a:ext cx="603504" cy="603504"/>
            <a:chOff x="0" y="0"/>
            <a:chExt cx="804672" cy="804672"/>
          </a:xfrm>
        </p:grpSpPr>
        <p:sp>
          <p:nvSpPr>
            <p:cNvPr name="Freeform 19" id="19" descr="Icône sommaire 2"/>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7"/>
              <a:stretch>
                <a:fillRect l="0" t="0" r="0" b="0"/>
              </a:stretch>
            </a:blipFill>
          </p:spPr>
        </p:sp>
      </p:grpSp>
      <p:grpSp>
        <p:nvGrpSpPr>
          <p:cNvPr name="Group 20" id="20"/>
          <p:cNvGrpSpPr/>
          <p:nvPr/>
        </p:nvGrpSpPr>
        <p:grpSpPr>
          <a:xfrm rot="0">
            <a:off x="8613648" y="3621024"/>
            <a:ext cx="7680960" cy="1463040"/>
            <a:chOff x="0" y="0"/>
            <a:chExt cx="10241280" cy="1950720"/>
          </a:xfrm>
        </p:grpSpPr>
        <p:sp>
          <p:nvSpPr>
            <p:cNvPr name="Freeform 21" id="21"/>
            <p:cNvSpPr/>
            <p:nvPr/>
          </p:nvSpPr>
          <p:spPr>
            <a:xfrm flipH="false" flipV="false" rot="0">
              <a:off x="0" y="0"/>
              <a:ext cx="10241280" cy="1950720"/>
            </a:xfrm>
            <a:custGeom>
              <a:avLst/>
              <a:gdLst/>
              <a:ahLst/>
              <a:cxnLst/>
              <a:rect r="r" b="b" t="t" l="l"/>
              <a:pathLst>
                <a:path h="1950720" w="10241280">
                  <a:moveTo>
                    <a:pt x="0" y="0"/>
                  </a:moveTo>
                  <a:lnTo>
                    <a:pt x="10241280" y="0"/>
                  </a:lnTo>
                  <a:lnTo>
                    <a:pt x="10241280" y="1950720"/>
                  </a:lnTo>
                  <a:lnTo>
                    <a:pt x="0" y="1950720"/>
                  </a:lnTo>
                  <a:close/>
                </a:path>
              </a:pathLst>
            </a:custGeom>
            <a:blipFill>
              <a:blip r:embed="rId6">
                <a:alphaModFix amt="0"/>
              </a:blip>
              <a:stretch>
                <a:fillRect l="0" t="-52296" r="0" b="-52296"/>
              </a:stretch>
            </a:blipFill>
          </p:spPr>
        </p:sp>
        <p:sp>
          <p:nvSpPr>
            <p:cNvPr name="TextBox 22" id="22"/>
            <p:cNvSpPr txBox="true"/>
            <p:nvPr/>
          </p:nvSpPr>
          <p:spPr>
            <a:xfrm>
              <a:off x="0" y="-76200"/>
              <a:ext cx="10241280" cy="2026920"/>
            </a:xfrm>
            <a:prstGeom prst="rect">
              <a:avLst/>
            </a:prstGeom>
          </p:spPr>
          <p:txBody>
            <a:bodyPr anchor="ctr" rtlCol="false" tIns="0" lIns="0" bIns="0" rIns="0"/>
            <a:lstStyle/>
            <a:p>
              <a:pPr algn="l">
                <a:lnSpc>
                  <a:spcPts val="5280"/>
                </a:lnSpc>
              </a:pPr>
              <a:r>
                <a:rPr lang="en-US" sz="4400" b="true">
                  <a:solidFill>
                    <a:srgbClr val="0A1D42"/>
                  </a:solidFill>
                  <a:latin typeface="Calibri (MS) Bold"/>
                  <a:ea typeface="Calibri (MS) Bold"/>
                  <a:cs typeface="Calibri (MS) Bold"/>
                  <a:sym typeface="Calibri (MS) Bold"/>
                </a:rPr>
                <a:t>Solution, démarche &amp; outils</a:t>
              </a:r>
            </a:p>
          </p:txBody>
        </p:sp>
      </p:grpSp>
      <p:grpSp>
        <p:nvGrpSpPr>
          <p:cNvPr name="Group 23" id="23"/>
          <p:cNvGrpSpPr/>
          <p:nvPr/>
        </p:nvGrpSpPr>
        <p:grpSpPr>
          <a:xfrm rot="0">
            <a:off x="6997951" y="5352031"/>
            <a:ext cx="1219705" cy="1219705"/>
            <a:chOff x="0" y="0"/>
            <a:chExt cx="1626273" cy="1626273"/>
          </a:xfrm>
        </p:grpSpPr>
        <p:sp>
          <p:nvSpPr>
            <p:cNvPr name="Freeform 24" id="24"/>
            <p:cNvSpPr/>
            <p:nvPr/>
          </p:nvSpPr>
          <p:spPr>
            <a:xfrm flipH="false" flipV="false" rot="0">
              <a:off x="0" y="0"/>
              <a:ext cx="1626362" cy="1626362"/>
            </a:xfrm>
            <a:custGeom>
              <a:avLst/>
              <a:gdLst/>
              <a:ahLst/>
              <a:cxnLst/>
              <a:rect r="r" b="b" t="t" l="l"/>
              <a:pathLst>
                <a:path h="1626362" w="1626362">
                  <a:moveTo>
                    <a:pt x="0" y="813181"/>
                  </a:moveTo>
                  <a:cubicBezTo>
                    <a:pt x="0" y="364109"/>
                    <a:pt x="364109" y="0"/>
                    <a:pt x="813181" y="0"/>
                  </a:cubicBezTo>
                  <a:cubicBezTo>
                    <a:pt x="1262253" y="0"/>
                    <a:pt x="1626362" y="364109"/>
                    <a:pt x="1626362" y="813181"/>
                  </a:cubicBezTo>
                  <a:cubicBezTo>
                    <a:pt x="1626362" y="1262253"/>
                    <a:pt x="1262253" y="1626362"/>
                    <a:pt x="813181" y="1626362"/>
                  </a:cubicBezTo>
                  <a:cubicBezTo>
                    <a:pt x="364109" y="1626362"/>
                    <a:pt x="0" y="1262253"/>
                    <a:pt x="0" y="813181"/>
                  </a:cubicBezTo>
                  <a:close/>
                </a:path>
              </a:pathLst>
            </a:custGeom>
            <a:solidFill>
              <a:srgbClr val="0A1D42"/>
            </a:solidFill>
            <a:ln w="12700" cap="sq">
              <a:solidFill>
                <a:srgbClr val="0A1D42"/>
              </a:solidFill>
              <a:prstDash val="solid"/>
              <a:miter/>
            </a:ln>
          </p:spPr>
        </p:sp>
      </p:grpSp>
      <p:grpSp>
        <p:nvGrpSpPr>
          <p:cNvPr name="Group 25" id="25"/>
          <p:cNvGrpSpPr/>
          <p:nvPr/>
        </p:nvGrpSpPr>
        <p:grpSpPr>
          <a:xfrm rot="0">
            <a:off x="7306056" y="5660136"/>
            <a:ext cx="603504" cy="603504"/>
            <a:chOff x="0" y="0"/>
            <a:chExt cx="804672" cy="804672"/>
          </a:xfrm>
        </p:grpSpPr>
        <p:sp>
          <p:nvSpPr>
            <p:cNvPr name="Freeform 26" id="26" descr="Icône sommaire 3"/>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8"/>
              <a:stretch>
                <a:fillRect l="0" t="0" r="0" b="0"/>
              </a:stretch>
            </a:blipFill>
          </p:spPr>
        </p:sp>
      </p:grpSp>
      <p:grpSp>
        <p:nvGrpSpPr>
          <p:cNvPr name="Group 27" id="27"/>
          <p:cNvGrpSpPr/>
          <p:nvPr/>
        </p:nvGrpSpPr>
        <p:grpSpPr>
          <a:xfrm rot="0">
            <a:off x="8613648" y="5230368"/>
            <a:ext cx="7680960" cy="1463040"/>
            <a:chOff x="0" y="0"/>
            <a:chExt cx="10241280" cy="1950720"/>
          </a:xfrm>
        </p:grpSpPr>
        <p:sp>
          <p:nvSpPr>
            <p:cNvPr name="Freeform 28" id="28"/>
            <p:cNvSpPr/>
            <p:nvPr/>
          </p:nvSpPr>
          <p:spPr>
            <a:xfrm flipH="false" flipV="false" rot="0">
              <a:off x="0" y="0"/>
              <a:ext cx="10241280" cy="1950720"/>
            </a:xfrm>
            <a:custGeom>
              <a:avLst/>
              <a:gdLst/>
              <a:ahLst/>
              <a:cxnLst/>
              <a:rect r="r" b="b" t="t" l="l"/>
              <a:pathLst>
                <a:path h="1950720" w="10241280">
                  <a:moveTo>
                    <a:pt x="0" y="0"/>
                  </a:moveTo>
                  <a:lnTo>
                    <a:pt x="10241280" y="0"/>
                  </a:lnTo>
                  <a:lnTo>
                    <a:pt x="10241280" y="1950720"/>
                  </a:lnTo>
                  <a:lnTo>
                    <a:pt x="0" y="1950720"/>
                  </a:lnTo>
                  <a:close/>
                </a:path>
              </a:pathLst>
            </a:custGeom>
            <a:blipFill>
              <a:blip r:embed="rId6">
                <a:alphaModFix amt="0"/>
              </a:blip>
              <a:stretch>
                <a:fillRect l="0" t="-52296" r="0" b="-52296"/>
              </a:stretch>
            </a:blipFill>
          </p:spPr>
        </p:sp>
        <p:sp>
          <p:nvSpPr>
            <p:cNvPr name="TextBox 29" id="29"/>
            <p:cNvSpPr txBox="true"/>
            <p:nvPr/>
          </p:nvSpPr>
          <p:spPr>
            <a:xfrm>
              <a:off x="0" y="-76200"/>
              <a:ext cx="10241280" cy="2026920"/>
            </a:xfrm>
            <a:prstGeom prst="rect">
              <a:avLst/>
            </a:prstGeom>
          </p:spPr>
          <p:txBody>
            <a:bodyPr anchor="ctr" rtlCol="false" tIns="0" lIns="0" bIns="0" rIns="0"/>
            <a:lstStyle/>
            <a:p>
              <a:pPr algn="l">
                <a:lnSpc>
                  <a:spcPts val="5280"/>
                </a:lnSpc>
              </a:pPr>
              <a:r>
                <a:rPr lang="en-US" sz="4400" b="true">
                  <a:solidFill>
                    <a:srgbClr val="0A1D42"/>
                  </a:solidFill>
                  <a:latin typeface="Calibri (MS) Bold"/>
                  <a:ea typeface="Calibri (MS) Bold"/>
                  <a:cs typeface="Calibri (MS) Bold"/>
                  <a:sym typeface="Calibri (MS) Bold"/>
                </a:rPr>
                <a:t>Fonctionnement de la plateforme</a:t>
              </a:r>
            </a:p>
          </p:txBody>
        </p:sp>
      </p:grpSp>
      <p:grpSp>
        <p:nvGrpSpPr>
          <p:cNvPr name="Group 30" id="30"/>
          <p:cNvGrpSpPr/>
          <p:nvPr/>
        </p:nvGrpSpPr>
        <p:grpSpPr>
          <a:xfrm rot="0">
            <a:off x="6997951" y="7016239"/>
            <a:ext cx="1219705" cy="1219705"/>
            <a:chOff x="0" y="0"/>
            <a:chExt cx="1626273" cy="1626273"/>
          </a:xfrm>
        </p:grpSpPr>
        <p:sp>
          <p:nvSpPr>
            <p:cNvPr name="Freeform 31" id="31"/>
            <p:cNvSpPr/>
            <p:nvPr/>
          </p:nvSpPr>
          <p:spPr>
            <a:xfrm flipH="false" flipV="false" rot="0">
              <a:off x="0" y="0"/>
              <a:ext cx="1626362" cy="1626362"/>
            </a:xfrm>
            <a:custGeom>
              <a:avLst/>
              <a:gdLst/>
              <a:ahLst/>
              <a:cxnLst/>
              <a:rect r="r" b="b" t="t" l="l"/>
              <a:pathLst>
                <a:path h="1626362" w="1626362">
                  <a:moveTo>
                    <a:pt x="0" y="813181"/>
                  </a:moveTo>
                  <a:cubicBezTo>
                    <a:pt x="0" y="364109"/>
                    <a:pt x="364109" y="0"/>
                    <a:pt x="813181" y="0"/>
                  </a:cubicBezTo>
                  <a:cubicBezTo>
                    <a:pt x="1262253" y="0"/>
                    <a:pt x="1626362" y="364109"/>
                    <a:pt x="1626362" y="813181"/>
                  </a:cubicBezTo>
                  <a:cubicBezTo>
                    <a:pt x="1626362" y="1262253"/>
                    <a:pt x="1262253" y="1626362"/>
                    <a:pt x="813181" y="1626362"/>
                  </a:cubicBezTo>
                  <a:cubicBezTo>
                    <a:pt x="364109" y="1626362"/>
                    <a:pt x="0" y="1262253"/>
                    <a:pt x="0" y="813181"/>
                  </a:cubicBezTo>
                  <a:close/>
                </a:path>
              </a:pathLst>
            </a:custGeom>
            <a:solidFill>
              <a:srgbClr val="0A1D42"/>
            </a:solidFill>
            <a:ln w="12700" cap="sq">
              <a:solidFill>
                <a:srgbClr val="0A1D42"/>
              </a:solidFill>
              <a:prstDash val="solid"/>
              <a:miter/>
            </a:ln>
          </p:spPr>
        </p:sp>
      </p:grpSp>
      <p:grpSp>
        <p:nvGrpSpPr>
          <p:cNvPr name="Group 32" id="32"/>
          <p:cNvGrpSpPr/>
          <p:nvPr/>
        </p:nvGrpSpPr>
        <p:grpSpPr>
          <a:xfrm rot="0">
            <a:off x="7306056" y="7324344"/>
            <a:ext cx="603504" cy="603504"/>
            <a:chOff x="0" y="0"/>
            <a:chExt cx="804672" cy="804672"/>
          </a:xfrm>
        </p:grpSpPr>
        <p:sp>
          <p:nvSpPr>
            <p:cNvPr name="Freeform 33" id="33" descr="Icône sommaire 4"/>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9"/>
              <a:stretch>
                <a:fillRect l="0" t="0" r="0" b="0"/>
              </a:stretch>
            </a:blipFill>
          </p:spPr>
        </p:sp>
      </p:grpSp>
      <p:grpSp>
        <p:nvGrpSpPr>
          <p:cNvPr name="Group 34" id="34"/>
          <p:cNvGrpSpPr/>
          <p:nvPr/>
        </p:nvGrpSpPr>
        <p:grpSpPr>
          <a:xfrm rot="0">
            <a:off x="8613648" y="6894576"/>
            <a:ext cx="7680960" cy="1463040"/>
            <a:chOff x="0" y="0"/>
            <a:chExt cx="10241280" cy="1950720"/>
          </a:xfrm>
        </p:grpSpPr>
        <p:sp>
          <p:nvSpPr>
            <p:cNvPr name="Freeform 35" id="35"/>
            <p:cNvSpPr/>
            <p:nvPr/>
          </p:nvSpPr>
          <p:spPr>
            <a:xfrm flipH="false" flipV="false" rot="0">
              <a:off x="0" y="0"/>
              <a:ext cx="10241280" cy="1950720"/>
            </a:xfrm>
            <a:custGeom>
              <a:avLst/>
              <a:gdLst/>
              <a:ahLst/>
              <a:cxnLst/>
              <a:rect r="r" b="b" t="t" l="l"/>
              <a:pathLst>
                <a:path h="1950720" w="10241280">
                  <a:moveTo>
                    <a:pt x="0" y="0"/>
                  </a:moveTo>
                  <a:lnTo>
                    <a:pt x="10241280" y="0"/>
                  </a:lnTo>
                  <a:lnTo>
                    <a:pt x="10241280" y="1950720"/>
                  </a:lnTo>
                  <a:lnTo>
                    <a:pt x="0" y="1950720"/>
                  </a:lnTo>
                  <a:close/>
                </a:path>
              </a:pathLst>
            </a:custGeom>
            <a:blipFill>
              <a:blip r:embed="rId6">
                <a:alphaModFix amt="0"/>
              </a:blip>
              <a:stretch>
                <a:fillRect l="0" t="-52296" r="0" b="-52296"/>
              </a:stretch>
            </a:blipFill>
          </p:spPr>
        </p:sp>
        <p:sp>
          <p:nvSpPr>
            <p:cNvPr name="TextBox 36" id="36"/>
            <p:cNvSpPr txBox="true"/>
            <p:nvPr/>
          </p:nvSpPr>
          <p:spPr>
            <a:xfrm>
              <a:off x="0" y="-76200"/>
              <a:ext cx="10241280" cy="2026920"/>
            </a:xfrm>
            <a:prstGeom prst="rect">
              <a:avLst/>
            </a:prstGeom>
          </p:spPr>
          <p:txBody>
            <a:bodyPr anchor="ctr" rtlCol="false" tIns="0" lIns="0" bIns="0" rIns="0"/>
            <a:lstStyle/>
            <a:p>
              <a:pPr algn="l">
                <a:lnSpc>
                  <a:spcPts val="5280"/>
                </a:lnSpc>
              </a:pPr>
              <a:r>
                <a:rPr lang="en-US" sz="4400" b="true">
                  <a:solidFill>
                    <a:srgbClr val="0A1D42"/>
                  </a:solidFill>
                  <a:latin typeface="Calibri (MS) Bold"/>
                  <a:ea typeface="Calibri (MS) Bold"/>
                  <a:cs typeface="Calibri (MS) Bold"/>
                  <a:sym typeface="Calibri (MS) Bold"/>
                </a:rPr>
                <a:t>Résultats &amp; perspectives</a:t>
              </a:r>
            </a:p>
          </p:txBody>
        </p:sp>
      </p:grpSp>
      <p:grpSp>
        <p:nvGrpSpPr>
          <p:cNvPr name="Group 37" id="37"/>
          <p:cNvGrpSpPr/>
          <p:nvPr/>
        </p:nvGrpSpPr>
        <p:grpSpPr>
          <a:xfrm rot="0">
            <a:off x="6997951" y="8625583"/>
            <a:ext cx="1219705" cy="1219705"/>
            <a:chOff x="0" y="0"/>
            <a:chExt cx="1626273" cy="1626273"/>
          </a:xfrm>
        </p:grpSpPr>
        <p:sp>
          <p:nvSpPr>
            <p:cNvPr name="Freeform 38" id="38"/>
            <p:cNvSpPr/>
            <p:nvPr/>
          </p:nvSpPr>
          <p:spPr>
            <a:xfrm flipH="false" flipV="false" rot="0">
              <a:off x="0" y="0"/>
              <a:ext cx="1626362" cy="1626362"/>
            </a:xfrm>
            <a:custGeom>
              <a:avLst/>
              <a:gdLst/>
              <a:ahLst/>
              <a:cxnLst/>
              <a:rect r="r" b="b" t="t" l="l"/>
              <a:pathLst>
                <a:path h="1626362" w="1626362">
                  <a:moveTo>
                    <a:pt x="0" y="813181"/>
                  </a:moveTo>
                  <a:cubicBezTo>
                    <a:pt x="0" y="364109"/>
                    <a:pt x="364109" y="0"/>
                    <a:pt x="813181" y="0"/>
                  </a:cubicBezTo>
                  <a:cubicBezTo>
                    <a:pt x="1262253" y="0"/>
                    <a:pt x="1626362" y="364109"/>
                    <a:pt x="1626362" y="813181"/>
                  </a:cubicBezTo>
                  <a:cubicBezTo>
                    <a:pt x="1626362" y="1262253"/>
                    <a:pt x="1262253" y="1626362"/>
                    <a:pt x="813181" y="1626362"/>
                  </a:cubicBezTo>
                  <a:cubicBezTo>
                    <a:pt x="364109" y="1626362"/>
                    <a:pt x="0" y="1262253"/>
                    <a:pt x="0" y="813181"/>
                  </a:cubicBezTo>
                  <a:close/>
                </a:path>
              </a:pathLst>
            </a:custGeom>
            <a:solidFill>
              <a:srgbClr val="0A1D42"/>
            </a:solidFill>
            <a:ln w="12700" cap="sq">
              <a:solidFill>
                <a:srgbClr val="0A1D42"/>
              </a:solidFill>
              <a:prstDash val="solid"/>
              <a:miter/>
            </a:ln>
          </p:spPr>
        </p:sp>
      </p:grpSp>
      <p:grpSp>
        <p:nvGrpSpPr>
          <p:cNvPr name="Group 39" id="39"/>
          <p:cNvGrpSpPr/>
          <p:nvPr/>
        </p:nvGrpSpPr>
        <p:grpSpPr>
          <a:xfrm rot="0">
            <a:off x="7306056" y="8933688"/>
            <a:ext cx="603504" cy="603504"/>
            <a:chOff x="0" y="0"/>
            <a:chExt cx="804672" cy="804672"/>
          </a:xfrm>
        </p:grpSpPr>
        <p:sp>
          <p:nvSpPr>
            <p:cNvPr name="Freeform 40" id="40" descr="Icône sommaire 5"/>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10"/>
              <a:stretch>
                <a:fillRect l="0" t="0" r="0" b="0"/>
              </a:stretch>
            </a:blipFill>
          </p:spPr>
        </p:sp>
      </p:grpSp>
      <p:grpSp>
        <p:nvGrpSpPr>
          <p:cNvPr name="Group 41" id="41"/>
          <p:cNvGrpSpPr/>
          <p:nvPr/>
        </p:nvGrpSpPr>
        <p:grpSpPr>
          <a:xfrm rot="0">
            <a:off x="8613648" y="8503920"/>
            <a:ext cx="7680960" cy="1463040"/>
            <a:chOff x="0" y="0"/>
            <a:chExt cx="10241280" cy="1950720"/>
          </a:xfrm>
        </p:grpSpPr>
        <p:sp>
          <p:nvSpPr>
            <p:cNvPr name="Freeform 42" id="42"/>
            <p:cNvSpPr/>
            <p:nvPr/>
          </p:nvSpPr>
          <p:spPr>
            <a:xfrm flipH="false" flipV="false" rot="0">
              <a:off x="0" y="0"/>
              <a:ext cx="10241280" cy="1950720"/>
            </a:xfrm>
            <a:custGeom>
              <a:avLst/>
              <a:gdLst/>
              <a:ahLst/>
              <a:cxnLst/>
              <a:rect r="r" b="b" t="t" l="l"/>
              <a:pathLst>
                <a:path h="1950720" w="10241280">
                  <a:moveTo>
                    <a:pt x="0" y="0"/>
                  </a:moveTo>
                  <a:lnTo>
                    <a:pt x="10241280" y="0"/>
                  </a:lnTo>
                  <a:lnTo>
                    <a:pt x="10241280" y="1950720"/>
                  </a:lnTo>
                  <a:lnTo>
                    <a:pt x="0" y="1950720"/>
                  </a:lnTo>
                  <a:close/>
                </a:path>
              </a:pathLst>
            </a:custGeom>
            <a:blipFill>
              <a:blip r:embed="rId6">
                <a:alphaModFix amt="0"/>
              </a:blip>
              <a:stretch>
                <a:fillRect l="0" t="-52296" r="0" b="-52296"/>
              </a:stretch>
            </a:blipFill>
          </p:spPr>
        </p:sp>
        <p:sp>
          <p:nvSpPr>
            <p:cNvPr name="TextBox 43" id="43"/>
            <p:cNvSpPr txBox="true"/>
            <p:nvPr/>
          </p:nvSpPr>
          <p:spPr>
            <a:xfrm>
              <a:off x="0" y="-76200"/>
              <a:ext cx="10241280" cy="2026920"/>
            </a:xfrm>
            <a:prstGeom prst="rect">
              <a:avLst/>
            </a:prstGeom>
          </p:spPr>
          <p:txBody>
            <a:bodyPr anchor="ctr" rtlCol="false" tIns="0" lIns="0" bIns="0" rIns="0"/>
            <a:lstStyle/>
            <a:p>
              <a:pPr algn="l">
                <a:lnSpc>
                  <a:spcPts val="5280"/>
                </a:lnSpc>
              </a:pPr>
              <a:r>
                <a:rPr lang="en-US" sz="4400" b="true">
                  <a:solidFill>
                    <a:srgbClr val="0A1D42"/>
                  </a:solidFill>
                  <a:latin typeface="Calibri (MS) Bold"/>
                  <a:ea typeface="Calibri (MS) Bold"/>
                  <a:cs typeface="Calibri (MS) Bold"/>
                  <a:sym typeface="Calibri (MS) Bold"/>
                </a:rPr>
                <a:t>Démonstration en live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7145000" y="0"/>
            <a:ext cx="1143000" cy="1751990"/>
            <a:chOff x="0" y="0"/>
            <a:chExt cx="1524000" cy="2335987"/>
          </a:xfrm>
        </p:grpSpPr>
        <p:sp>
          <p:nvSpPr>
            <p:cNvPr name="Freeform 3" id="3" descr="assets/blob_tr.png"/>
            <p:cNvSpPr/>
            <p:nvPr/>
          </p:nvSpPr>
          <p:spPr>
            <a:xfrm flipH="false" flipV="false" rot="0">
              <a:off x="0" y="0"/>
              <a:ext cx="1524000" cy="2336038"/>
            </a:xfrm>
            <a:custGeom>
              <a:avLst/>
              <a:gdLst/>
              <a:ahLst/>
              <a:cxnLst/>
              <a:rect r="r" b="b" t="t" l="l"/>
              <a:pathLst>
                <a:path h="2336038" w="1524000">
                  <a:moveTo>
                    <a:pt x="0" y="0"/>
                  </a:moveTo>
                  <a:lnTo>
                    <a:pt x="1524000" y="0"/>
                  </a:lnTo>
                  <a:lnTo>
                    <a:pt x="1524000" y="2336038"/>
                  </a:lnTo>
                  <a:lnTo>
                    <a:pt x="0" y="2336038"/>
                  </a:lnTo>
                  <a:lnTo>
                    <a:pt x="0" y="0"/>
                  </a:lnTo>
                  <a:close/>
                </a:path>
              </a:pathLst>
            </a:custGeom>
            <a:blipFill>
              <a:blip r:embed="rId3"/>
              <a:stretch>
                <a:fillRect l="-25" t="0" r="-26" b="2"/>
              </a:stretch>
            </a:blipFill>
          </p:spPr>
        </p:sp>
      </p:grpSp>
      <p:grpSp>
        <p:nvGrpSpPr>
          <p:cNvPr name="Group 4" id="4"/>
          <p:cNvGrpSpPr/>
          <p:nvPr/>
        </p:nvGrpSpPr>
        <p:grpSpPr>
          <a:xfrm rot="0">
            <a:off x="914400" y="1097280"/>
            <a:ext cx="14996160" cy="1133856"/>
            <a:chOff x="0" y="0"/>
            <a:chExt cx="19994880" cy="1511808"/>
          </a:xfrm>
        </p:grpSpPr>
        <p:sp>
          <p:nvSpPr>
            <p:cNvPr name="Freeform 5" id="5"/>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4">
                <a:alphaModFix amt="0"/>
              </a:blip>
              <a:stretch>
                <a:fillRect l="0" t="-207705" r="0" b="-207705"/>
              </a:stretch>
            </a:blipFill>
          </p:spPr>
        </p:sp>
        <p:sp>
          <p:nvSpPr>
            <p:cNvPr name="TextBox 6" id="6"/>
            <p:cNvSpPr txBox="true"/>
            <p:nvPr/>
          </p:nvSpPr>
          <p:spPr>
            <a:xfrm>
              <a:off x="0" y="-19050"/>
              <a:ext cx="19994880"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CONTEXTE &amp; PROBLÉMATIQUE</a:t>
              </a:r>
            </a:p>
          </p:txBody>
        </p:sp>
      </p:grpSp>
      <p:grpSp>
        <p:nvGrpSpPr>
          <p:cNvPr name="Group 7" id="7"/>
          <p:cNvGrpSpPr/>
          <p:nvPr/>
        </p:nvGrpSpPr>
        <p:grpSpPr>
          <a:xfrm rot="0">
            <a:off x="914400" y="2340864"/>
            <a:ext cx="914400" cy="932688"/>
            <a:chOff x="0" y="0"/>
            <a:chExt cx="1219200" cy="1243584"/>
          </a:xfrm>
        </p:grpSpPr>
        <p:sp>
          <p:nvSpPr>
            <p:cNvPr name="Freeform 8" id="8" descr="Logo Eray Digital"/>
            <p:cNvSpPr/>
            <p:nvPr/>
          </p:nvSpPr>
          <p:spPr>
            <a:xfrm flipH="false" flipV="false" rot="0">
              <a:off x="0" y="0"/>
              <a:ext cx="1219200" cy="1243584"/>
            </a:xfrm>
            <a:custGeom>
              <a:avLst/>
              <a:gdLst/>
              <a:ahLst/>
              <a:cxnLst/>
              <a:rect r="r" b="b" t="t" l="l"/>
              <a:pathLst>
                <a:path h="1243584" w="1219200">
                  <a:moveTo>
                    <a:pt x="0" y="0"/>
                  </a:moveTo>
                  <a:lnTo>
                    <a:pt x="1219200" y="0"/>
                  </a:lnTo>
                  <a:lnTo>
                    <a:pt x="1219200" y="1243584"/>
                  </a:lnTo>
                  <a:lnTo>
                    <a:pt x="0" y="1243584"/>
                  </a:lnTo>
                  <a:lnTo>
                    <a:pt x="0" y="0"/>
                  </a:lnTo>
                  <a:close/>
                </a:path>
              </a:pathLst>
            </a:custGeom>
            <a:blipFill>
              <a:blip r:embed="rId5"/>
              <a:stretch>
                <a:fillRect l="-159" t="0" r="-159" b="0"/>
              </a:stretch>
            </a:blipFill>
          </p:spPr>
        </p:sp>
      </p:grpSp>
      <p:grpSp>
        <p:nvGrpSpPr>
          <p:cNvPr name="Group 9" id="9"/>
          <p:cNvGrpSpPr/>
          <p:nvPr/>
        </p:nvGrpSpPr>
        <p:grpSpPr>
          <a:xfrm rot="0">
            <a:off x="2048256" y="2340864"/>
            <a:ext cx="6035040" cy="932688"/>
            <a:chOff x="0" y="0"/>
            <a:chExt cx="8046720" cy="1243584"/>
          </a:xfrm>
        </p:grpSpPr>
        <p:sp>
          <p:nvSpPr>
            <p:cNvPr name="Freeform 10" id="10"/>
            <p:cNvSpPr/>
            <p:nvPr/>
          </p:nvSpPr>
          <p:spPr>
            <a:xfrm flipH="false" flipV="false" rot="0">
              <a:off x="0" y="0"/>
              <a:ext cx="8046720" cy="1243584"/>
            </a:xfrm>
            <a:custGeom>
              <a:avLst/>
              <a:gdLst/>
              <a:ahLst/>
              <a:cxnLst/>
              <a:rect r="r" b="b" t="t" l="l"/>
              <a:pathLst>
                <a:path h="1243584" w="8046720">
                  <a:moveTo>
                    <a:pt x="0" y="0"/>
                  </a:moveTo>
                  <a:lnTo>
                    <a:pt x="8046720" y="0"/>
                  </a:lnTo>
                  <a:lnTo>
                    <a:pt x="8046720" y="1243584"/>
                  </a:lnTo>
                  <a:lnTo>
                    <a:pt x="0" y="1243584"/>
                  </a:lnTo>
                  <a:close/>
                </a:path>
              </a:pathLst>
            </a:custGeom>
            <a:blipFill>
              <a:blip r:embed="rId4">
                <a:alphaModFix amt="0"/>
              </a:blip>
              <a:stretch>
                <a:fillRect l="0" t="-76079" r="0" b="-76079"/>
              </a:stretch>
            </a:blipFill>
          </p:spPr>
        </p:sp>
        <p:sp>
          <p:nvSpPr>
            <p:cNvPr name="TextBox 11" id="11"/>
            <p:cNvSpPr txBox="true"/>
            <p:nvPr/>
          </p:nvSpPr>
          <p:spPr>
            <a:xfrm>
              <a:off x="0" y="-66675"/>
              <a:ext cx="8046720" cy="1310259"/>
            </a:xfrm>
            <a:prstGeom prst="rect">
              <a:avLst/>
            </a:prstGeom>
          </p:spPr>
          <p:txBody>
            <a:bodyPr anchor="ctr" rtlCol="false" tIns="0" lIns="0" bIns="0" rIns="0"/>
            <a:lstStyle/>
            <a:p>
              <a:pPr algn="l">
                <a:lnSpc>
                  <a:spcPts val="3600"/>
                </a:lnSpc>
              </a:pPr>
              <a:r>
                <a:rPr lang="en-US" sz="3000" b="true">
                  <a:solidFill>
                    <a:srgbClr val="0A1D42"/>
                  </a:solidFill>
                  <a:latin typeface="Calibri (MS) Bold"/>
                  <a:ea typeface="Calibri (MS) Bold"/>
                  <a:cs typeface="Calibri (MS) Bold"/>
                  <a:sym typeface="Calibri (MS) Bold"/>
                </a:rPr>
                <a:t>Eray Digital</a:t>
              </a:r>
            </a:p>
            <a:p>
              <a:pPr algn="l">
                <a:lnSpc>
                  <a:spcPts val="2879"/>
                </a:lnSpc>
              </a:pPr>
              <a:r>
                <a:rPr lang="en-US" sz="2400">
                  <a:solidFill>
                    <a:srgbClr val="5B6785"/>
                  </a:solidFill>
                  <a:latin typeface="Calibri (MS)"/>
                  <a:ea typeface="Calibri (MS)"/>
                  <a:cs typeface="Calibri (MS)"/>
                  <a:sym typeface="Calibri (MS)"/>
                </a:rPr>
                <a:t>Entreprise d'accueil</a:t>
              </a:r>
            </a:p>
          </p:txBody>
        </p:sp>
      </p:grpSp>
      <p:grpSp>
        <p:nvGrpSpPr>
          <p:cNvPr name="Group 12" id="12"/>
          <p:cNvGrpSpPr/>
          <p:nvPr/>
        </p:nvGrpSpPr>
        <p:grpSpPr>
          <a:xfrm rot="0">
            <a:off x="8595360" y="2340864"/>
            <a:ext cx="932688" cy="932688"/>
            <a:chOff x="0" y="0"/>
            <a:chExt cx="1243584" cy="1243584"/>
          </a:xfrm>
        </p:grpSpPr>
        <p:sp>
          <p:nvSpPr>
            <p:cNvPr name="Freeform 13" id="13" descr="Logo CA IMMO"/>
            <p:cNvSpPr/>
            <p:nvPr/>
          </p:nvSpPr>
          <p:spPr>
            <a:xfrm flipH="false" flipV="false" rot="0">
              <a:off x="0" y="0"/>
              <a:ext cx="1243584" cy="1243584"/>
            </a:xfrm>
            <a:custGeom>
              <a:avLst/>
              <a:gdLst/>
              <a:ahLst/>
              <a:cxnLst/>
              <a:rect r="r" b="b" t="t" l="l"/>
              <a:pathLst>
                <a:path h="1243584" w="1243584">
                  <a:moveTo>
                    <a:pt x="0" y="0"/>
                  </a:moveTo>
                  <a:lnTo>
                    <a:pt x="1243584" y="0"/>
                  </a:lnTo>
                  <a:lnTo>
                    <a:pt x="1243584" y="1243584"/>
                  </a:lnTo>
                  <a:lnTo>
                    <a:pt x="0" y="1243584"/>
                  </a:lnTo>
                  <a:lnTo>
                    <a:pt x="0" y="0"/>
                  </a:lnTo>
                  <a:close/>
                </a:path>
              </a:pathLst>
            </a:custGeom>
            <a:blipFill>
              <a:blip r:embed="rId6"/>
              <a:stretch>
                <a:fillRect l="0" t="0" r="0" b="0"/>
              </a:stretch>
            </a:blipFill>
          </p:spPr>
        </p:sp>
      </p:grpSp>
      <p:grpSp>
        <p:nvGrpSpPr>
          <p:cNvPr name="Group 14" id="14"/>
          <p:cNvGrpSpPr/>
          <p:nvPr/>
        </p:nvGrpSpPr>
        <p:grpSpPr>
          <a:xfrm rot="0">
            <a:off x="9729216" y="2340864"/>
            <a:ext cx="6949440" cy="932688"/>
            <a:chOff x="0" y="0"/>
            <a:chExt cx="9265920" cy="1243584"/>
          </a:xfrm>
        </p:grpSpPr>
        <p:sp>
          <p:nvSpPr>
            <p:cNvPr name="Freeform 15" id="15"/>
            <p:cNvSpPr/>
            <p:nvPr/>
          </p:nvSpPr>
          <p:spPr>
            <a:xfrm flipH="false" flipV="false" rot="0">
              <a:off x="0" y="0"/>
              <a:ext cx="9265920" cy="1243584"/>
            </a:xfrm>
            <a:custGeom>
              <a:avLst/>
              <a:gdLst/>
              <a:ahLst/>
              <a:cxnLst/>
              <a:rect r="r" b="b" t="t" l="l"/>
              <a:pathLst>
                <a:path h="1243584" w="9265920">
                  <a:moveTo>
                    <a:pt x="0" y="0"/>
                  </a:moveTo>
                  <a:lnTo>
                    <a:pt x="9265920" y="0"/>
                  </a:lnTo>
                  <a:lnTo>
                    <a:pt x="9265920" y="1243584"/>
                  </a:lnTo>
                  <a:lnTo>
                    <a:pt x="0" y="1243584"/>
                  </a:lnTo>
                  <a:close/>
                </a:path>
              </a:pathLst>
            </a:custGeom>
            <a:blipFill>
              <a:blip r:embed="rId4">
                <a:alphaModFix amt="0"/>
              </a:blip>
              <a:stretch>
                <a:fillRect l="0" t="-95182" r="0" b="-95182"/>
              </a:stretch>
            </a:blipFill>
          </p:spPr>
        </p:sp>
        <p:sp>
          <p:nvSpPr>
            <p:cNvPr name="TextBox 16" id="16"/>
            <p:cNvSpPr txBox="true"/>
            <p:nvPr/>
          </p:nvSpPr>
          <p:spPr>
            <a:xfrm>
              <a:off x="0" y="-66675"/>
              <a:ext cx="9265920" cy="1310259"/>
            </a:xfrm>
            <a:prstGeom prst="rect">
              <a:avLst/>
            </a:prstGeom>
          </p:spPr>
          <p:txBody>
            <a:bodyPr anchor="ctr" rtlCol="false" tIns="0" lIns="0" bIns="0" rIns="0"/>
            <a:lstStyle/>
            <a:p>
              <a:pPr algn="l">
                <a:lnSpc>
                  <a:spcPts val="3600"/>
                </a:lnSpc>
              </a:pPr>
              <a:r>
                <a:rPr lang="en-US" sz="3000" b="true">
                  <a:solidFill>
                    <a:srgbClr val="0A1D42"/>
                  </a:solidFill>
                  <a:latin typeface="Calibri (MS) Bold"/>
                  <a:ea typeface="Calibri (MS) Bold"/>
                  <a:cs typeface="Calibri (MS) Bold"/>
                  <a:sym typeface="Calibri (MS) Bold"/>
                </a:rPr>
                <a:t>CA IMMO</a:t>
              </a:r>
            </a:p>
            <a:p>
              <a:pPr algn="l">
                <a:lnSpc>
                  <a:spcPts val="2879"/>
                </a:lnSpc>
              </a:pPr>
              <a:r>
                <a:rPr lang="en-US" sz="2400">
                  <a:solidFill>
                    <a:srgbClr val="5B6785"/>
                  </a:solidFill>
                  <a:latin typeface="Calibri (MS)"/>
                  <a:ea typeface="Calibri (MS)"/>
                  <a:cs typeface="Calibri (MS)"/>
                  <a:sym typeface="Calibri (MS)"/>
                </a:rPr>
                <a:t>Client · vente de terrains</a:t>
              </a:r>
            </a:p>
          </p:txBody>
        </p:sp>
      </p:grpSp>
      <p:grpSp>
        <p:nvGrpSpPr>
          <p:cNvPr name="Group 17" id="17"/>
          <p:cNvGrpSpPr/>
          <p:nvPr/>
        </p:nvGrpSpPr>
        <p:grpSpPr>
          <a:xfrm rot="0">
            <a:off x="914400" y="3749040"/>
            <a:ext cx="5120640" cy="3200400"/>
            <a:chOff x="0" y="0"/>
            <a:chExt cx="6827520" cy="4267200"/>
          </a:xfrm>
        </p:grpSpPr>
        <p:sp>
          <p:nvSpPr>
            <p:cNvPr name="Freeform 18" id="18"/>
            <p:cNvSpPr/>
            <p:nvPr/>
          </p:nvSpPr>
          <p:spPr>
            <a:xfrm flipH="false" flipV="false" rot="0">
              <a:off x="0" y="0"/>
              <a:ext cx="6827520" cy="4267200"/>
            </a:xfrm>
            <a:custGeom>
              <a:avLst/>
              <a:gdLst/>
              <a:ahLst/>
              <a:cxnLst/>
              <a:rect r="r" b="b" t="t" l="l"/>
              <a:pathLst>
                <a:path h="4267200" w="6827520">
                  <a:moveTo>
                    <a:pt x="0" y="341376"/>
                  </a:moveTo>
                  <a:cubicBezTo>
                    <a:pt x="0" y="152781"/>
                    <a:pt x="152781" y="0"/>
                    <a:pt x="341376" y="0"/>
                  </a:cubicBezTo>
                  <a:lnTo>
                    <a:pt x="6486144" y="0"/>
                  </a:lnTo>
                  <a:cubicBezTo>
                    <a:pt x="6674739" y="0"/>
                    <a:pt x="6827520" y="152781"/>
                    <a:pt x="6827520" y="341376"/>
                  </a:cubicBezTo>
                  <a:lnTo>
                    <a:pt x="6827520" y="3925824"/>
                  </a:lnTo>
                  <a:cubicBezTo>
                    <a:pt x="6827520" y="4114419"/>
                    <a:pt x="6674739" y="4267200"/>
                    <a:pt x="6486144" y="4267200"/>
                  </a:cubicBezTo>
                  <a:lnTo>
                    <a:pt x="341376" y="4267200"/>
                  </a:lnTo>
                  <a:cubicBezTo>
                    <a:pt x="152781" y="4267200"/>
                    <a:pt x="0" y="4114419"/>
                    <a:pt x="0" y="3925824"/>
                  </a:cubicBezTo>
                  <a:close/>
                </a:path>
              </a:pathLst>
            </a:custGeom>
            <a:solidFill>
              <a:srgbClr val="FFFFFF"/>
            </a:solidFill>
          </p:spPr>
        </p:sp>
      </p:grpSp>
      <p:grpSp>
        <p:nvGrpSpPr>
          <p:cNvPr name="Group 19" id="19"/>
          <p:cNvGrpSpPr/>
          <p:nvPr/>
        </p:nvGrpSpPr>
        <p:grpSpPr>
          <a:xfrm rot="0">
            <a:off x="1371600" y="4023360"/>
            <a:ext cx="1097280" cy="1097280"/>
            <a:chOff x="0" y="0"/>
            <a:chExt cx="1463040" cy="1463040"/>
          </a:xfrm>
        </p:grpSpPr>
        <p:sp>
          <p:nvSpPr>
            <p:cNvPr name="Freeform 20" id="20"/>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0A1D42"/>
            </a:solidFill>
          </p:spPr>
        </p:sp>
      </p:grpSp>
      <p:grpSp>
        <p:nvGrpSpPr>
          <p:cNvPr name="Group 21" id="21"/>
          <p:cNvGrpSpPr/>
          <p:nvPr/>
        </p:nvGrpSpPr>
        <p:grpSpPr>
          <a:xfrm rot="0">
            <a:off x="1609344" y="4261104"/>
            <a:ext cx="621792" cy="621792"/>
            <a:chOff x="0" y="0"/>
            <a:chExt cx="829056" cy="829056"/>
          </a:xfrm>
        </p:grpSpPr>
        <p:sp>
          <p:nvSpPr>
            <p:cNvPr name="Freeform 22" id="22" descr="Icône Une offre dispersée"/>
            <p:cNvSpPr/>
            <p:nvPr/>
          </p:nvSpPr>
          <p:spPr>
            <a:xfrm flipH="false" flipV="false" rot="0">
              <a:off x="0" y="0"/>
              <a:ext cx="829056" cy="829056"/>
            </a:xfrm>
            <a:custGeom>
              <a:avLst/>
              <a:gdLst/>
              <a:ahLst/>
              <a:cxnLst/>
              <a:rect r="r" b="b" t="t" l="l"/>
              <a:pathLst>
                <a:path h="829056" w="829056">
                  <a:moveTo>
                    <a:pt x="0" y="0"/>
                  </a:moveTo>
                  <a:lnTo>
                    <a:pt x="829056" y="0"/>
                  </a:lnTo>
                  <a:lnTo>
                    <a:pt x="829056" y="829056"/>
                  </a:lnTo>
                  <a:lnTo>
                    <a:pt x="0" y="829056"/>
                  </a:lnTo>
                  <a:lnTo>
                    <a:pt x="0" y="0"/>
                  </a:lnTo>
                  <a:close/>
                </a:path>
              </a:pathLst>
            </a:custGeom>
            <a:blipFill>
              <a:blip r:embed="rId7"/>
              <a:stretch>
                <a:fillRect l="0" t="0" r="0" b="0"/>
              </a:stretch>
            </a:blipFill>
          </p:spPr>
        </p:sp>
      </p:grpSp>
      <p:sp>
        <p:nvSpPr>
          <p:cNvPr name="TextBox 23" id="23"/>
          <p:cNvSpPr txBox="true"/>
          <p:nvPr/>
        </p:nvSpPr>
        <p:spPr>
          <a:xfrm rot="0">
            <a:off x="1371600" y="5282946"/>
            <a:ext cx="4206240" cy="642366"/>
          </a:xfrm>
          <a:prstGeom prst="rect">
            <a:avLst/>
          </a:prstGeom>
        </p:spPr>
        <p:txBody>
          <a:bodyPr anchor="t" rtlCol="false" tIns="0" lIns="0" bIns="0" rIns="0">
            <a:spAutoFit/>
          </a:bodyPr>
          <a:lstStyle/>
          <a:p>
            <a:pPr algn="l">
              <a:lnSpc>
                <a:spcPts val="3840"/>
              </a:lnSpc>
            </a:pPr>
            <a:r>
              <a:rPr lang="en-US" sz="3200" b="true">
                <a:solidFill>
                  <a:srgbClr val="0A1D42"/>
                </a:solidFill>
                <a:latin typeface="Calibri (MS) Bold"/>
                <a:ea typeface="Calibri (MS) Bold"/>
                <a:cs typeface="Calibri (MS) Bold"/>
                <a:sym typeface="Calibri (MS) Bold"/>
              </a:rPr>
              <a:t>Une offre dispersée</a:t>
            </a:r>
          </a:p>
        </p:txBody>
      </p:sp>
      <p:sp>
        <p:nvSpPr>
          <p:cNvPr name="TextBox 24" id="24"/>
          <p:cNvSpPr txBox="true"/>
          <p:nvPr/>
        </p:nvSpPr>
        <p:spPr>
          <a:xfrm rot="0">
            <a:off x="1371600" y="5886450"/>
            <a:ext cx="4206240" cy="971550"/>
          </a:xfrm>
          <a:prstGeom prst="rect">
            <a:avLst/>
          </a:prstGeom>
        </p:spPr>
        <p:txBody>
          <a:bodyPr anchor="t" rtlCol="false" tIns="0" lIns="0" bIns="0" rIns="0">
            <a:spAutoFit/>
          </a:bodyPr>
          <a:lstStyle/>
          <a:p>
            <a:pPr algn="l">
              <a:lnSpc>
                <a:spcPts val="3120"/>
              </a:lnSpc>
            </a:pPr>
            <a:r>
              <a:rPr lang="en-US" sz="2600">
                <a:solidFill>
                  <a:srgbClr val="5B6785"/>
                </a:solidFill>
                <a:latin typeface="Calibri (MS)"/>
                <a:ea typeface="Calibri (MS)"/>
                <a:cs typeface="Calibri (MS)"/>
                <a:sym typeface="Calibri (MS)"/>
              </a:rPr>
              <a:t>Réseaux sociaux, panneaux, bouche-à-oreille</a:t>
            </a:r>
          </a:p>
        </p:txBody>
      </p:sp>
      <p:grpSp>
        <p:nvGrpSpPr>
          <p:cNvPr name="Group 25" id="25"/>
          <p:cNvGrpSpPr/>
          <p:nvPr/>
        </p:nvGrpSpPr>
        <p:grpSpPr>
          <a:xfrm rot="0">
            <a:off x="6583680" y="3749040"/>
            <a:ext cx="5120640" cy="3200400"/>
            <a:chOff x="0" y="0"/>
            <a:chExt cx="6827520" cy="4267200"/>
          </a:xfrm>
        </p:grpSpPr>
        <p:sp>
          <p:nvSpPr>
            <p:cNvPr name="Freeform 26" id="26"/>
            <p:cNvSpPr/>
            <p:nvPr/>
          </p:nvSpPr>
          <p:spPr>
            <a:xfrm flipH="false" flipV="false" rot="0">
              <a:off x="0" y="0"/>
              <a:ext cx="6827520" cy="4267200"/>
            </a:xfrm>
            <a:custGeom>
              <a:avLst/>
              <a:gdLst/>
              <a:ahLst/>
              <a:cxnLst/>
              <a:rect r="r" b="b" t="t" l="l"/>
              <a:pathLst>
                <a:path h="4267200" w="6827520">
                  <a:moveTo>
                    <a:pt x="0" y="341376"/>
                  </a:moveTo>
                  <a:cubicBezTo>
                    <a:pt x="0" y="152781"/>
                    <a:pt x="152781" y="0"/>
                    <a:pt x="341376" y="0"/>
                  </a:cubicBezTo>
                  <a:lnTo>
                    <a:pt x="6486144" y="0"/>
                  </a:lnTo>
                  <a:cubicBezTo>
                    <a:pt x="6674739" y="0"/>
                    <a:pt x="6827520" y="152781"/>
                    <a:pt x="6827520" y="341376"/>
                  </a:cubicBezTo>
                  <a:lnTo>
                    <a:pt x="6827520" y="3925824"/>
                  </a:lnTo>
                  <a:cubicBezTo>
                    <a:pt x="6827520" y="4114419"/>
                    <a:pt x="6674739" y="4267200"/>
                    <a:pt x="6486144" y="4267200"/>
                  </a:cubicBezTo>
                  <a:lnTo>
                    <a:pt x="341376" y="4267200"/>
                  </a:lnTo>
                  <a:cubicBezTo>
                    <a:pt x="152781" y="4267200"/>
                    <a:pt x="0" y="4114419"/>
                    <a:pt x="0" y="3925824"/>
                  </a:cubicBezTo>
                  <a:close/>
                </a:path>
              </a:pathLst>
            </a:custGeom>
            <a:solidFill>
              <a:srgbClr val="FFFFFF"/>
            </a:solidFill>
          </p:spPr>
        </p:sp>
      </p:grpSp>
      <p:grpSp>
        <p:nvGrpSpPr>
          <p:cNvPr name="Group 27" id="27"/>
          <p:cNvGrpSpPr/>
          <p:nvPr/>
        </p:nvGrpSpPr>
        <p:grpSpPr>
          <a:xfrm rot="0">
            <a:off x="7040880" y="4023360"/>
            <a:ext cx="1097280" cy="1097280"/>
            <a:chOff x="0" y="0"/>
            <a:chExt cx="1463040" cy="1463040"/>
          </a:xfrm>
        </p:grpSpPr>
        <p:sp>
          <p:nvSpPr>
            <p:cNvPr name="Freeform 28" id="28"/>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0A1D42"/>
            </a:solidFill>
          </p:spPr>
        </p:sp>
      </p:grpSp>
      <p:grpSp>
        <p:nvGrpSpPr>
          <p:cNvPr name="Group 29" id="29"/>
          <p:cNvGrpSpPr/>
          <p:nvPr/>
        </p:nvGrpSpPr>
        <p:grpSpPr>
          <a:xfrm rot="0">
            <a:off x="7278624" y="4261104"/>
            <a:ext cx="621792" cy="621792"/>
            <a:chOff x="0" y="0"/>
            <a:chExt cx="829056" cy="829056"/>
          </a:xfrm>
        </p:grpSpPr>
        <p:sp>
          <p:nvSpPr>
            <p:cNvPr name="Freeform 30" id="30" descr="Icône Un suivi éclaté"/>
            <p:cNvSpPr/>
            <p:nvPr/>
          </p:nvSpPr>
          <p:spPr>
            <a:xfrm flipH="false" flipV="false" rot="0">
              <a:off x="0" y="0"/>
              <a:ext cx="829056" cy="829056"/>
            </a:xfrm>
            <a:custGeom>
              <a:avLst/>
              <a:gdLst/>
              <a:ahLst/>
              <a:cxnLst/>
              <a:rect r="r" b="b" t="t" l="l"/>
              <a:pathLst>
                <a:path h="829056" w="829056">
                  <a:moveTo>
                    <a:pt x="0" y="0"/>
                  </a:moveTo>
                  <a:lnTo>
                    <a:pt x="829056" y="0"/>
                  </a:lnTo>
                  <a:lnTo>
                    <a:pt x="829056" y="829056"/>
                  </a:lnTo>
                  <a:lnTo>
                    <a:pt x="0" y="829056"/>
                  </a:lnTo>
                  <a:lnTo>
                    <a:pt x="0" y="0"/>
                  </a:lnTo>
                  <a:close/>
                </a:path>
              </a:pathLst>
            </a:custGeom>
            <a:blipFill>
              <a:blip r:embed="rId8"/>
              <a:stretch>
                <a:fillRect l="0" t="0" r="0" b="0"/>
              </a:stretch>
            </a:blipFill>
          </p:spPr>
        </p:sp>
      </p:grpSp>
      <p:sp>
        <p:nvSpPr>
          <p:cNvPr name="TextBox 31" id="31"/>
          <p:cNvSpPr txBox="true"/>
          <p:nvPr/>
        </p:nvSpPr>
        <p:spPr>
          <a:xfrm rot="0">
            <a:off x="7040880" y="5282946"/>
            <a:ext cx="4206240" cy="642366"/>
          </a:xfrm>
          <a:prstGeom prst="rect">
            <a:avLst/>
          </a:prstGeom>
        </p:spPr>
        <p:txBody>
          <a:bodyPr anchor="t" rtlCol="false" tIns="0" lIns="0" bIns="0" rIns="0">
            <a:spAutoFit/>
          </a:bodyPr>
          <a:lstStyle/>
          <a:p>
            <a:pPr algn="l">
              <a:lnSpc>
                <a:spcPts val="3840"/>
              </a:lnSpc>
            </a:pPr>
            <a:r>
              <a:rPr lang="en-US" sz="3200" b="true">
                <a:solidFill>
                  <a:srgbClr val="0A1D42"/>
                </a:solidFill>
                <a:latin typeface="Calibri (MS) Bold"/>
                <a:ea typeface="Calibri (MS) Bold"/>
                <a:cs typeface="Calibri (MS) Bold"/>
                <a:sym typeface="Calibri (MS) Bold"/>
              </a:rPr>
              <a:t>Un suivi éclaté</a:t>
            </a:r>
          </a:p>
        </p:txBody>
      </p:sp>
      <p:sp>
        <p:nvSpPr>
          <p:cNvPr name="TextBox 32" id="32"/>
          <p:cNvSpPr txBox="true"/>
          <p:nvPr/>
        </p:nvSpPr>
        <p:spPr>
          <a:xfrm rot="0">
            <a:off x="7040880" y="5886450"/>
            <a:ext cx="4206240" cy="971550"/>
          </a:xfrm>
          <a:prstGeom prst="rect">
            <a:avLst/>
          </a:prstGeom>
        </p:spPr>
        <p:txBody>
          <a:bodyPr anchor="t" rtlCol="false" tIns="0" lIns="0" bIns="0" rIns="0">
            <a:spAutoFit/>
          </a:bodyPr>
          <a:lstStyle/>
          <a:p>
            <a:pPr algn="l">
              <a:lnSpc>
                <a:spcPts val="3120"/>
              </a:lnSpc>
            </a:pPr>
            <a:r>
              <a:rPr lang="en-US" sz="2600">
                <a:solidFill>
                  <a:srgbClr val="5B6785"/>
                </a:solidFill>
                <a:latin typeface="Calibri (MS)"/>
                <a:ea typeface="Calibri (MS)"/>
                <a:cs typeface="Calibri (MS)"/>
                <a:sym typeface="Calibri (MS)"/>
              </a:rPr>
              <a:t>Tableurs, WhatsApp et papier</a:t>
            </a:r>
          </a:p>
        </p:txBody>
      </p:sp>
      <p:grpSp>
        <p:nvGrpSpPr>
          <p:cNvPr name="Group 33" id="33"/>
          <p:cNvGrpSpPr/>
          <p:nvPr/>
        </p:nvGrpSpPr>
        <p:grpSpPr>
          <a:xfrm rot="0">
            <a:off x="12252960" y="3749040"/>
            <a:ext cx="5120640" cy="3200400"/>
            <a:chOff x="0" y="0"/>
            <a:chExt cx="6827520" cy="4267200"/>
          </a:xfrm>
        </p:grpSpPr>
        <p:sp>
          <p:nvSpPr>
            <p:cNvPr name="Freeform 34" id="34"/>
            <p:cNvSpPr/>
            <p:nvPr/>
          </p:nvSpPr>
          <p:spPr>
            <a:xfrm flipH="false" flipV="false" rot="0">
              <a:off x="0" y="0"/>
              <a:ext cx="6827520" cy="4267200"/>
            </a:xfrm>
            <a:custGeom>
              <a:avLst/>
              <a:gdLst/>
              <a:ahLst/>
              <a:cxnLst/>
              <a:rect r="r" b="b" t="t" l="l"/>
              <a:pathLst>
                <a:path h="4267200" w="6827520">
                  <a:moveTo>
                    <a:pt x="0" y="341376"/>
                  </a:moveTo>
                  <a:cubicBezTo>
                    <a:pt x="0" y="152781"/>
                    <a:pt x="152781" y="0"/>
                    <a:pt x="341376" y="0"/>
                  </a:cubicBezTo>
                  <a:lnTo>
                    <a:pt x="6486144" y="0"/>
                  </a:lnTo>
                  <a:cubicBezTo>
                    <a:pt x="6674739" y="0"/>
                    <a:pt x="6827520" y="152781"/>
                    <a:pt x="6827520" y="341376"/>
                  </a:cubicBezTo>
                  <a:lnTo>
                    <a:pt x="6827520" y="3925824"/>
                  </a:lnTo>
                  <a:cubicBezTo>
                    <a:pt x="6827520" y="4114419"/>
                    <a:pt x="6674739" y="4267200"/>
                    <a:pt x="6486144" y="4267200"/>
                  </a:cubicBezTo>
                  <a:lnTo>
                    <a:pt x="341376" y="4267200"/>
                  </a:lnTo>
                  <a:cubicBezTo>
                    <a:pt x="152781" y="4267200"/>
                    <a:pt x="0" y="4114419"/>
                    <a:pt x="0" y="3925824"/>
                  </a:cubicBezTo>
                  <a:close/>
                </a:path>
              </a:pathLst>
            </a:custGeom>
            <a:solidFill>
              <a:srgbClr val="FFFFFF"/>
            </a:solidFill>
          </p:spPr>
        </p:sp>
      </p:grpSp>
      <p:grpSp>
        <p:nvGrpSpPr>
          <p:cNvPr name="Group 35" id="35"/>
          <p:cNvGrpSpPr/>
          <p:nvPr/>
        </p:nvGrpSpPr>
        <p:grpSpPr>
          <a:xfrm rot="0">
            <a:off x="12710160" y="4023360"/>
            <a:ext cx="1097280" cy="1097280"/>
            <a:chOff x="0" y="0"/>
            <a:chExt cx="1463040" cy="1463040"/>
          </a:xfrm>
        </p:grpSpPr>
        <p:sp>
          <p:nvSpPr>
            <p:cNvPr name="Freeform 36" id="36"/>
            <p:cNvSpPr/>
            <p:nvPr/>
          </p:nvSpPr>
          <p:spPr>
            <a:xfrm flipH="false" flipV="false" rot="0">
              <a:off x="0" y="0"/>
              <a:ext cx="1463040" cy="1463040"/>
            </a:xfrm>
            <a:custGeom>
              <a:avLst/>
              <a:gdLst/>
              <a:ahLst/>
              <a:cxnLst/>
              <a:rect r="r" b="b" t="t" l="l"/>
              <a:pathLst>
                <a:path h="1463040" w="1463040">
                  <a:moveTo>
                    <a:pt x="0" y="731520"/>
                  </a:moveTo>
                  <a:cubicBezTo>
                    <a:pt x="0" y="327533"/>
                    <a:pt x="327533" y="0"/>
                    <a:pt x="731520" y="0"/>
                  </a:cubicBezTo>
                  <a:cubicBezTo>
                    <a:pt x="1135507" y="0"/>
                    <a:pt x="1463040" y="327533"/>
                    <a:pt x="1463040" y="731520"/>
                  </a:cubicBezTo>
                  <a:cubicBezTo>
                    <a:pt x="1463040" y="1135507"/>
                    <a:pt x="1135507" y="1463040"/>
                    <a:pt x="731520" y="1463040"/>
                  </a:cubicBezTo>
                  <a:cubicBezTo>
                    <a:pt x="327533" y="1463040"/>
                    <a:pt x="0" y="1135507"/>
                    <a:pt x="0" y="731520"/>
                  </a:cubicBezTo>
                  <a:close/>
                </a:path>
              </a:pathLst>
            </a:custGeom>
            <a:solidFill>
              <a:srgbClr val="0A1D42"/>
            </a:solidFill>
          </p:spPr>
        </p:sp>
      </p:grpSp>
      <p:grpSp>
        <p:nvGrpSpPr>
          <p:cNvPr name="Group 37" id="37"/>
          <p:cNvGrpSpPr/>
          <p:nvPr/>
        </p:nvGrpSpPr>
        <p:grpSpPr>
          <a:xfrm rot="0">
            <a:off x="12947904" y="4261104"/>
            <a:ext cx="621792" cy="621792"/>
            <a:chOff x="0" y="0"/>
            <a:chExt cx="829056" cy="829056"/>
          </a:xfrm>
        </p:grpSpPr>
        <p:sp>
          <p:nvSpPr>
            <p:cNvPr name="Freeform 38" id="38" descr="Icône Une diaspora à distance"/>
            <p:cNvSpPr/>
            <p:nvPr/>
          </p:nvSpPr>
          <p:spPr>
            <a:xfrm flipH="false" flipV="false" rot="0">
              <a:off x="0" y="0"/>
              <a:ext cx="829056" cy="829056"/>
            </a:xfrm>
            <a:custGeom>
              <a:avLst/>
              <a:gdLst/>
              <a:ahLst/>
              <a:cxnLst/>
              <a:rect r="r" b="b" t="t" l="l"/>
              <a:pathLst>
                <a:path h="829056" w="829056">
                  <a:moveTo>
                    <a:pt x="0" y="0"/>
                  </a:moveTo>
                  <a:lnTo>
                    <a:pt x="829056" y="0"/>
                  </a:lnTo>
                  <a:lnTo>
                    <a:pt x="829056" y="829056"/>
                  </a:lnTo>
                  <a:lnTo>
                    <a:pt x="0" y="829056"/>
                  </a:lnTo>
                  <a:lnTo>
                    <a:pt x="0" y="0"/>
                  </a:lnTo>
                  <a:close/>
                </a:path>
              </a:pathLst>
            </a:custGeom>
            <a:blipFill>
              <a:blip r:embed="rId9"/>
              <a:stretch>
                <a:fillRect l="0" t="0" r="0" b="0"/>
              </a:stretch>
            </a:blipFill>
          </p:spPr>
        </p:sp>
      </p:grpSp>
      <p:sp>
        <p:nvSpPr>
          <p:cNvPr name="TextBox 39" id="39"/>
          <p:cNvSpPr txBox="true"/>
          <p:nvPr/>
        </p:nvSpPr>
        <p:spPr>
          <a:xfrm rot="0">
            <a:off x="12710160" y="5282946"/>
            <a:ext cx="4206240" cy="642366"/>
          </a:xfrm>
          <a:prstGeom prst="rect">
            <a:avLst/>
          </a:prstGeom>
        </p:spPr>
        <p:txBody>
          <a:bodyPr anchor="t" rtlCol="false" tIns="0" lIns="0" bIns="0" rIns="0">
            <a:spAutoFit/>
          </a:bodyPr>
          <a:lstStyle/>
          <a:p>
            <a:pPr algn="l">
              <a:lnSpc>
                <a:spcPts val="3840"/>
              </a:lnSpc>
            </a:pPr>
            <a:r>
              <a:rPr lang="en-US" sz="3200" b="true">
                <a:solidFill>
                  <a:srgbClr val="0A1D42"/>
                </a:solidFill>
                <a:latin typeface="Calibri (MS) Bold"/>
                <a:ea typeface="Calibri (MS) Bold"/>
                <a:cs typeface="Calibri (MS) Bold"/>
                <a:sym typeface="Calibri (MS) Bold"/>
              </a:rPr>
              <a:t>Une diaspora à distance</a:t>
            </a:r>
          </a:p>
        </p:txBody>
      </p:sp>
      <p:sp>
        <p:nvSpPr>
          <p:cNvPr name="TextBox 40" id="40"/>
          <p:cNvSpPr txBox="true"/>
          <p:nvPr/>
        </p:nvSpPr>
        <p:spPr>
          <a:xfrm rot="0">
            <a:off x="12710160" y="5886450"/>
            <a:ext cx="4206240" cy="971550"/>
          </a:xfrm>
          <a:prstGeom prst="rect">
            <a:avLst/>
          </a:prstGeom>
        </p:spPr>
        <p:txBody>
          <a:bodyPr anchor="t" rtlCol="false" tIns="0" lIns="0" bIns="0" rIns="0">
            <a:spAutoFit/>
          </a:bodyPr>
          <a:lstStyle/>
          <a:p>
            <a:pPr algn="l">
              <a:lnSpc>
                <a:spcPts val="3120"/>
              </a:lnSpc>
            </a:pPr>
            <a:r>
              <a:rPr lang="en-US" sz="2600">
                <a:solidFill>
                  <a:srgbClr val="5B6785"/>
                </a:solidFill>
                <a:latin typeface="Calibri (MS)"/>
                <a:ea typeface="Calibri (MS)"/>
                <a:cs typeface="Calibri (MS)"/>
                <a:sym typeface="Calibri (MS)"/>
              </a:rPr>
              <a:t>Pas de canal numérique fiable</a:t>
            </a:r>
          </a:p>
        </p:txBody>
      </p:sp>
      <p:grpSp>
        <p:nvGrpSpPr>
          <p:cNvPr name="Group 41" id="41"/>
          <p:cNvGrpSpPr/>
          <p:nvPr/>
        </p:nvGrpSpPr>
        <p:grpSpPr>
          <a:xfrm rot="0">
            <a:off x="793108" y="7435215"/>
            <a:ext cx="16618592" cy="1754185"/>
            <a:chOff x="0" y="0"/>
            <a:chExt cx="21945600" cy="2316480"/>
          </a:xfrm>
        </p:grpSpPr>
        <p:sp>
          <p:nvSpPr>
            <p:cNvPr name="Freeform 42" id="42"/>
            <p:cNvSpPr/>
            <p:nvPr/>
          </p:nvSpPr>
          <p:spPr>
            <a:xfrm flipH="false" flipV="false" rot="0">
              <a:off x="0" y="0"/>
              <a:ext cx="21945600" cy="2316480"/>
            </a:xfrm>
            <a:custGeom>
              <a:avLst/>
              <a:gdLst/>
              <a:ahLst/>
              <a:cxnLst/>
              <a:rect r="r" b="b" t="t" l="l"/>
              <a:pathLst>
                <a:path h="2316480" w="21945600">
                  <a:moveTo>
                    <a:pt x="0" y="208534"/>
                  </a:moveTo>
                  <a:cubicBezTo>
                    <a:pt x="0" y="93345"/>
                    <a:pt x="93345" y="0"/>
                    <a:pt x="208534" y="0"/>
                  </a:cubicBezTo>
                  <a:lnTo>
                    <a:pt x="21737065" y="0"/>
                  </a:lnTo>
                  <a:cubicBezTo>
                    <a:pt x="21852254" y="0"/>
                    <a:pt x="21945600" y="93345"/>
                    <a:pt x="21945600" y="208534"/>
                  </a:cubicBezTo>
                  <a:lnTo>
                    <a:pt x="21945600" y="2107946"/>
                  </a:lnTo>
                  <a:cubicBezTo>
                    <a:pt x="21945600" y="2223135"/>
                    <a:pt x="21852254" y="2316480"/>
                    <a:pt x="21737065" y="2316480"/>
                  </a:cubicBezTo>
                  <a:lnTo>
                    <a:pt x="208534" y="2316480"/>
                  </a:lnTo>
                  <a:cubicBezTo>
                    <a:pt x="93345" y="2316480"/>
                    <a:pt x="0" y="2223135"/>
                    <a:pt x="0" y="2107946"/>
                  </a:cubicBezTo>
                  <a:close/>
                </a:path>
              </a:pathLst>
            </a:custGeom>
            <a:solidFill>
              <a:srgbClr val="0A1D42"/>
            </a:solidFill>
          </p:spPr>
        </p:sp>
      </p:grpSp>
      <p:sp>
        <p:nvSpPr>
          <p:cNvPr name="TextBox 43" id="43"/>
          <p:cNvSpPr txBox="true"/>
          <p:nvPr/>
        </p:nvSpPr>
        <p:spPr>
          <a:xfrm rot="0">
            <a:off x="1254736" y="7563301"/>
            <a:ext cx="7386041" cy="444332"/>
          </a:xfrm>
          <a:prstGeom prst="rect">
            <a:avLst/>
          </a:prstGeom>
        </p:spPr>
        <p:txBody>
          <a:bodyPr anchor="t" rtlCol="false" tIns="0" lIns="0" bIns="0" rIns="0">
            <a:spAutoFit/>
          </a:bodyPr>
          <a:lstStyle/>
          <a:p>
            <a:pPr algn="l">
              <a:lnSpc>
                <a:spcPts val="2423"/>
              </a:lnSpc>
            </a:pPr>
            <a:r>
              <a:rPr lang="en-US" b="true" sz="2019" spc="302">
                <a:solidFill>
                  <a:srgbClr val="FDC830"/>
                </a:solidFill>
                <a:latin typeface="Calibri (MS) Bold"/>
                <a:ea typeface="Calibri (MS) Bold"/>
                <a:cs typeface="Calibri (MS) Bold"/>
                <a:sym typeface="Calibri (MS) Bold"/>
              </a:rPr>
              <a:t>PROBLÉMATIQUE</a:t>
            </a:r>
          </a:p>
        </p:txBody>
      </p:sp>
      <p:sp>
        <p:nvSpPr>
          <p:cNvPr name="TextBox 44" id="44"/>
          <p:cNvSpPr txBox="true"/>
          <p:nvPr/>
        </p:nvSpPr>
        <p:spPr>
          <a:xfrm rot="0">
            <a:off x="1254736" y="7996938"/>
            <a:ext cx="15695337" cy="1063206"/>
          </a:xfrm>
          <a:prstGeom prst="rect">
            <a:avLst/>
          </a:prstGeom>
        </p:spPr>
        <p:txBody>
          <a:bodyPr anchor="t" rtlCol="false" tIns="0" lIns="0" bIns="0" rIns="0">
            <a:spAutoFit/>
          </a:bodyPr>
          <a:lstStyle/>
          <a:p>
            <a:pPr algn="l">
              <a:lnSpc>
                <a:spcPts val="3392"/>
              </a:lnSpc>
            </a:pPr>
            <a:r>
              <a:rPr lang="en-US" sz="2827">
                <a:solidFill>
                  <a:srgbClr val="FFFFFF"/>
                </a:solidFill>
                <a:latin typeface="Calibri (MS)"/>
                <a:ea typeface="Calibri (MS)"/>
                <a:cs typeface="Calibri (MS)"/>
                <a:sym typeface="Calibri (MS)"/>
              </a:rPr>
              <a:t>En quoi une plateforme web centralisée permet-elle de restructurer, tracer et sécuriser la vente de terrains, aujourd'hui dispersée et informelle ?</a:t>
            </a:r>
          </a:p>
        </p:txBody>
      </p:sp>
      <p:sp>
        <p:nvSpPr>
          <p:cNvPr name="TextBox 45" id="45"/>
          <p:cNvSpPr txBox="true"/>
          <p:nvPr/>
        </p:nvSpPr>
        <p:spPr>
          <a:xfrm rot="0">
            <a:off x="15819120" y="9608820"/>
            <a:ext cx="731520" cy="403860"/>
          </a:xfrm>
          <a:prstGeom prst="rect">
            <a:avLst/>
          </a:prstGeom>
        </p:spPr>
        <p:txBody>
          <a:bodyPr anchor="t" rtlCol="false" tIns="0" lIns="0" bIns="0" rIns="0">
            <a:spAutoFit/>
          </a:bodyPr>
          <a:lstStyle/>
          <a:p>
            <a:pPr algn="r">
              <a:lnSpc>
                <a:spcPts val="2400"/>
              </a:lnSpc>
            </a:pPr>
            <a:r>
              <a:rPr lang="en-US" sz="2000">
                <a:solidFill>
                  <a:srgbClr val="5B6785"/>
                </a:solidFill>
                <a:latin typeface="Calibri (MS)"/>
                <a:ea typeface="Calibri (MS)"/>
                <a:cs typeface="Calibri (MS)"/>
                <a:sym typeface="Calibri (MS)"/>
              </a:rPr>
              <a:t>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7145000" y="0"/>
            <a:ext cx="1143000" cy="1751990"/>
            <a:chOff x="0" y="0"/>
            <a:chExt cx="1524000" cy="2335987"/>
          </a:xfrm>
        </p:grpSpPr>
        <p:sp>
          <p:nvSpPr>
            <p:cNvPr name="Freeform 3" id="3" descr="assets/blob_tr.png"/>
            <p:cNvSpPr/>
            <p:nvPr/>
          </p:nvSpPr>
          <p:spPr>
            <a:xfrm flipH="false" flipV="false" rot="0">
              <a:off x="0" y="0"/>
              <a:ext cx="1524000" cy="2336038"/>
            </a:xfrm>
            <a:custGeom>
              <a:avLst/>
              <a:gdLst/>
              <a:ahLst/>
              <a:cxnLst/>
              <a:rect r="r" b="b" t="t" l="l"/>
              <a:pathLst>
                <a:path h="2336038" w="1524000">
                  <a:moveTo>
                    <a:pt x="0" y="0"/>
                  </a:moveTo>
                  <a:lnTo>
                    <a:pt x="1524000" y="0"/>
                  </a:lnTo>
                  <a:lnTo>
                    <a:pt x="1524000" y="2336038"/>
                  </a:lnTo>
                  <a:lnTo>
                    <a:pt x="0" y="2336038"/>
                  </a:lnTo>
                  <a:lnTo>
                    <a:pt x="0" y="0"/>
                  </a:lnTo>
                  <a:close/>
                </a:path>
              </a:pathLst>
            </a:custGeom>
            <a:blipFill>
              <a:blip r:embed="rId3"/>
              <a:stretch>
                <a:fillRect l="-25" t="0" r="-26" b="2"/>
              </a:stretch>
            </a:blipFill>
          </p:spPr>
        </p:sp>
      </p:grpSp>
      <p:grpSp>
        <p:nvGrpSpPr>
          <p:cNvPr name="Group 4" id="4"/>
          <p:cNvGrpSpPr/>
          <p:nvPr/>
        </p:nvGrpSpPr>
        <p:grpSpPr>
          <a:xfrm rot="0">
            <a:off x="914400" y="1097280"/>
            <a:ext cx="14996160" cy="1133856"/>
            <a:chOff x="0" y="0"/>
            <a:chExt cx="19994880" cy="1511808"/>
          </a:xfrm>
        </p:grpSpPr>
        <p:sp>
          <p:nvSpPr>
            <p:cNvPr name="Freeform 5" id="5"/>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4">
                <a:alphaModFix amt="0"/>
              </a:blip>
              <a:stretch>
                <a:fillRect l="0" t="-207705" r="0" b="-207705"/>
              </a:stretch>
            </a:blipFill>
          </p:spPr>
        </p:sp>
        <p:sp>
          <p:nvSpPr>
            <p:cNvPr name="TextBox 6" id="6"/>
            <p:cNvSpPr txBox="true"/>
            <p:nvPr/>
          </p:nvSpPr>
          <p:spPr>
            <a:xfrm>
              <a:off x="0" y="-19050"/>
              <a:ext cx="19994880"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LA SOLUTION : DEUX ESPACES RELIÉS</a:t>
              </a:r>
            </a:p>
          </p:txBody>
        </p:sp>
      </p:grpSp>
      <p:grpSp>
        <p:nvGrpSpPr>
          <p:cNvPr name="Group 7" id="7"/>
          <p:cNvGrpSpPr/>
          <p:nvPr/>
        </p:nvGrpSpPr>
        <p:grpSpPr>
          <a:xfrm rot="0">
            <a:off x="914400" y="2377440"/>
            <a:ext cx="7955280" cy="3693519"/>
            <a:chOff x="0" y="0"/>
            <a:chExt cx="10607040" cy="4924692"/>
          </a:xfrm>
        </p:grpSpPr>
        <p:sp>
          <p:nvSpPr>
            <p:cNvPr name="Freeform 8" id="8" descr="Page d'accueil du site public"/>
            <p:cNvSpPr/>
            <p:nvPr/>
          </p:nvSpPr>
          <p:spPr>
            <a:xfrm flipH="false" flipV="false" rot="0">
              <a:off x="0" y="0"/>
              <a:ext cx="10607040" cy="4924679"/>
            </a:xfrm>
            <a:custGeom>
              <a:avLst/>
              <a:gdLst/>
              <a:ahLst/>
              <a:cxnLst/>
              <a:rect r="r" b="b" t="t" l="l"/>
              <a:pathLst>
                <a:path h="4924679" w="10607040">
                  <a:moveTo>
                    <a:pt x="0" y="0"/>
                  </a:moveTo>
                  <a:lnTo>
                    <a:pt x="10607040" y="0"/>
                  </a:lnTo>
                  <a:lnTo>
                    <a:pt x="10607040" y="4924679"/>
                  </a:lnTo>
                  <a:lnTo>
                    <a:pt x="0" y="4924679"/>
                  </a:lnTo>
                  <a:lnTo>
                    <a:pt x="0" y="0"/>
                  </a:lnTo>
                  <a:close/>
                </a:path>
              </a:pathLst>
            </a:custGeom>
            <a:blipFill>
              <a:blip r:embed="rId5"/>
              <a:stretch>
                <a:fillRect l="0" t="0" r="0" b="0"/>
              </a:stretch>
            </a:blipFill>
          </p:spPr>
        </p:sp>
      </p:grpSp>
      <p:grpSp>
        <p:nvGrpSpPr>
          <p:cNvPr name="Group 9" id="9"/>
          <p:cNvGrpSpPr/>
          <p:nvPr/>
        </p:nvGrpSpPr>
        <p:grpSpPr>
          <a:xfrm rot="0">
            <a:off x="9418320" y="2377440"/>
            <a:ext cx="7955280" cy="3693519"/>
            <a:chOff x="0" y="0"/>
            <a:chExt cx="10607040" cy="4924692"/>
          </a:xfrm>
        </p:grpSpPr>
        <p:sp>
          <p:nvSpPr>
            <p:cNvPr name="Freeform 10" id="10" descr="Tableau de bord de l'espace d'administration"/>
            <p:cNvSpPr/>
            <p:nvPr/>
          </p:nvSpPr>
          <p:spPr>
            <a:xfrm flipH="false" flipV="false" rot="0">
              <a:off x="0" y="0"/>
              <a:ext cx="10607040" cy="4924679"/>
            </a:xfrm>
            <a:custGeom>
              <a:avLst/>
              <a:gdLst/>
              <a:ahLst/>
              <a:cxnLst/>
              <a:rect r="r" b="b" t="t" l="l"/>
              <a:pathLst>
                <a:path h="4924679" w="10607040">
                  <a:moveTo>
                    <a:pt x="0" y="0"/>
                  </a:moveTo>
                  <a:lnTo>
                    <a:pt x="10607040" y="0"/>
                  </a:lnTo>
                  <a:lnTo>
                    <a:pt x="10607040" y="4924679"/>
                  </a:lnTo>
                  <a:lnTo>
                    <a:pt x="0" y="4924679"/>
                  </a:lnTo>
                  <a:lnTo>
                    <a:pt x="0" y="0"/>
                  </a:lnTo>
                  <a:close/>
                </a:path>
              </a:pathLst>
            </a:custGeom>
            <a:blipFill>
              <a:blip r:embed="rId6"/>
              <a:stretch>
                <a:fillRect l="0" t="0" r="0" b="0"/>
              </a:stretch>
            </a:blipFill>
          </p:spPr>
        </p:sp>
      </p:grpSp>
      <p:sp>
        <p:nvSpPr>
          <p:cNvPr name="TextBox 11" id="11"/>
          <p:cNvSpPr txBox="true"/>
          <p:nvPr/>
        </p:nvSpPr>
        <p:spPr>
          <a:xfrm rot="0">
            <a:off x="914400" y="6307074"/>
            <a:ext cx="7955280" cy="1154430"/>
          </a:xfrm>
          <a:prstGeom prst="rect">
            <a:avLst/>
          </a:prstGeom>
        </p:spPr>
        <p:txBody>
          <a:bodyPr anchor="t" rtlCol="false" tIns="0" lIns="0" bIns="0" rIns="0">
            <a:spAutoFit/>
          </a:bodyPr>
          <a:lstStyle/>
          <a:p>
            <a:pPr algn="l">
              <a:lnSpc>
                <a:spcPts val="3840"/>
              </a:lnSpc>
            </a:pPr>
            <a:r>
              <a:rPr lang="en-US" sz="3200" b="true">
                <a:solidFill>
                  <a:srgbClr val="0A1D42"/>
                </a:solidFill>
                <a:latin typeface="Calibri (MS) Bold"/>
                <a:ea typeface="Calibri (MS) Bold"/>
                <a:cs typeface="Calibri (MS) Bold"/>
                <a:sym typeface="Calibri (MS) Bold"/>
              </a:rPr>
              <a:t>Site public</a:t>
            </a:r>
          </a:p>
          <a:p>
            <a:pPr algn="l">
              <a:lnSpc>
                <a:spcPts val="3120"/>
              </a:lnSpc>
            </a:pPr>
            <a:r>
              <a:rPr lang="en-US" sz="2600">
                <a:solidFill>
                  <a:srgbClr val="5B6785"/>
                </a:solidFill>
                <a:latin typeface="Calibri (MS)"/>
                <a:ea typeface="Calibri (MS)"/>
                <a:cs typeface="Calibri (MS)"/>
                <a:sym typeface="Calibri (MS)"/>
              </a:rPr>
              <a:t>Catalogue, demandes, dépôt de terrain</a:t>
            </a:r>
          </a:p>
        </p:txBody>
      </p:sp>
      <p:sp>
        <p:nvSpPr>
          <p:cNvPr name="TextBox 12" id="12"/>
          <p:cNvSpPr txBox="true"/>
          <p:nvPr/>
        </p:nvSpPr>
        <p:spPr>
          <a:xfrm rot="0">
            <a:off x="9418320" y="6307074"/>
            <a:ext cx="7955280" cy="1154430"/>
          </a:xfrm>
          <a:prstGeom prst="rect">
            <a:avLst/>
          </a:prstGeom>
        </p:spPr>
        <p:txBody>
          <a:bodyPr anchor="t" rtlCol="false" tIns="0" lIns="0" bIns="0" rIns="0">
            <a:spAutoFit/>
          </a:bodyPr>
          <a:lstStyle/>
          <a:p>
            <a:pPr algn="l">
              <a:lnSpc>
                <a:spcPts val="3840"/>
              </a:lnSpc>
            </a:pPr>
            <a:r>
              <a:rPr lang="en-US" sz="3200" b="true">
                <a:solidFill>
                  <a:srgbClr val="0A1D42"/>
                </a:solidFill>
                <a:latin typeface="Calibri (MS) Bold"/>
                <a:ea typeface="Calibri (MS) Bold"/>
                <a:cs typeface="Calibri (MS) Bold"/>
                <a:sym typeface="Calibri (MS) Bold"/>
              </a:rPr>
              <a:t>Espace d'administration</a:t>
            </a:r>
          </a:p>
          <a:p>
            <a:pPr algn="l">
              <a:lnSpc>
                <a:spcPts val="3120"/>
              </a:lnSpc>
            </a:pPr>
            <a:r>
              <a:rPr lang="en-US" sz="2600">
                <a:solidFill>
                  <a:srgbClr val="5B6785"/>
                </a:solidFill>
                <a:latin typeface="Calibri (MS)"/>
                <a:ea typeface="Calibri (MS)"/>
                <a:cs typeface="Calibri (MS)"/>
                <a:sym typeface="Calibri (MS)"/>
              </a:rPr>
              <a:t>Suivi, gestion, validation avant publication</a:t>
            </a:r>
          </a:p>
        </p:txBody>
      </p:sp>
      <p:grpSp>
        <p:nvGrpSpPr>
          <p:cNvPr name="Group 13" id="13"/>
          <p:cNvGrpSpPr/>
          <p:nvPr/>
        </p:nvGrpSpPr>
        <p:grpSpPr>
          <a:xfrm rot="0">
            <a:off x="914400" y="7772400"/>
            <a:ext cx="5120640" cy="1243584"/>
            <a:chOff x="0" y="0"/>
            <a:chExt cx="6827520" cy="1658112"/>
          </a:xfrm>
        </p:grpSpPr>
        <p:sp>
          <p:nvSpPr>
            <p:cNvPr name="Freeform 14" id="14"/>
            <p:cNvSpPr/>
            <p:nvPr/>
          </p:nvSpPr>
          <p:spPr>
            <a:xfrm flipH="false" flipV="false" rot="0">
              <a:off x="0" y="0"/>
              <a:ext cx="6827520" cy="1658239"/>
            </a:xfrm>
            <a:custGeom>
              <a:avLst/>
              <a:gdLst/>
              <a:ahLst/>
              <a:cxnLst/>
              <a:rect r="r" b="b" t="t" l="l"/>
              <a:pathLst>
                <a:path h="1658239" w="6827520">
                  <a:moveTo>
                    <a:pt x="0" y="199009"/>
                  </a:moveTo>
                  <a:cubicBezTo>
                    <a:pt x="0" y="89027"/>
                    <a:pt x="89027" y="0"/>
                    <a:pt x="199009" y="0"/>
                  </a:cubicBezTo>
                  <a:lnTo>
                    <a:pt x="6628511" y="0"/>
                  </a:lnTo>
                  <a:cubicBezTo>
                    <a:pt x="6738366" y="0"/>
                    <a:pt x="6827520" y="89027"/>
                    <a:pt x="6827520" y="199009"/>
                  </a:cubicBezTo>
                  <a:lnTo>
                    <a:pt x="6827520" y="1459230"/>
                  </a:lnTo>
                  <a:cubicBezTo>
                    <a:pt x="6827520" y="1569085"/>
                    <a:pt x="6738493" y="1658239"/>
                    <a:pt x="6628511" y="1658239"/>
                  </a:cubicBezTo>
                  <a:lnTo>
                    <a:pt x="199009" y="1658239"/>
                  </a:lnTo>
                  <a:cubicBezTo>
                    <a:pt x="89027" y="1658112"/>
                    <a:pt x="0" y="1569085"/>
                    <a:pt x="0" y="1459103"/>
                  </a:cubicBezTo>
                  <a:close/>
                </a:path>
              </a:pathLst>
            </a:custGeom>
            <a:solidFill>
              <a:srgbClr val="FFFFFF"/>
            </a:solidFill>
          </p:spPr>
        </p:sp>
      </p:grpSp>
      <p:grpSp>
        <p:nvGrpSpPr>
          <p:cNvPr name="Group 15" id="15"/>
          <p:cNvGrpSpPr/>
          <p:nvPr/>
        </p:nvGrpSpPr>
        <p:grpSpPr>
          <a:xfrm rot="0">
            <a:off x="1188720" y="7918704"/>
            <a:ext cx="914400" cy="914400"/>
            <a:chOff x="0" y="0"/>
            <a:chExt cx="1219200" cy="1219200"/>
          </a:xfrm>
        </p:grpSpPr>
        <p:sp>
          <p:nvSpPr>
            <p:cNvPr name="Freeform 16" id="16"/>
            <p:cNvSpPr/>
            <p:nvPr/>
          </p:nvSpPr>
          <p:spPr>
            <a:xfrm flipH="false" flipV="false" rot="0">
              <a:off x="0" y="0"/>
              <a:ext cx="1219200" cy="1219200"/>
            </a:xfrm>
            <a:custGeom>
              <a:avLst/>
              <a:gdLst/>
              <a:ahLst/>
              <a:cxnLst/>
              <a:rect r="r" b="b" t="t" l="l"/>
              <a:pathLst>
                <a:path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0A1D42"/>
            </a:solidFill>
          </p:spPr>
        </p:sp>
      </p:grpSp>
      <p:grpSp>
        <p:nvGrpSpPr>
          <p:cNvPr name="Group 17" id="17"/>
          <p:cNvGrpSpPr/>
          <p:nvPr/>
        </p:nvGrpSpPr>
        <p:grpSpPr>
          <a:xfrm rot="0">
            <a:off x="1389888" y="8119872"/>
            <a:ext cx="512064" cy="512064"/>
            <a:chOff x="0" y="0"/>
            <a:chExt cx="682752" cy="682752"/>
          </a:xfrm>
        </p:grpSpPr>
        <p:sp>
          <p:nvSpPr>
            <p:cNvPr name="Freeform 18" id="18" descr="Icône Centraliser"/>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lnTo>
                    <a:pt x="0" y="0"/>
                  </a:lnTo>
                  <a:close/>
                </a:path>
              </a:pathLst>
            </a:custGeom>
            <a:blipFill>
              <a:blip r:embed="rId7"/>
              <a:stretch>
                <a:fillRect l="0" t="0" r="0" b="0"/>
              </a:stretch>
            </a:blipFill>
          </p:spPr>
        </p:sp>
      </p:grpSp>
      <p:grpSp>
        <p:nvGrpSpPr>
          <p:cNvPr name="Group 19" id="19"/>
          <p:cNvGrpSpPr/>
          <p:nvPr/>
        </p:nvGrpSpPr>
        <p:grpSpPr>
          <a:xfrm rot="0">
            <a:off x="2414016" y="7772400"/>
            <a:ext cx="3291840" cy="1243584"/>
            <a:chOff x="0" y="0"/>
            <a:chExt cx="4389120" cy="1658112"/>
          </a:xfrm>
        </p:grpSpPr>
        <p:sp>
          <p:nvSpPr>
            <p:cNvPr name="Freeform 20" id="20"/>
            <p:cNvSpPr/>
            <p:nvPr/>
          </p:nvSpPr>
          <p:spPr>
            <a:xfrm flipH="false" flipV="false" rot="0">
              <a:off x="0" y="0"/>
              <a:ext cx="4389120" cy="1658112"/>
            </a:xfrm>
            <a:custGeom>
              <a:avLst/>
              <a:gdLst/>
              <a:ahLst/>
              <a:cxnLst/>
              <a:rect r="r" b="b" t="t" l="l"/>
              <a:pathLst>
                <a:path h="1658112" w="4389120">
                  <a:moveTo>
                    <a:pt x="0" y="0"/>
                  </a:moveTo>
                  <a:lnTo>
                    <a:pt x="4389120" y="0"/>
                  </a:lnTo>
                  <a:lnTo>
                    <a:pt x="4389120" y="1658112"/>
                  </a:lnTo>
                  <a:lnTo>
                    <a:pt x="0" y="1658112"/>
                  </a:lnTo>
                  <a:close/>
                </a:path>
              </a:pathLst>
            </a:custGeom>
            <a:blipFill>
              <a:blip r:embed="rId4">
                <a:alphaModFix amt="0"/>
              </a:blip>
              <a:stretch>
                <a:fillRect l="0" t="-1578" r="0" b="-1578"/>
              </a:stretch>
            </a:blipFill>
          </p:spPr>
        </p:sp>
        <p:sp>
          <p:nvSpPr>
            <p:cNvPr name="TextBox 21" id="21"/>
            <p:cNvSpPr txBox="true"/>
            <p:nvPr/>
          </p:nvSpPr>
          <p:spPr>
            <a:xfrm>
              <a:off x="0" y="-66675"/>
              <a:ext cx="4389120" cy="1724787"/>
            </a:xfrm>
            <a:prstGeom prst="rect">
              <a:avLst/>
            </a:prstGeom>
          </p:spPr>
          <p:txBody>
            <a:bodyPr anchor="ctr" rtlCol="false" tIns="0" lIns="0" bIns="0" rIns="0"/>
            <a:lstStyle/>
            <a:p>
              <a:pPr algn="l">
                <a:lnSpc>
                  <a:spcPts val="3359"/>
                </a:lnSpc>
              </a:pPr>
              <a:r>
                <a:rPr lang="en-US" sz="2799" b="true">
                  <a:solidFill>
                    <a:srgbClr val="0A1D42"/>
                  </a:solidFill>
                  <a:latin typeface="Calibri (MS) Bold"/>
                  <a:ea typeface="Calibri (MS) Bold"/>
                  <a:cs typeface="Calibri (MS) Bold"/>
                  <a:sym typeface="Calibri (MS) Bold"/>
                </a:rPr>
                <a:t>Centraliser</a:t>
              </a:r>
            </a:p>
            <a:p>
              <a:pPr algn="l">
                <a:lnSpc>
                  <a:spcPts val="2879"/>
                </a:lnSpc>
              </a:pPr>
              <a:r>
                <a:rPr lang="en-US" sz="2400">
                  <a:solidFill>
                    <a:srgbClr val="5B6785"/>
                  </a:solidFill>
                  <a:latin typeface="Calibri (MS)"/>
                  <a:ea typeface="Calibri (MS)"/>
                  <a:cs typeface="Calibri (MS)"/>
                  <a:sym typeface="Calibri (MS)"/>
                </a:rPr>
                <a:t>Tout au même endroit</a:t>
              </a:r>
            </a:p>
          </p:txBody>
        </p:sp>
      </p:grpSp>
      <p:grpSp>
        <p:nvGrpSpPr>
          <p:cNvPr name="Group 22" id="22"/>
          <p:cNvGrpSpPr/>
          <p:nvPr/>
        </p:nvGrpSpPr>
        <p:grpSpPr>
          <a:xfrm rot="0">
            <a:off x="6583680" y="7772400"/>
            <a:ext cx="5120640" cy="1243584"/>
            <a:chOff x="0" y="0"/>
            <a:chExt cx="6827520" cy="1658112"/>
          </a:xfrm>
        </p:grpSpPr>
        <p:sp>
          <p:nvSpPr>
            <p:cNvPr name="Freeform 23" id="23"/>
            <p:cNvSpPr/>
            <p:nvPr/>
          </p:nvSpPr>
          <p:spPr>
            <a:xfrm flipH="false" flipV="false" rot="0">
              <a:off x="0" y="0"/>
              <a:ext cx="6827520" cy="1658239"/>
            </a:xfrm>
            <a:custGeom>
              <a:avLst/>
              <a:gdLst/>
              <a:ahLst/>
              <a:cxnLst/>
              <a:rect r="r" b="b" t="t" l="l"/>
              <a:pathLst>
                <a:path h="1658239" w="6827520">
                  <a:moveTo>
                    <a:pt x="0" y="199009"/>
                  </a:moveTo>
                  <a:cubicBezTo>
                    <a:pt x="0" y="89027"/>
                    <a:pt x="89027" y="0"/>
                    <a:pt x="199009" y="0"/>
                  </a:cubicBezTo>
                  <a:lnTo>
                    <a:pt x="6628511" y="0"/>
                  </a:lnTo>
                  <a:cubicBezTo>
                    <a:pt x="6738366" y="0"/>
                    <a:pt x="6827520" y="89027"/>
                    <a:pt x="6827520" y="199009"/>
                  </a:cubicBezTo>
                  <a:lnTo>
                    <a:pt x="6827520" y="1459230"/>
                  </a:lnTo>
                  <a:cubicBezTo>
                    <a:pt x="6827520" y="1569085"/>
                    <a:pt x="6738493" y="1658239"/>
                    <a:pt x="6628511" y="1658239"/>
                  </a:cubicBezTo>
                  <a:lnTo>
                    <a:pt x="199009" y="1658239"/>
                  </a:lnTo>
                  <a:cubicBezTo>
                    <a:pt x="89027" y="1658112"/>
                    <a:pt x="0" y="1569085"/>
                    <a:pt x="0" y="1459103"/>
                  </a:cubicBezTo>
                  <a:close/>
                </a:path>
              </a:pathLst>
            </a:custGeom>
            <a:solidFill>
              <a:srgbClr val="FFFFFF"/>
            </a:solidFill>
          </p:spPr>
        </p:sp>
      </p:grpSp>
      <p:grpSp>
        <p:nvGrpSpPr>
          <p:cNvPr name="Group 24" id="24"/>
          <p:cNvGrpSpPr/>
          <p:nvPr/>
        </p:nvGrpSpPr>
        <p:grpSpPr>
          <a:xfrm rot="0">
            <a:off x="6858000" y="7918704"/>
            <a:ext cx="914400" cy="914400"/>
            <a:chOff x="0" y="0"/>
            <a:chExt cx="1219200" cy="1219200"/>
          </a:xfrm>
        </p:grpSpPr>
        <p:sp>
          <p:nvSpPr>
            <p:cNvPr name="Freeform 25" id="25"/>
            <p:cNvSpPr/>
            <p:nvPr/>
          </p:nvSpPr>
          <p:spPr>
            <a:xfrm flipH="false" flipV="false" rot="0">
              <a:off x="0" y="0"/>
              <a:ext cx="1219200" cy="1219200"/>
            </a:xfrm>
            <a:custGeom>
              <a:avLst/>
              <a:gdLst/>
              <a:ahLst/>
              <a:cxnLst/>
              <a:rect r="r" b="b" t="t" l="l"/>
              <a:pathLst>
                <a:path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0A1D42"/>
            </a:solidFill>
          </p:spPr>
        </p:sp>
      </p:grpSp>
      <p:grpSp>
        <p:nvGrpSpPr>
          <p:cNvPr name="Group 26" id="26"/>
          <p:cNvGrpSpPr/>
          <p:nvPr/>
        </p:nvGrpSpPr>
        <p:grpSpPr>
          <a:xfrm rot="0">
            <a:off x="7059168" y="8119872"/>
            <a:ext cx="512064" cy="512064"/>
            <a:chOff x="0" y="0"/>
            <a:chExt cx="682752" cy="682752"/>
          </a:xfrm>
        </p:grpSpPr>
        <p:sp>
          <p:nvSpPr>
            <p:cNvPr name="Freeform 27" id="27" descr="Icône Relier"/>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lnTo>
                    <a:pt x="0" y="0"/>
                  </a:lnTo>
                  <a:close/>
                </a:path>
              </a:pathLst>
            </a:custGeom>
            <a:blipFill>
              <a:blip r:embed="rId8"/>
              <a:stretch>
                <a:fillRect l="0" t="0" r="0" b="0"/>
              </a:stretch>
            </a:blipFill>
          </p:spPr>
        </p:sp>
      </p:grpSp>
      <p:grpSp>
        <p:nvGrpSpPr>
          <p:cNvPr name="Group 28" id="28"/>
          <p:cNvGrpSpPr/>
          <p:nvPr/>
        </p:nvGrpSpPr>
        <p:grpSpPr>
          <a:xfrm rot="0">
            <a:off x="8083296" y="7772400"/>
            <a:ext cx="3291840" cy="1243584"/>
            <a:chOff x="0" y="0"/>
            <a:chExt cx="4389120" cy="1658112"/>
          </a:xfrm>
        </p:grpSpPr>
        <p:sp>
          <p:nvSpPr>
            <p:cNvPr name="Freeform 29" id="29"/>
            <p:cNvSpPr/>
            <p:nvPr/>
          </p:nvSpPr>
          <p:spPr>
            <a:xfrm flipH="false" flipV="false" rot="0">
              <a:off x="0" y="0"/>
              <a:ext cx="4389120" cy="1658112"/>
            </a:xfrm>
            <a:custGeom>
              <a:avLst/>
              <a:gdLst/>
              <a:ahLst/>
              <a:cxnLst/>
              <a:rect r="r" b="b" t="t" l="l"/>
              <a:pathLst>
                <a:path h="1658112" w="4389120">
                  <a:moveTo>
                    <a:pt x="0" y="0"/>
                  </a:moveTo>
                  <a:lnTo>
                    <a:pt x="4389120" y="0"/>
                  </a:lnTo>
                  <a:lnTo>
                    <a:pt x="4389120" y="1658112"/>
                  </a:lnTo>
                  <a:lnTo>
                    <a:pt x="0" y="1658112"/>
                  </a:lnTo>
                  <a:close/>
                </a:path>
              </a:pathLst>
            </a:custGeom>
            <a:blipFill>
              <a:blip r:embed="rId4">
                <a:alphaModFix amt="0"/>
              </a:blip>
              <a:stretch>
                <a:fillRect l="0" t="-1578" r="0" b="-1578"/>
              </a:stretch>
            </a:blipFill>
          </p:spPr>
        </p:sp>
        <p:sp>
          <p:nvSpPr>
            <p:cNvPr name="TextBox 30" id="30"/>
            <p:cNvSpPr txBox="true"/>
            <p:nvPr/>
          </p:nvSpPr>
          <p:spPr>
            <a:xfrm>
              <a:off x="0" y="-66675"/>
              <a:ext cx="4389120" cy="1724787"/>
            </a:xfrm>
            <a:prstGeom prst="rect">
              <a:avLst/>
            </a:prstGeom>
          </p:spPr>
          <p:txBody>
            <a:bodyPr anchor="ctr" rtlCol="false" tIns="0" lIns="0" bIns="0" rIns="0"/>
            <a:lstStyle/>
            <a:p>
              <a:pPr algn="l">
                <a:lnSpc>
                  <a:spcPts val="3359"/>
                </a:lnSpc>
              </a:pPr>
              <a:r>
                <a:rPr lang="en-US" sz="2799" b="true">
                  <a:solidFill>
                    <a:srgbClr val="0A1D42"/>
                  </a:solidFill>
                  <a:latin typeface="Calibri (MS) Bold"/>
                  <a:ea typeface="Calibri (MS) Bold"/>
                  <a:cs typeface="Calibri (MS) Bold"/>
                  <a:sym typeface="Calibri (MS) Bold"/>
                </a:rPr>
                <a:t>Relier</a:t>
              </a:r>
            </a:p>
            <a:p>
              <a:pPr algn="l">
                <a:lnSpc>
                  <a:spcPts val="2879"/>
                </a:lnSpc>
              </a:pPr>
              <a:r>
                <a:rPr lang="en-US" sz="2400">
                  <a:solidFill>
                    <a:srgbClr val="5B6785"/>
                  </a:solidFill>
                  <a:latin typeface="Calibri (MS)"/>
                  <a:ea typeface="Calibri (MS)"/>
                  <a:cs typeface="Calibri (MS)"/>
                  <a:sym typeface="Calibri (MS)"/>
                </a:rPr>
                <a:t>Site et admin connectés</a:t>
              </a:r>
            </a:p>
          </p:txBody>
        </p:sp>
      </p:grpSp>
      <p:grpSp>
        <p:nvGrpSpPr>
          <p:cNvPr name="Group 31" id="31"/>
          <p:cNvGrpSpPr/>
          <p:nvPr/>
        </p:nvGrpSpPr>
        <p:grpSpPr>
          <a:xfrm rot="0">
            <a:off x="12252960" y="7772400"/>
            <a:ext cx="5120640" cy="1243584"/>
            <a:chOff x="0" y="0"/>
            <a:chExt cx="6827520" cy="1658112"/>
          </a:xfrm>
        </p:grpSpPr>
        <p:sp>
          <p:nvSpPr>
            <p:cNvPr name="Freeform 32" id="32"/>
            <p:cNvSpPr/>
            <p:nvPr/>
          </p:nvSpPr>
          <p:spPr>
            <a:xfrm flipH="false" flipV="false" rot="0">
              <a:off x="0" y="0"/>
              <a:ext cx="6827520" cy="1658239"/>
            </a:xfrm>
            <a:custGeom>
              <a:avLst/>
              <a:gdLst/>
              <a:ahLst/>
              <a:cxnLst/>
              <a:rect r="r" b="b" t="t" l="l"/>
              <a:pathLst>
                <a:path h="1658239" w="6827520">
                  <a:moveTo>
                    <a:pt x="0" y="199009"/>
                  </a:moveTo>
                  <a:cubicBezTo>
                    <a:pt x="0" y="89027"/>
                    <a:pt x="89027" y="0"/>
                    <a:pt x="199009" y="0"/>
                  </a:cubicBezTo>
                  <a:lnTo>
                    <a:pt x="6628511" y="0"/>
                  </a:lnTo>
                  <a:cubicBezTo>
                    <a:pt x="6738366" y="0"/>
                    <a:pt x="6827520" y="89027"/>
                    <a:pt x="6827520" y="199009"/>
                  </a:cubicBezTo>
                  <a:lnTo>
                    <a:pt x="6827520" y="1459230"/>
                  </a:lnTo>
                  <a:cubicBezTo>
                    <a:pt x="6827520" y="1569085"/>
                    <a:pt x="6738493" y="1658239"/>
                    <a:pt x="6628511" y="1658239"/>
                  </a:cubicBezTo>
                  <a:lnTo>
                    <a:pt x="199009" y="1658239"/>
                  </a:lnTo>
                  <a:cubicBezTo>
                    <a:pt x="89027" y="1658112"/>
                    <a:pt x="0" y="1569085"/>
                    <a:pt x="0" y="1459103"/>
                  </a:cubicBezTo>
                  <a:close/>
                </a:path>
              </a:pathLst>
            </a:custGeom>
            <a:solidFill>
              <a:srgbClr val="FFFFFF"/>
            </a:solidFill>
          </p:spPr>
        </p:sp>
      </p:grpSp>
      <p:grpSp>
        <p:nvGrpSpPr>
          <p:cNvPr name="Group 33" id="33"/>
          <p:cNvGrpSpPr/>
          <p:nvPr/>
        </p:nvGrpSpPr>
        <p:grpSpPr>
          <a:xfrm rot="0">
            <a:off x="12527280" y="7918704"/>
            <a:ext cx="914400" cy="914400"/>
            <a:chOff x="0" y="0"/>
            <a:chExt cx="1219200" cy="1219200"/>
          </a:xfrm>
        </p:grpSpPr>
        <p:sp>
          <p:nvSpPr>
            <p:cNvPr name="Freeform 34" id="34"/>
            <p:cNvSpPr/>
            <p:nvPr/>
          </p:nvSpPr>
          <p:spPr>
            <a:xfrm flipH="false" flipV="false" rot="0">
              <a:off x="0" y="0"/>
              <a:ext cx="1219200" cy="1219200"/>
            </a:xfrm>
            <a:custGeom>
              <a:avLst/>
              <a:gdLst/>
              <a:ahLst/>
              <a:cxnLst/>
              <a:rect r="r" b="b" t="t" l="l"/>
              <a:pathLst>
                <a:path h="1219200" w="1219200">
                  <a:moveTo>
                    <a:pt x="0" y="609600"/>
                  </a:moveTo>
                  <a:cubicBezTo>
                    <a:pt x="0" y="272923"/>
                    <a:pt x="272923" y="0"/>
                    <a:pt x="609600" y="0"/>
                  </a:cubicBezTo>
                  <a:cubicBezTo>
                    <a:pt x="946277" y="0"/>
                    <a:pt x="1219200" y="272923"/>
                    <a:pt x="1219200" y="609600"/>
                  </a:cubicBezTo>
                  <a:cubicBezTo>
                    <a:pt x="1219200" y="946277"/>
                    <a:pt x="946277" y="1219200"/>
                    <a:pt x="609600" y="1219200"/>
                  </a:cubicBezTo>
                  <a:cubicBezTo>
                    <a:pt x="272923" y="1219200"/>
                    <a:pt x="0" y="946277"/>
                    <a:pt x="0" y="609600"/>
                  </a:cubicBezTo>
                  <a:close/>
                </a:path>
              </a:pathLst>
            </a:custGeom>
            <a:solidFill>
              <a:srgbClr val="0A1D42"/>
            </a:solidFill>
          </p:spPr>
        </p:sp>
      </p:grpSp>
      <p:grpSp>
        <p:nvGrpSpPr>
          <p:cNvPr name="Group 35" id="35"/>
          <p:cNvGrpSpPr/>
          <p:nvPr/>
        </p:nvGrpSpPr>
        <p:grpSpPr>
          <a:xfrm rot="0">
            <a:off x="12728448" y="8119872"/>
            <a:ext cx="512064" cy="512064"/>
            <a:chOff x="0" y="0"/>
            <a:chExt cx="682752" cy="682752"/>
          </a:xfrm>
        </p:grpSpPr>
        <p:sp>
          <p:nvSpPr>
            <p:cNvPr name="Freeform 36" id="36" descr="Icône Sécuriser"/>
            <p:cNvSpPr/>
            <p:nvPr/>
          </p:nvSpPr>
          <p:spPr>
            <a:xfrm flipH="false" flipV="false" rot="0">
              <a:off x="0" y="0"/>
              <a:ext cx="682752" cy="682752"/>
            </a:xfrm>
            <a:custGeom>
              <a:avLst/>
              <a:gdLst/>
              <a:ahLst/>
              <a:cxnLst/>
              <a:rect r="r" b="b" t="t" l="l"/>
              <a:pathLst>
                <a:path h="682752" w="682752">
                  <a:moveTo>
                    <a:pt x="0" y="0"/>
                  </a:moveTo>
                  <a:lnTo>
                    <a:pt x="682752" y="0"/>
                  </a:lnTo>
                  <a:lnTo>
                    <a:pt x="682752" y="682752"/>
                  </a:lnTo>
                  <a:lnTo>
                    <a:pt x="0" y="682752"/>
                  </a:lnTo>
                  <a:lnTo>
                    <a:pt x="0" y="0"/>
                  </a:lnTo>
                  <a:close/>
                </a:path>
              </a:pathLst>
            </a:custGeom>
            <a:blipFill>
              <a:blip r:embed="rId9"/>
              <a:stretch>
                <a:fillRect l="0" t="0" r="0" b="0"/>
              </a:stretch>
            </a:blipFill>
          </p:spPr>
        </p:sp>
      </p:grpSp>
      <p:grpSp>
        <p:nvGrpSpPr>
          <p:cNvPr name="Group 37" id="37"/>
          <p:cNvGrpSpPr/>
          <p:nvPr/>
        </p:nvGrpSpPr>
        <p:grpSpPr>
          <a:xfrm rot="0">
            <a:off x="13752576" y="7772400"/>
            <a:ext cx="3291840" cy="1243584"/>
            <a:chOff x="0" y="0"/>
            <a:chExt cx="4389120" cy="1658112"/>
          </a:xfrm>
        </p:grpSpPr>
        <p:sp>
          <p:nvSpPr>
            <p:cNvPr name="Freeform 38" id="38"/>
            <p:cNvSpPr/>
            <p:nvPr/>
          </p:nvSpPr>
          <p:spPr>
            <a:xfrm flipH="false" flipV="false" rot="0">
              <a:off x="0" y="0"/>
              <a:ext cx="4389120" cy="1658112"/>
            </a:xfrm>
            <a:custGeom>
              <a:avLst/>
              <a:gdLst/>
              <a:ahLst/>
              <a:cxnLst/>
              <a:rect r="r" b="b" t="t" l="l"/>
              <a:pathLst>
                <a:path h="1658112" w="4389120">
                  <a:moveTo>
                    <a:pt x="0" y="0"/>
                  </a:moveTo>
                  <a:lnTo>
                    <a:pt x="4389120" y="0"/>
                  </a:lnTo>
                  <a:lnTo>
                    <a:pt x="4389120" y="1658112"/>
                  </a:lnTo>
                  <a:lnTo>
                    <a:pt x="0" y="1658112"/>
                  </a:lnTo>
                  <a:close/>
                </a:path>
              </a:pathLst>
            </a:custGeom>
            <a:blipFill>
              <a:blip r:embed="rId4">
                <a:alphaModFix amt="0"/>
              </a:blip>
              <a:stretch>
                <a:fillRect l="0" t="-1578" r="0" b="-1578"/>
              </a:stretch>
            </a:blipFill>
          </p:spPr>
        </p:sp>
        <p:sp>
          <p:nvSpPr>
            <p:cNvPr name="TextBox 39" id="39"/>
            <p:cNvSpPr txBox="true"/>
            <p:nvPr/>
          </p:nvSpPr>
          <p:spPr>
            <a:xfrm>
              <a:off x="0" y="-66675"/>
              <a:ext cx="4389120" cy="1724787"/>
            </a:xfrm>
            <a:prstGeom prst="rect">
              <a:avLst/>
            </a:prstGeom>
          </p:spPr>
          <p:txBody>
            <a:bodyPr anchor="ctr" rtlCol="false" tIns="0" lIns="0" bIns="0" rIns="0"/>
            <a:lstStyle/>
            <a:p>
              <a:pPr algn="l">
                <a:lnSpc>
                  <a:spcPts val="3359"/>
                </a:lnSpc>
              </a:pPr>
              <a:r>
                <a:rPr lang="en-US" sz="2799" b="true">
                  <a:solidFill>
                    <a:srgbClr val="0A1D42"/>
                  </a:solidFill>
                  <a:latin typeface="Calibri (MS) Bold"/>
                  <a:ea typeface="Calibri (MS) Bold"/>
                  <a:cs typeface="Calibri (MS) Bold"/>
                  <a:sym typeface="Calibri (MS) Bold"/>
                </a:rPr>
                <a:t>Sécuriser</a:t>
              </a:r>
            </a:p>
            <a:p>
              <a:pPr algn="l">
                <a:lnSpc>
                  <a:spcPts val="2879"/>
                </a:lnSpc>
              </a:pPr>
              <a:r>
                <a:rPr lang="en-US" sz="2400">
                  <a:solidFill>
                    <a:srgbClr val="5B6785"/>
                  </a:solidFill>
                  <a:latin typeface="Calibri (MS)"/>
                  <a:ea typeface="Calibri (MS)"/>
                  <a:cs typeface="Calibri (MS)"/>
                  <a:sym typeface="Calibri (MS)"/>
                </a:rPr>
                <a:t>Accès contrôlés</a:t>
              </a:r>
            </a:p>
          </p:txBody>
        </p:sp>
      </p:grpSp>
      <p:sp>
        <p:nvSpPr>
          <p:cNvPr name="TextBox 40" id="40"/>
          <p:cNvSpPr txBox="true"/>
          <p:nvPr/>
        </p:nvSpPr>
        <p:spPr>
          <a:xfrm rot="0">
            <a:off x="15819120" y="9608820"/>
            <a:ext cx="731520" cy="403860"/>
          </a:xfrm>
          <a:prstGeom prst="rect">
            <a:avLst/>
          </a:prstGeom>
        </p:spPr>
        <p:txBody>
          <a:bodyPr anchor="t" rtlCol="false" tIns="0" lIns="0" bIns="0" rIns="0">
            <a:spAutoFit/>
          </a:bodyPr>
          <a:lstStyle/>
          <a:p>
            <a:pPr algn="r">
              <a:lnSpc>
                <a:spcPts val="2400"/>
              </a:lnSpc>
            </a:pPr>
            <a:r>
              <a:rPr lang="en-US" sz="2000">
                <a:solidFill>
                  <a:srgbClr val="5B6785"/>
                </a:solidFill>
                <a:latin typeface="Calibri (MS)"/>
                <a:ea typeface="Calibri (MS)"/>
                <a:cs typeface="Calibri (MS)"/>
                <a:sym typeface="Calibri (MS)"/>
              </a:rPr>
              <a:t>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7145000" y="0"/>
            <a:ext cx="1143000" cy="1751990"/>
            <a:chOff x="0" y="0"/>
            <a:chExt cx="1524000" cy="2335987"/>
          </a:xfrm>
        </p:grpSpPr>
        <p:sp>
          <p:nvSpPr>
            <p:cNvPr name="Freeform 3" id="3" descr="assets/blob_tr.png"/>
            <p:cNvSpPr/>
            <p:nvPr/>
          </p:nvSpPr>
          <p:spPr>
            <a:xfrm flipH="false" flipV="false" rot="0">
              <a:off x="0" y="0"/>
              <a:ext cx="1524000" cy="2336038"/>
            </a:xfrm>
            <a:custGeom>
              <a:avLst/>
              <a:gdLst/>
              <a:ahLst/>
              <a:cxnLst/>
              <a:rect r="r" b="b" t="t" l="l"/>
              <a:pathLst>
                <a:path h="2336038" w="1524000">
                  <a:moveTo>
                    <a:pt x="0" y="0"/>
                  </a:moveTo>
                  <a:lnTo>
                    <a:pt x="1524000" y="0"/>
                  </a:lnTo>
                  <a:lnTo>
                    <a:pt x="1524000" y="2336038"/>
                  </a:lnTo>
                  <a:lnTo>
                    <a:pt x="0" y="2336038"/>
                  </a:lnTo>
                  <a:lnTo>
                    <a:pt x="0" y="0"/>
                  </a:lnTo>
                  <a:close/>
                </a:path>
              </a:pathLst>
            </a:custGeom>
            <a:blipFill>
              <a:blip r:embed="rId3"/>
              <a:stretch>
                <a:fillRect l="-25" t="0" r="-26" b="2"/>
              </a:stretch>
            </a:blipFill>
          </p:spPr>
        </p:sp>
      </p:grpSp>
      <p:grpSp>
        <p:nvGrpSpPr>
          <p:cNvPr name="Group 4" id="4"/>
          <p:cNvGrpSpPr/>
          <p:nvPr/>
        </p:nvGrpSpPr>
        <p:grpSpPr>
          <a:xfrm rot="0">
            <a:off x="914400" y="1097280"/>
            <a:ext cx="14996160" cy="1133856"/>
            <a:chOff x="0" y="0"/>
            <a:chExt cx="19994880" cy="1511808"/>
          </a:xfrm>
        </p:grpSpPr>
        <p:sp>
          <p:nvSpPr>
            <p:cNvPr name="Freeform 5" id="5"/>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4">
                <a:alphaModFix amt="0"/>
              </a:blip>
              <a:stretch>
                <a:fillRect l="0" t="-207705" r="0" b="-207705"/>
              </a:stretch>
            </a:blipFill>
          </p:spPr>
        </p:sp>
        <p:sp>
          <p:nvSpPr>
            <p:cNvPr name="TextBox 6" id="6"/>
            <p:cNvSpPr txBox="true"/>
            <p:nvPr/>
          </p:nvSpPr>
          <p:spPr>
            <a:xfrm>
              <a:off x="0" y="-19050"/>
              <a:ext cx="19994880"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DÉMARCHE &amp; OUTILS</a:t>
              </a:r>
            </a:p>
          </p:txBody>
        </p:sp>
      </p:grpSp>
      <p:grpSp>
        <p:nvGrpSpPr>
          <p:cNvPr name="Group 7" id="7"/>
          <p:cNvGrpSpPr/>
          <p:nvPr/>
        </p:nvGrpSpPr>
        <p:grpSpPr>
          <a:xfrm rot="0">
            <a:off x="914400" y="2432304"/>
            <a:ext cx="841248" cy="841248"/>
            <a:chOff x="0" y="0"/>
            <a:chExt cx="1121664" cy="1121664"/>
          </a:xfrm>
        </p:grpSpPr>
        <p:sp>
          <p:nvSpPr>
            <p:cNvPr name="Freeform 8" id="8"/>
            <p:cNvSpPr/>
            <p:nvPr/>
          </p:nvSpPr>
          <p:spPr>
            <a:xfrm flipH="false" flipV="false" rot="0">
              <a:off x="0" y="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0A1D42"/>
            </a:solidFill>
          </p:spPr>
        </p:sp>
        <p:sp>
          <p:nvSpPr>
            <p:cNvPr name="TextBox 9" id="9"/>
            <p:cNvSpPr txBox="true"/>
            <p:nvPr/>
          </p:nvSpPr>
          <p:spPr>
            <a:xfrm>
              <a:off x="0" y="-66675"/>
              <a:ext cx="1121664" cy="1188339"/>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1</a:t>
              </a:r>
            </a:p>
          </p:txBody>
        </p:sp>
      </p:grpSp>
      <p:grpSp>
        <p:nvGrpSpPr>
          <p:cNvPr name="Group 10" id="10"/>
          <p:cNvGrpSpPr/>
          <p:nvPr/>
        </p:nvGrpSpPr>
        <p:grpSpPr>
          <a:xfrm rot="0">
            <a:off x="1975104" y="2340864"/>
            <a:ext cx="2834640" cy="1024128"/>
            <a:chOff x="0" y="0"/>
            <a:chExt cx="3779520" cy="1365504"/>
          </a:xfrm>
        </p:grpSpPr>
        <p:sp>
          <p:nvSpPr>
            <p:cNvPr name="Freeform 11" id="11"/>
            <p:cNvSpPr/>
            <p:nvPr/>
          </p:nvSpPr>
          <p:spPr>
            <a:xfrm flipH="false" flipV="false" rot="0">
              <a:off x="0" y="0"/>
              <a:ext cx="3779520" cy="1365504"/>
            </a:xfrm>
            <a:custGeom>
              <a:avLst/>
              <a:gdLst/>
              <a:ahLst/>
              <a:cxnLst/>
              <a:rect r="r" b="b" t="t" l="l"/>
              <a:pathLst>
                <a:path h="1365504" w="3779520">
                  <a:moveTo>
                    <a:pt x="0" y="0"/>
                  </a:moveTo>
                  <a:lnTo>
                    <a:pt x="3779520" y="0"/>
                  </a:lnTo>
                  <a:lnTo>
                    <a:pt x="3779520" y="1365504"/>
                  </a:lnTo>
                  <a:lnTo>
                    <a:pt x="0" y="1365504"/>
                  </a:lnTo>
                  <a:close/>
                </a:path>
              </a:pathLst>
            </a:custGeom>
            <a:blipFill>
              <a:blip r:embed="rId4">
                <a:alphaModFix amt="0"/>
              </a:blip>
              <a:stretch>
                <a:fillRect l="0" t="-3931" r="0" b="-3931"/>
              </a:stretch>
            </a:blipFill>
          </p:spPr>
        </p:sp>
        <p:sp>
          <p:nvSpPr>
            <p:cNvPr name="TextBox 12" id="12"/>
            <p:cNvSpPr txBox="true"/>
            <p:nvPr/>
          </p:nvSpPr>
          <p:spPr>
            <a:xfrm>
              <a:off x="0" y="-57150"/>
              <a:ext cx="3779520" cy="1422654"/>
            </a:xfrm>
            <a:prstGeom prst="rect">
              <a:avLst/>
            </a:prstGeom>
          </p:spPr>
          <p:txBody>
            <a:bodyPr anchor="ctr" rtlCol="false" tIns="0" lIns="0" bIns="0" rIns="0"/>
            <a:lstStyle/>
            <a:p>
              <a:pPr algn="l">
                <a:lnSpc>
                  <a:spcPts val="3120"/>
                </a:lnSpc>
              </a:pPr>
              <a:r>
                <a:rPr lang="en-US" sz="2600" b="true">
                  <a:solidFill>
                    <a:srgbClr val="0A1D42"/>
                  </a:solidFill>
                  <a:latin typeface="Calibri (MS) Bold"/>
                  <a:ea typeface="Calibri (MS) Bold"/>
                  <a:cs typeface="Calibri (MS) Bold"/>
                  <a:sym typeface="Calibri (MS) Bold"/>
                </a:rPr>
                <a:t>Comprendre le besoin</a:t>
              </a:r>
            </a:p>
          </p:txBody>
        </p:sp>
      </p:grpSp>
      <p:grpSp>
        <p:nvGrpSpPr>
          <p:cNvPr name="Group 13" id="13"/>
          <p:cNvGrpSpPr/>
          <p:nvPr/>
        </p:nvGrpSpPr>
        <p:grpSpPr>
          <a:xfrm rot="0">
            <a:off x="5029200" y="2432304"/>
            <a:ext cx="841248" cy="841248"/>
            <a:chOff x="0" y="0"/>
            <a:chExt cx="1121664" cy="1121664"/>
          </a:xfrm>
        </p:grpSpPr>
        <p:sp>
          <p:nvSpPr>
            <p:cNvPr name="Freeform 14" id="14"/>
            <p:cNvSpPr/>
            <p:nvPr/>
          </p:nvSpPr>
          <p:spPr>
            <a:xfrm flipH="false" flipV="false" rot="0">
              <a:off x="0" y="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0A1D42"/>
            </a:solidFill>
          </p:spPr>
        </p:sp>
        <p:sp>
          <p:nvSpPr>
            <p:cNvPr name="TextBox 15" id="15"/>
            <p:cNvSpPr txBox="true"/>
            <p:nvPr/>
          </p:nvSpPr>
          <p:spPr>
            <a:xfrm>
              <a:off x="0" y="-66675"/>
              <a:ext cx="1121664" cy="1188339"/>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2</a:t>
              </a:r>
            </a:p>
          </p:txBody>
        </p:sp>
      </p:grpSp>
      <p:grpSp>
        <p:nvGrpSpPr>
          <p:cNvPr name="Group 16" id="16"/>
          <p:cNvGrpSpPr/>
          <p:nvPr/>
        </p:nvGrpSpPr>
        <p:grpSpPr>
          <a:xfrm rot="0">
            <a:off x="6089904" y="2340864"/>
            <a:ext cx="2834640" cy="1024128"/>
            <a:chOff x="0" y="0"/>
            <a:chExt cx="3779520" cy="1365504"/>
          </a:xfrm>
        </p:grpSpPr>
        <p:sp>
          <p:nvSpPr>
            <p:cNvPr name="Freeform 17" id="17"/>
            <p:cNvSpPr/>
            <p:nvPr/>
          </p:nvSpPr>
          <p:spPr>
            <a:xfrm flipH="false" flipV="false" rot="0">
              <a:off x="0" y="0"/>
              <a:ext cx="3779520" cy="1365504"/>
            </a:xfrm>
            <a:custGeom>
              <a:avLst/>
              <a:gdLst/>
              <a:ahLst/>
              <a:cxnLst/>
              <a:rect r="r" b="b" t="t" l="l"/>
              <a:pathLst>
                <a:path h="1365504" w="3779520">
                  <a:moveTo>
                    <a:pt x="0" y="0"/>
                  </a:moveTo>
                  <a:lnTo>
                    <a:pt x="3779520" y="0"/>
                  </a:lnTo>
                  <a:lnTo>
                    <a:pt x="3779520" y="1365504"/>
                  </a:lnTo>
                  <a:lnTo>
                    <a:pt x="0" y="1365504"/>
                  </a:lnTo>
                  <a:close/>
                </a:path>
              </a:pathLst>
            </a:custGeom>
            <a:blipFill>
              <a:blip r:embed="rId4">
                <a:alphaModFix amt="0"/>
              </a:blip>
              <a:stretch>
                <a:fillRect l="0" t="-3931" r="0" b="-3931"/>
              </a:stretch>
            </a:blipFill>
          </p:spPr>
        </p:sp>
        <p:sp>
          <p:nvSpPr>
            <p:cNvPr name="TextBox 18" id="18"/>
            <p:cNvSpPr txBox="true"/>
            <p:nvPr/>
          </p:nvSpPr>
          <p:spPr>
            <a:xfrm>
              <a:off x="0" y="-57150"/>
              <a:ext cx="3779520" cy="1422654"/>
            </a:xfrm>
            <a:prstGeom prst="rect">
              <a:avLst/>
            </a:prstGeom>
          </p:spPr>
          <p:txBody>
            <a:bodyPr anchor="ctr" rtlCol="false" tIns="0" lIns="0" bIns="0" rIns="0"/>
            <a:lstStyle/>
            <a:p>
              <a:pPr algn="l">
                <a:lnSpc>
                  <a:spcPts val="3120"/>
                </a:lnSpc>
              </a:pPr>
              <a:r>
                <a:rPr lang="en-US" sz="2600" b="true">
                  <a:solidFill>
                    <a:srgbClr val="0A1D42"/>
                  </a:solidFill>
                  <a:latin typeface="Calibri (MS) Bold"/>
                  <a:ea typeface="Calibri (MS) Bold"/>
                  <a:cs typeface="Calibri (MS) Bold"/>
                  <a:sym typeface="Calibri (MS) Bold"/>
                </a:rPr>
                <a:t>Développer un cycle</a:t>
              </a:r>
            </a:p>
          </p:txBody>
        </p:sp>
      </p:grpSp>
      <p:grpSp>
        <p:nvGrpSpPr>
          <p:cNvPr name="Group 19" id="19"/>
          <p:cNvGrpSpPr/>
          <p:nvPr/>
        </p:nvGrpSpPr>
        <p:grpSpPr>
          <a:xfrm rot="0">
            <a:off x="9144000" y="2432304"/>
            <a:ext cx="841248" cy="841248"/>
            <a:chOff x="0" y="0"/>
            <a:chExt cx="1121664" cy="1121664"/>
          </a:xfrm>
        </p:grpSpPr>
        <p:sp>
          <p:nvSpPr>
            <p:cNvPr name="Freeform 20" id="20"/>
            <p:cNvSpPr/>
            <p:nvPr/>
          </p:nvSpPr>
          <p:spPr>
            <a:xfrm flipH="false" flipV="false" rot="0">
              <a:off x="0" y="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0A1D42"/>
            </a:solidFill>
          </p:spPr>
        </p:sp>
        <p:sp>
          <p:nvSpPr>
            <p:cNvPr name="TextBox 21" id="21"/>
            <p:cNvSpPr txBox="true"/>
            <p:nvPr/>
          </p:nvSpPr>
          <p:spPr>
            <a:xfrm>
              <a:off x="0" y="-66675"/>
              <a:ext cx="1121664" cy="1188339"/>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3</a:t>
              </a:r>
            </a:p>
          </p:txBody>
        </p:sp>
      </p:grpSp>
      <p:grpSp>
        <p:nvGrpSpPr>
          <p:cNvPr name="Group 22" id="22"/>
          <p:cNvGrpSpPr/>
          <p:nvPr/>
        </p:nvGrpSpPr>
        <p:grpSpPr>
          <a:xfrm rot="0">
            <a:off x="10204704" y="2340864"/>
            <a:ext cx="2834640" cy="1024128"/>
            <a:chOff x="0" y="0"/>
            <a:chExt cx="3779520" cy="1365504"/>
          </a:xfrm>
        </p:grpSpPr>
        <p:sp>
          <p:nvSpPr>
            <p:cNvPr name="Freeform 23" id="23"/>
            <p:cNvSpPr/>
            <p:nvPr/>
          </p:nvSpPr>
          <p:spPr>
            <a:xfrm flipH="false" flipV="false" rot="0">
              <a:off x="0" y="0"/>
              <a:ext cx="3779520" cy="1365504"/>
            </a:xfrm>
            <a:custGeom>
              <a:avLst/>
              <a:gdLst/>
              <a:ahLst/>
              <a:cxnLst/>
              <a:rect r="r" b="b" t="t" l="l"/>
              <a:pathLst>
                <a:path h="1365504" w="3779520">
                  <a:moveTo>
                    <a:pt x="0" y="0"/>
                  </a:moveTo>
                  <a:lnTo>
                    <a:pt x="3779520" y="0"/>
                  </a:lnTo>
                  <a:lnTo>
                    <a:pt x="3779520" y="1365504"/>
                  </a:lnTo>
                  <a:lnTo>
                    <a:pt x="0" y="1365504"/>
                  </a:lnTo>
                  <a:close/>
                </a:path>
              </a:pathLst>
            </a:custGeom>
            <a:blipFill>
              <a:blip r:embed="rId4">
                <a:alphaModFix amt="0"/>
              </a:blip>
              <a:stretch>
                <a:fillRect l="0" t="-3931" r="0" b="-3931"/>
              </a:stretch>
            </a:blipFill>
          </p:spPr>
        </p:sp>
        <p:sp>
          <p:nvSpPr>
            <p:cNvPr name="TextBox 24" id="24"/>
            <p:cNvSpPr txBox="true"/>
            <p:nvPr/>
          </p:nvSpPr>
          <p:spPr>
            <a:xfrm>
              <a:off x="0" y="-57150"/>
              <a:ext cx="3779520" cy="1422654"/>
            </a:xfrm>
            <a:prstGeom prst="rect">
              <a:avLst/>
            </a:prstGeom>
          </p:spPr>
          <p:txBody>
            <a:bodyPr anchor="ctr" rtlCol="false" tIns="0" lIns="0" bIns="0" rIns="0"/>
            <a:lstStyle/>
            <a:p>
              <a:pPr algn="l">
                <a:lnSpc>
                  <a:spcPts val="3120"/>
                </a:lnSpc>
              </a:pPr>
              <a:r>
                <a:rPr lang="en-US" sz="2600" b="true">
                  <a:solidFill>
                    <a:srgbClr val="0A1D42"/>
                  </a:solidFill>
                  <a:latin typeface="Calibri (MS) Bold"/>
                  <a:ea typeface="Calibri (MS) Bold"/>
                  <a:cs typeface="Calibri (MS) Bold"/>
                  <a:sym typeface="Calibri (MS) Bold"/>
                </a:rPr>
                <a:t>Montrer à l'encadreur</a:t>
              </a:r>
            </a:p>
          </p:txBody>
        </p:sp>
      </p:grpSp>
      <p:grpSp>
        <p:nvGrpSpPr>
          <p:cNvPr name="Group 25" id="25"/>
          <p:cNvGrpSpPr/>
          <p:nvPr/>
        </p:nvGrpSpPr>
        <p:grpSpPr>
          <a:xfrm rot="0">
            <a:off x="13258800" y="2432304"/>
            <a:ext cx="841248" cy="841248"/>
            <a:chOff x="0" y="0"/>
            <a:chExt cx="1121664" cy="1121664"/>
          </a:xfrm>
        </p:grpSpPr>
        <p:sp>
          <p:nvSpPr>
            <p:cNvPr name="Freeform 26" id="26"/>
            <p:cNvSpPr/>
            <p:nvPr/>
          </p:nvSpPr>
          <p:spPr>
            <a:xfrm flipH="false" flipV="false" rot="0">
              <a:off x="0" y="0"/>
              <a:ext cx="1121664" cy="1121664"/>
            </a:xfrm>
            <a:custGeom>
              <a:avLst/>
              <a:gdLst/>
              <a:ahLst/>
              <a:cxnLst/>
              <a:rect r="r" b="b" t="t" l="l"/>
              <a:pathLst>
                <a:path h="1121664" w="1121664">
                  <a:moveTo>
                    <a:pt x="0" y="560832"/>
                  </a:moveTo>
                  <a:cubicBezTo>
                    <a:pt x="0" y="251079"/>
                    <a:pt x="251079" y="0"/>
                    <a:pt x="560832" y="0"/>
                  </a:cubicBezTo>
                  <a:cubicBezTo>
                    <a:pt x="870585" y="0"/>
                    <a:pt x="1121664" y="251079"/>
                    <a:pt x="1121664" y="560832"/>
                  </a:cubicBezTo>
                  <a:cubicBezTo>
                    <a:pt x="1121664" y="870585"/>
                    <a:pt x="870585" y="1121664"/>
                    <a:pt x="560832" y="1121664"/>
                  </a:cubicBezTo>
                  <a:cubicBezTo>
                    <a:pt x="251079" y="1121664"/>
                    <a:pt x="0" y="870585"/>
                    <a:pt x="0" y="560832"/>
                  </a:cubicBezTo>
                  <a:close/>
                </a:path>
              </a:pathLst>
            </a:custGeom>
            <a:solidFill>
              <a:srgbClr val="0A1D42"/>
            </a:solidFill>
          </p:spPr>
        </p:sp>
        <p:sp>
          <p:nvSpPr>
            <p:cNvPr name="TextBox 27" id="27"/>
            <p:cNvSpPr txBox="true"/>
            <p:nvPr/>
          </p:nvSpPr>
          <p:spPr>
            <a:xfrm>
              <a:off x="0" y="-66675"/>
              <a:ext cx="1121664" cy="1188339"/>
            </a:xfrm>
            <a:prstGeom prst="rect">
              <a:avLst/>
            </a:prstGeom>
          </p:spPr>
          <p:txBody>
            <a:bodyPr anchor="ctr" rtlCol="false" tIns="50800" lIns="50800" bIns="50800" rIns="50800"/>
            <a:lstStyle/>
            <a:p>
              <a:pPr algn="ctr">
                <a:lnSpc>
                  <a:spcPts val="3600"/>
                </a:lnSpc>
              </a:pPr>
              <a:r>
                <a:rPr lang="en-US" sz="3000" b="true">
                  <a:solidFill>
                    <a:srgbClr val="FFFFFF"/>
                  </a:solidFill>
                  <a:latin typeface="Calibri (MS) Bold"/>
                  <a:ea typeface="Calibri (MS) Bold"/>
                  <a:cs typeface="Calibri (MS) Bold"/>
                  <a:sym typeface="Calibri (MS) Bold"/>
                </a:rPr>
                <a:t>4</a:t>
              </a:r>
            </a:p>
          </p:txBody>
        </p:sp>
      </p:grpSp>
      <p:grpSp>
        <p:nvGrpSpPr>
          <p:cNvPr name="Group 28" id="28"/>
          <p:cNvGrpSpPr/>
          <p:nvPr/>
        </p:nvGrpSpPr>
        <p:grpSpPr>
          <a:xfrm rot="0">
            <a:off x="14319504" y="2340864"/>
            <a:ext cx="2834640" cy="1024128"/>
            <a:chOff x="0" y="0"/>
            <a:chExt cx="3779520" cy="1365504"/>
          </a:xfrm>
        </p:grpSpPr>
        <p:sp>
          <p:nvSpPr>
            <p:cNvPr name="Freeform 29" id="29"/>
            <p:cNvSpPr/>
            <p:nvPr/>
          </p:nvSpPr>
          <p:spPr>
            <a:xfrm flipH="false" flipV="false" rot="0">
              <a:off x="0" y="0"/>
              <a:ext cx="3779520" cy="1365504"/>
            </a:xfrm>
            <a:custGeom>
              <a:avLst/>
              <a:gdLst/>
              <a:ahLst/>
              <a:cxnLst/>
              <a:rect r="r" b="b" t="t" l="l"/>
              <a:pathLst>
                <a:path h="1365504" w="3779520">
                  <a:moveTo>
                    <a:pt x="0" y="0"/>
                  </a:moveTo>
                  <a:lnTo>
                    <a:pt x="3779520" y="0"/>
                  </a:lnTo>
                  <a:lnTo>
                    <a:pt x="3779520" y="1365504"/>
                  </a:lnTo>
                  <a:lnTo>
                    <a:pt x="0" y="1365504"/>
                  </a:lnTo>
                  <a:close/>
                </a:path>
              </a:pathLst>
            </a:custGeom>
            <a:blipFill>
              <a:blip r:embed="rId4">
                <a:alphaModFix amt="0"/>
              </a:blip>
              <a:stretch>
                <a:fillRect l="0" t="-3931" r="0" b="-3931"/>
              </a:stretch>
            </a:blipFill>
          </p:spPr>
        </p:sp>
        <p:sp>
          <p:nvSpPr>
            <p:cNvPr name="TextBox 30" id="30"/>
            <p:cNvSpPr txBox="true"/>
            <p:nvPr/>
          </p:nvSpPr>
          <p:spPr>
            <a:xfrm>
              <a:off x="0" y="-57150"/>
              <a:ext cx="3779520" cy="1422654"/>
            </a:xfrm>
            <a:prstGeom prst="rect">
              <a:avLst/>
            </a:prstGeom>
          </p:spPr>
          <p:txBody>
            <a:bodyPr anchor="ctr" rtlCol="false" tIns="0" lIns="0" bIns="0" rIns="0"/>
            <a:lstStyle/>
            <a:p>
              <a:pPr algn="l">
                <a:lnSpc>
                  <a:spcPts val="3120"/>
                </a:lnSpc>
              </a:pPr>
              <a:r>
                <a:rPr lang="en-US" sz="2600" b="true">
                  <a:solidFill>
                    <a:srgbClr val="0A1D42"/>
                  </a:solidFill>
                  <a:latin typeface="Calibri (MS) Bold"/>
                  <a:ea typeface="Calibri (MS) Bold"/>
                  <a:cs typeface="Calibri (MS) Bold"/>
                  <a:sym typeface="Calibri (MS) Bold"/>
                </a:rPr>
                <a:t>Corriger et valider</a:t>
              </a:r>
            </a:p>
          </p:txBody>
        </p:sp>
      </p:grpSp>
      <p:grpSp>
        <p:nvGrpSpPr>
          <p:cNvPr name="Group 31" id="31"/>
          <p:cNvGrpSpPr/>
          <p:nvPr/>
        </p:nvGrpSpPr>
        <p:grpSpPr>
          <a:xfrm rot="0">
            <a:off x="914400" y="3840480"/>
            <a:ext cx="8595360" cy="768096"/>
            <a:chOff x="0" y="0"/>
            <a:chExt cx="11460480" cy="1024128"/>
          </a:xfrm>
        </p:grpSpPr>
        <p:sp>
          <p:nvSpPr>
            <p:cNvPr name="Freeform 32" id="32"/>
            <p:cNvSpPr/>
            <p:nvPr/>
          </p:nvSpPr>
          <p:spPr>
            <a:xfrm flipH="false" flipV="false" rot="0">
              <a:off x="0" y="0"/>
              <a:ext cx="11460480" cy="1024128"/>
            </a:xfrm>
            <a:custGeom>
              <a:avLst/>
              <a:gdLst/>
              <a:ahLst/>
              <a:cxnLst/>
              <a:rect r="r" b="b" t="t" l="l"/>
              <a:pathLst>
                <a:path h="1024128" w="11460480">
                  <a:moveTo>
                    <a:pt x="0" y="512064"/>
                  </a:moveTo>
                  <a:cubicBezTo>
                    <a:pt x="0" y="229235"/>
                    <a:pt x="229235" y="0"/>
                    <a:pt x="512064" y="0"/>
                  </a:cubicBezTo>
                  <a:lnTo>
                    <a:pt x="10948416" y="0"/>
                  </a:lnTo>
                  <a:cubicBezTo>
                    <a:pt x="11231245" y="0"/>
                    <a:pt x="11460480" y="229235"/>
                    <a:pt x="11460480" y="512064"/>
                  </a:cubicBezTo>
                  <a:cubicBezTo>
                    <a:pt x="11460480" y="794893"/>
                    <a:pt x="11231245" y="1024128"/>
                    <a:pt x="10948416" y="1024128"/>
                  </a:cubicBezTo>
                  <a:lnTo>
                    <a:pt x="512064" y="1024128"/>
                  </a:lnTo>
                  <a:cubicBezTo>
                    <a:pt x="229235" y="1024128"/>
                    <a:pt x="0" y="794893"/>
                    <a:pt x="0" y="512064"/>
                  </a:cubicBezTo>
                  <a:close/>
                </a:path>
              </a:pathLst>
            </a:custGeom>
            <a:solidFill>
              <a:srgbClr val="FFE69C"/>
            </a:solidFill>
          </p:spPr>
        </p:sp>
        <p:sp>
          <p:nvSpPr>
            <p:cNvPr name="TextBox 33" id="33"/>
            <p:cNvSpPr txBox="true"/>
            <p:nvPr/>
          </p:nvSpPr>
          <p:spPr>
            <a:xfrm>
              <a:off x="0" y="-57150"/>
              <a:ext cx="11460480" cy="1081278"/>
            </a:xfrm>
            <a:prstGeom prst="rect">
              <a:avLst/>
            </a:prstGeom>
          </p:spPr>
          <p:txBody>
            <a:bodyPr anchor="ctr" rtlCol="false" tIns="50800" lIns="50800" bIns="50800" rIns="50800"/>
            <a:lstStyle/>
            <a:p>
              <a:pPr algn="ctr">
                <a:lnSpc>
                  <a:spcPts val="3120"/>
                </a:lnSpc>
              </a:pPr>
              <a:r>
                <a:rPr lang="en-US" sz="2600" b="true">
                  <a:solidFill>
                    <a:srgbClr val="0A1D42"/>
                  </a:solidFill>
                  <a:latin typeface="Calibri (MS) Bold"/>
                  <a:ea typeface="Calibri (MS) Bold"/>
                  <a:cs typeface="Calibri (MS) Bold"/>
                  <a:sym typeface="Calibri (MS) Bold"/>
                </a:rPr>
                <a:t>Priorisation MoSCoW : 8 indispensables · 3 utiles</a:t>
              </a:r>
            </a:p>
          </p:txBody>
        </p:sp>
      </p:grpSp>
      <p:grpSp>
        <p:nvGrpSpPr>
          <p:cNvPr name="Group 34" id="34"/>
          <p:cNvGrpSpPr/>
          <p:nvPr/>
        </p:nvGrpSpPr>
        <p:grpSpPr>
          <a:xfrm rot="0">
            <a:off x="914400" y="5760720"/>
            <a:ext cx="3840480" cy="2651760"/>
            <a:chOff x="0" y="0"/>
            <a:chExt cx="5120640" cy="3535680"/>
          </a:xfrm>
        </p:grpSpPr>
        <p:sp>
          <p:nvSpPr>
            <p:cNvPr name="Freeform 35" id="35"/>
            <p:cNvSpPr/>
            <p:nvPr/>
          </p:nvSpPr>
          <p:spPr>
            <a:xfrm flipH="false" flipV="false" rot="0">
              <a:off x="0" y="0"/>
              <a:ext cx="5120640" cy="3535680"/>
            </a:xfrm>
            <a:custGeom>
              <a:avLst/>
              <a:gdLst/>
              <a:ahLst/>
              <a:cxnLst/>
              <a:rect r="r" b="b" t="t" l="l"/>
              <a:pathLst>
                <a:path h="3535680" w="5120640">
                  <a:moveTo>
                    <a:pt x="0" y="282829"/>
                  </a:moveTo>
                  <a:cubicBezTo>
                    <a:pt x="0" y="126619"/>
                    <a:pt x="126619" y="0"/>
                    <a:pt x="282829" y="0"/>
                  </a:cubicBezTo>
                  <a:lnTo>
                    <a:pt x="4837811" y="0"/>
                  </a:lnTo>
                  <a:cubicBezTo>
                    <a:pt x="4994021" y="0"/>
                    <a:pt x="5120640" y="126619"/>
                    <a:pt x="5120640" y="282829"/>
                  </a:cubicBezTo>
                  <a:lnTo>
                    <a:pt x="5120640" y="3252851"/>
                  </a:lnTo>
                  <a:cubicBezTo>
                    <a:pt x="5120640" y="3409061"/>
                    <a:pt x="4994021" y="3535680"/>
                    <a:pt x="4837811" y="3535680"/>
                  </a:cubicBezTo>
                  <a:lnTo>
                    <a:pt x="282829" y="3535680"/>
                  </a:lnTo>
                  <a:cubicBezTo>
                    <a:pt x="126619" y="3535680"/>
                    <a:pt x="0" y="3409061"/>
                    <a:pt x="0" y="3252851"/>
                  </a:cubicBezTo>
                  <a:close/>
                </a:path>
              </a:pathLst>
            </a:custGeom>
            <a:solidFill>
              <a:srgbClr val="FFFFFF"/>
            </a:solidFill>
          </p:spPr>
        </p:sp>
      </p:grpSp>
      <p:grpSp>
        <p:nvGrpSpPr>
          <p:cNvPr name="Group 36" id="36"/>
          <p:cNvGrpSpPr/>
          <p:nvPr/>
        </p:nvGrpSpPr>
        <p:grpSpPr>
          <a:xfrm rot="0">
            <a:off x="1280160" y="6071616"/>
            <a:ext cx="3108960" cy="731520"/>
            <a:chOff x="0" y="0"/>
            <a:chExt cx="4145280" cy="975360"/>
          </a:xfrm>
        </p:grpSpPr>
        <p:sp>
          <p:nvSpPr>
            <p:cNvPr name="Freeform 37" id="37"/>
            <p:cNvSpPr/>
            <p:nvPr/>
          </p:nvSpPr>
          <p:spPr>
            <a:xfrm flipH="false" flipV="false" rot="0">
              <a:off x="0" y="0"/>
              <a:ext cx="4145280" cy="975360"/>
            </a:xfrm>
            <a:custGeom>
              <a:avLst/>
              <a:gdLst/>
              <a:ahLst/>
              <a:cxnLst/>
              <a:rect r="r" b="b" t="t" l="l"/>
              <a:pathLst>
                <a:path h="975360" w="4145280">
                  <a:moveTo>
                    <a:pt x="0" y="0"/>
                  </a:moveTo>
                  <a:lnTo>
                    <a:pt x="4145280" y="0"/>
                  </a:lnTo>
                  <a:lnTo>
                    <a:pt x="4145280" y="975360"/>
                  </a:lnTo>
                  <a:lnTo>
                    <a:pt x="0" y="975360"/>
                  </a:lnTo>
                  <a:close/>
                </a:path>
              </a:pathLst>
            </a:custGeom>
            <a:blipFill>
              <a:blip r:embed="rId4">
                <a:alphaModFix amt="0"/>
              </a:blip>
              <a:stretch>
                <a:fillRect l="0" t="-32811" r="0" b="-32811"/>
              </a:stretch>
            </a:blipFill>
          </p:spPr>
        </p:sp>
        <p:sp>
          <p:nvSpPr>
            <p:cNvPr name="TextBox 38" id="38"/>
            <p:cNvSpPr txBox="true"/>
            <p:nvPr/>
          </p:nvSpPr>
          <p:spPr>
            <a:xfrm>
              <a:off x="0" y="-85725"/>
              <a:ext cx="4145280" cy="1061085"/>
            </a:xfrm>
            <a:prstGeom prst="rect">
              <a:avLst/>
            </a:prstGeom>
          </p:spPr>
          <p:txBody>
            <a:bodyPr anchor="ctr" rtlCol="false" tIns="0" lIns="0" bIns="0" rIns="0"/>
            <a:lstStyle/>
            <a:p>
              <a:pPr algn="l">
                <a:lnSpc>
                  <a:spcPts val="4799"/>
                </a:lnSpc>
              </a:pPr>
              <a:r>
                <a:rPr lang="en-US" sz="3999" b="true">
                  <a:solidFill>
                    <a:srgbClr val="0A1D42"/>
                  </a:solidFill>
                  <a:latin typeface="Calibri (MS) Bold"/>
                  <a:ea typeface="Calibri (MS) Bold"/>
                  <a:cs typeface="Calibri (MS) Bold"/>
                  <a:sym typeface="Calibri (MS) Bold"/>
                </a:rPr>
                <a:t>React</a:t>
              </a:r>
            </a:p>
          </p:txBody>
        </p:sp>
      </p:grpSp>
      <p:grpSp>
        <p:nvGrpSpPr>
          <p:cNvPr name="Group 39" id="39"/>
          <p:cNvGrpSpPr/>
          <p:nvPr/>
        </p:nvGrpSpPr>
        <p:grpSpPr>
          <a:xfrm rot="0">
            <a:off x="5120640" y="5760720"/>
            <a:ext cx="3840480" cy="2651760"/>
            <a:chOff x="0" y="0"/>
            <a:chExt cx="5120640" cy="3535680"/>
          </a:xfrm>
        </p:grpSpPr>
        <p:sp>
          <p:nvSpPr>
            <p:cNvPr name="Freeform 40" id="40"/>
            <p:cNvSpPr/>
            <p:nvPr/>
          </p:nvSpPr>
          <p:spPr>
            <a:xfrm flipH="false" flipV="false" rot="0">
              <a:off x="0" y="0"/>
              <a:ext cx="5120640" cy="3535680"/>
            </a:xfrm>
            <a:custGeom>
              <a:avLst/>
              <a:gdLst/>
              <a:ahLst/>
              <a:cxnLst/>
              <a:rect r="r" b="b" t="t" l="l"/>
              <a:pathLst>
                <a:path h="3535680" w="5120640">
                  <a:moveTo>
                    <a:pt x="0" y="282829"/>
                  </a:moveTo>
                  <a:cubicBezTo>
                    <a:pt x="0" y="126619"/>
                    <a:pt x="126619" y="0"/>
                    <a:pt x="282829" y="0"/>
                  </a:cubicBezTo>
                  <a:lnTo>
                    <a:pt x="4837811" y="0"/>
                  </a:lnTo>
                  <a:cubicBezTo>
                    <a:pt x="4994021" y="0"/>
                    <a:pt x="5120640" y="126619"/>
                    <a:pt x="5120640" y="282829"/>
                  </a:cubicBezTo>
                  <a:lnTo>
                    <a:pt x="5120640" y="3252851"/>
                  </a:lnTo>
                  <a:cubicBezTo>
                    <a:pt x="5120640" y="3409061"/>
                    <a:pt x="4994021" y="3535680"/>
                    <a:pt x="4837811" y="3535680"/>
                  </a:cubicBezTo>
                  <a:lnTo>
                    <a:pt x="282829" y="3535680"/>
                  </a:lnTo>
                  <a:cubicBezTo>
                    <a:pt x="126619" y="3535680"/>
                    <a:pt x="0" y="3409061"/>
                    <a:pt x="0" y="3252851"/>
                  </a:cubicBezTo>
                  <a:close/>
                </a:path>
              </a:pathLst>
            </a:custGeom>
            <a:solidFill>
              <a:srgbClr val="FFFFFF"/>
            </a:solidFill>
          </p:spPr>
        </p:sp>
      </p:grpSp>
      <p:grpSp>
        <p:nvGrpSpPr>
          <p:cNvPr name="Group 41" id="41"/>
          <p:cNvGrpSpPr/>
          <p:nvPr/>
        </p:nvGrpSpPr>
        <p:grpSpPr>
          <a:xfrm rot="0">
            <a:off x="5486400" y="6071616"/>
            <a:ext cx="3108960" cy="731520"/>
            <a:chOff x="0" y="0"/>
            <a:chExt cx="4145280" cy="975360"/>
          </a:xfrm>
        </p:grpSpPr>
        <p:sp>
          <p:nvSpPr>
            <p:cNvPr name="Freeform 42" id="42"/>
            <p:cNvSpPr/>
            <p:nvPr/>
          </p:nvSpPr>
          <p:spPr>
            <a:xfrm flipH="false" flipV="false" rot="0">
              <a:off x="0" y="0"/>
              <a:ext cx="4145280" cy="975360"/>
            </a:xfrm>
            <a:custGeom>
              <a:avLst/>
              <a:gdLst/>
              <a:ahLst/>
              <a:cxnLst/>
              <a:rect r="r" b="b" t="t" l="l"/>
              <a:pathLst>
                <a:path h="975360" w="4145280">
                  <a:moveTo>
                    <a:pt x="0" y="0"/>
                  </a:moveTo>
                  <a:lnTo>
                    <a:pt x="4145280" y="0"/>
                  </a:lnTo>
                  <a:lnTo>
                    <a:pt x="4145280" y="975360"/>
                  </a:lnTo>
                  <a:lnTo>
                    <a:pt x="0" y="975360"/>
                  </a:lnTo>
                  <a:close/>
                </a:path>
              </a:pathLst>
            </a:custGeom>
            <a:blipFill>
              <a:blip r:embed="rId4">
                <a:alphaModFix amt="0"/>
              </a:blip>
              <a:stretch>
                <a:fillRect l="0" t="-32811" r="0" b="-32811"/>
              </a:stretch>
            </a:blipFill>
          </p:spPr>
        </p:sp>
        <p:sp>
          <p:nvSpPr>
            <p:cNvPr name="TextBox 43" id="43"/>
            <p:cNvSpPr txBox="true"/>
            <p:nvPr/>
          </p:nvSpPr>
          <p:spPr>
            <a:xfrm>
              <a:off x="0" y="-85725"/>
              <a:ext cx="4145280" cy="1061085"/>
            </a:xfrm>
            <a:prstGeom prst="rect">
              <a:avLst/>
            </a:prstGeom>
          </p:spPr>
          <p:txBody>
            <a:bodyPr anchor="ctr" rtlCol="false" tIns="0" lIns="0" bIns="0" rIns="0"/>
            <a:lstStyle/>
            <a:p>
              <a:pPr algn="l">
                <a:lnSpc>
                  <a:spcPts val="4799"/>
                </a:lnSpc>
              </a:pPr>
              <a:r>
                <a:rPr lang="en-US" sz="3999" b="true">
                  <a:solidFill>
                    <a:srgbClr val="0A1D42"/>
                  </a:solidFill>
                  <a:latin typeface="Calibri (MS) Bold"/>
                  <a:ea typeface="Calibri (MS) Bold"/>
                  <a:cs typeface="Calibri (MS) Bold"/>
                  <a:sym typeface="Calibri (MS) Bold"/>
                </a:rPr>
                <a:t>Laravel</a:t>
              </a:r>
            </a:p>
          </p:txBody>
        </p:sp>
      </p:grpSp>
      <p:grpSp>
        <p:nvGrpSpPr>
          <p:cNvPr name="Group 44" id="44"/>
          <p:cNvGrpSpPr/>
          <p:nvPr/>
        </p:nvGrpSpPr>
        <p:grpSpPr>
          <a:xfrm rot="0">
            <a:off x="9326880" y="5760720"/>
            <a:ext cx="3840480" cy="2651760"/>
            <a:chOff x="0" y="0"/>
            <a:chExt cx="5120640" cy="3535680"/>
          </a:xfrm>
        </p:grpSpPr>
        <p:sp>
          <p:nvSpPr>
            <p:cNvPr name="Freeform 45" id="45"/>
            <p:cNvSpPr/>
            <p:nvPr/>
          </p:nvSpPr>
          <p:spPr>
            <a:xfrm flipH="false" flipV="false" rot="0">
              <a:off x="0" y="0"/>
              <a:ext cx="5120640" cy="3535680"/>
            </a:xfrm>
            <a:custGeom>
              <a:avLst/>
              <a:gdLst/>
              <a:ahLst/>
              <a:cxnLst/>
              <a:rect r="r" b="b" t="t" l="l"/>
              <a:pathLst>
                <a:path h="3535680" w="5120640">
                  <a:moveTo>
                    <a:pt x="0" y="282829"/>
                  </a:moveTo>
                  <a:cubicBezTo>
                    <a:pt x="0" y="126619"/>
                    <a:pt x="126619" y="0"/>
                    <a:pt x="282829" y="0"/>
                  </a:cubicBezTo>
                  <a:lnTo>
                    <a:pt x="4837811" y="0"/>
                  </a:lnTo>
                  <a:cubicBezTo>
                    <a:pt x="4994021" y="0"/>
                    <a:pt x="5120640" y="126619"/>
                    <a:pt x="5120640" y="282829"/>
                  </a:cubicBezTo>
                  <a:lnTo>
                    <a:pt x="5120640" y="3252851"/>
                  </a:lnTo>
                  <a:cubicBezTo>
                    <a:pt x="5120640" y="3409061"/>
                    <a:pt x="4994021" y="3535680"/>
                    <a:pt x="4837811" y="3535680"/>
                  </a:cubicBezTo>
                  <a:lnTo>
                    <a:pt x="282829" y="3535680"/>
                  </a:lnTo>
                  <a:cubicBezTo>
                    <a:pt x="126619" y="3535680"/>
                    <a:pt x="0" y="3409061"/>
                    <a:pt x="0" y="3252851"/>
                  </a:cubicBezTo>
                  <a:close/>
                </a:path>
              </a:pathLst>
            </a:custGeom>
            <a:solidFill>
              <a:srgbClr val="FFFFFF"/>
            </a:solidFill>
          </p:spPr>
        </p:sp>
      </p:grpSp>
      <p:grpSp>
        <p:nvGrpSpPr>
          <p:cNvPr name="Group 46" id="46"/>
          <p:cNvGrpSpPr/>
          <p:nvPr/>
        </p:nvGrpSpPr>
        <p:grpSpPr>
          <a:xfrm rot="0">
            <a:off x="9692640" y="6071616"/>
            <a:ext cx="3108960" cy="731520"/>
            <a:chOff x="0" y="0"/>
            <a:chExt cx="4145280" cy="975360"/>
          </a:xfrm>
        </p:grpSpPr>
        <p:sp>
          <p:nvSpPr>
            <p:cNvPr name="Freeform 47" id="47"/>
            <p:cNvSpPr/>
            <p:nvPr/>
          </p:nvSpPr>
          <p:spPr>
            <a:xfrm flipH="false" flipV="false" rot="0">
              <a:off x="0" y="0"/>
              <a:ext cx="4145280" cy="975360"/>
            </a:xfrm>
            <a:custGeom>
              <a:avLst/>
              <a:gdLst/>
              <a:ahLst/>
              <a:cxnLst/>
              <a:rect r="r" b="b" t="t" l="l"/>
              <a:pathLst>
                <a:path h="975360" w="4145280">
                  <a:moveTo>
                    <a:pt x="0" y="0"/>
                  </a:moveTo>
                  <a:lnTo>
                    <a:pt x="4145280" y="0"/>
                  </a:lnTo>
                  <a:lnTo>
                    <a:pt x="4145280" y="975360"/>
                  </a:lnTo>
                  <a:lnTo>
                    <a:pt x="0" y="975360"/>
                  </a:lnTo>
                  <a:close/>
                </a:path>
              </a:pathLst>
            </a:custGeom>
            <a:blipFill>
              <a:blip r:embed="rId4">
                <a:alphaModFix amt="0"/>
              </a:blip>
              <a:stretch>
                <a:fillRect l="0" t="-32811" r="0" b="-32811"/>
              </a:stretch>
            </a:blipFill>
          </p:spPr>
        </p:sp>
        <p:sp>
          <p:nvSpPr>
            <p:cNvPr name="TextBox 48" id="48"/>
            <p:cNvSpPr txBox="true"/>
            <p:nvPr/>
          </p:nvSpPr>
          <p:spPr>
            <a:xfrm>
              <a:off x="0" y="-85725"/>
              <a:ext cx="4145280" cy="1061085"/>
            </a:xfrm>
            <a:prstGeom prst="rect">
              <a:avLst/>
            </a:prstGeom>
          </p:spPr>
          <p:txBody>
            <a:bodyPr anchor="ctr" rtlCol="false" tIns="0" lIns="0" bIns="0" rIns="0"/>
            <a:lstStyle/>
            <a:p>
              <a:pPr algn="l">
                <a:lnSpc>
                  <a:spcPts val="4799"/>
                </a:lnSpc>
              </a:pPr>
              <a:r>
                <a:rPr lang="en-US" sz="3999" b="true">
                  <a:solidFill>
                    <a:srgbClr val="0A1D42"/>
                  </a:solidFill>
                  <a:latin typeface="Calibri (MS) Bold"/>
                  <a:ea typeface="Calibri (MS) Bold"/>
                  <a:cs typeface="Calibri (MS) Bold"/>
                  <a:sym typeface="Calibri (MS) Bold"/>
                </a:rPr>
                <a:t>PostgreSQL</a:t>
              </a:r>
            </a:p>
          </p:txBody>
        </p:sp>
      </p:grpSp>
      <p:grpSp>
        <p:nvGrpSpPr>
          <p:cNvPr name="Group 49" id="49"/>
          <p:cNvGrpSpPr/>
          <p:nvPr/>
        </p:nvGrpSpPr>
        <p:grpSpPr>
          <a:xfrm rot="0">
            <a:off x="13533120" y="5760720"/>
            <a:ext cx="3840480" cy="2651760"/>
            <a:chOff x="0" y="0"/>
            <a:chExt cx="5120640" cy="3535680"/>
          </a:xfrm>
        </p:grpSpPr>
        <p:sp>
          <p:nvSpPr>
            <p:cNvPr name="Freeform 50" id="50"/>
            <p:cNvSpPr/>
            <p:nvPr/>
          </p:nvSpPr>
          <p:spPr>
            <a:xfrm flipH="false" flipV="false" rot="0">
              <a:off x="0" y="0"/>
              <a:ext cx="5120640" cy="3535680"/>
            </a:xfrm>
            <a:custGeom>
              <a:avLst/>
              <a:gdLst/>
              <a:ahLst/>
              <a:cxnLst/>
              <a:rect r="r" b="b" t="t" l="l"/>
              <a:pathLst>
                <a:path h="3535680" w="5120640">
                  <a:moveTo>
                    <a:pt x="0" y="282829"/>
                  </a:moveTo>
                  <a:cubicBezTo>
                    <a:pt x="0" y="126619"/>
                    <a:pt x="126619" y="0"/>
                    <a:pt x="282829" y="0"/>
                  </a:cubicBezTo>
                  <a:lnTo>
                    <a:pt x="4837811" y="0"/>
                  </a:lnTo>
                  <a:cubicBezTo>
                    <a:pt x="4994021" y="0"/>
                    <a:pt x="5120640" y="126619"/>
                    <a:pt x="5120640" y="282829"/>
                  </a:cubicBezTo>
                  <a:lnTo>
                    <a:pt x="5120640" y="3252851"/>
                  </a:lnTo>
                  <a:cubicBezTo>
                    <a:pt x="5120640" y="3409061"/>
                    <a:pt x="4994021" y="3535680"/>
                    <a:pt x="4837811" y="3535680"/>
                  </a:cubicBezTo>
                  <a:lnTo>
                    <a:pt x="282829" y="3535680"/>
                  </a:lnTo>
                  <a:cubicBezTo>
                    <a:pt x="126619" y="3535680"/>
                    <a:pt x="0" y="3409061"/>
                    <a:pt x="0" y="3252851"/>
                  </a:cubicBezTo>
                  <a:close/>
                </a:path>
              </a:pathLst>
            </a:custGeom>
            <a:solidFill>
              <a:srgbClr val="FFFFFF"/>
            </a:solidFill>
          </p:spPr>
        </p:sp>
      </p:grpSp>
      <p:grpSp>
        <p:nvGrpSpPr>
          <p:cNvPr name="Group 51" id="51"/>
          <p:cNvGrpSpPr/>
          <p:nvPr/>
        </p:nvGrpSpPr>
        <p:grpSpPr>
          <a:xfrm rot="0">
            <a:off x="13898880" y="6071616"/>
            <a:ext cx="3108960" cy="731520"/>
            <a:chOff x="0" y="0"/>
            <a:chExt cx="4145280" cy="975360"/>
          </a:xfrm>
        </p:grpSpPr>
        <p:sp>
          <p:nvSpPr>
            <p:cNvPr name="Freeform 52" id="52"/>
            <p:cNvSpPr/>
            <p:nvPr/>
          </p:nvSpPr>
          <p:spPr>
            <a:xfrm flipH="false" flipV="false" rot="0">
              <a:off x="0" y="0"/>
              <a:ext cx="4145280" cy="975360"/>
            </a:xfrm>
            <a:custGeom>
              <a:avLst/>
              <a:gdLst/>
              <a:ahLst/>
              <a:cxnLst/>
              <a:rect r="r" b="b" t="t" l="l"/>
              <a:pathLst>
                <a:path h="975360" w="4145280">
                  <a:moveTo>
                    <a:pt x="0" y="0"/>
                  </a:moveTo>
                  <a:lnTo>
                    <a:pt x="4145280" y="0"/>
                  </a:lnTo>
                  <a:lnTo>
                    <a:pt x="4145280" y="975360"/>
                  </a:lnTo>
                  <a:lnTo>
                    <a:pt x="0" y="975360"/>
                  </a:lnTo>
                  <a:close/>
                </a:path>
              </a:pathLst>
            </a:custGeom>
            <a:blipFill>
              <a:blip r:embed="rId4">
                <a:alphaModFix amt="0"/>
              </a:blip>
              <a:stretch>
                <a:fillRect l="0" t="-32811" r="0" b="-32811"/>
              </a:stretch>
            </a:blipFill>
          </p:spPr>
        </p:sp>
        <p:sp>
          <p:nvSpPr>
            <p:cNvPr name="TextBox 53" id="53"/>
            <p:cNvSpPr txBox="true"/>
            <p:nvPr/>
          </p:nvSpPr>
          <p:spPr>
            <a:xfrm>
              <a:off x="0" y="-85725"/>
              <a:ext cx="4145280" cy="1061085"/>
            </a:xfrm>
            <a:prstGeom prst="rect">
              <a:avLst/>
            </a:prstGeom>
          </p:spPr>
          <p:txBody>
            <a:bodyPr anchor="ctr" rtlCol="false" tIns="0" lIns="0" bIns="0" rIns="0"/>
            <a:lstStyle/>
            <a:p>
              <a:pPr algn="l">
                <a:lnSpc>
                  <a:spcPts val="4799"/>
                </a:lnSpc>
              </a:pPr>
              <a:r>
                <a:rPr lang="en-US" sz="3999" b="true">
                  <a:solidFill>
                    <a:srgbClr val="0A1D42"/>
                  </a:solidFill>
                  <a:latin typeface="Calibri (MS) Bold"/>
                  <a:ea typeface="Calibri (MS) Bold"/>
                  <a:cs typeface="Calibri (MS) Bold"/>
                  <a:sym typeface="Calibri (MS) Bold"/>
                </a:rPr>
                <a:t>GitHub</a:t>
              </a:r>
            </a:p>
          </p:txBody>
        </p:sp>
      </p:grpSp>
      <p:sp>
        <p:nvSpPr>
          <p:cNvPr name="TextBox 54" id="54"/>
          <p:cNvSpPr txBox="true"/>
          <p:nvPr/>
        </p:nvSpPr>
        <p:spPr>
          <a:xfrm rot="0">
            <a:off x="914400" y="5173980"/>
            <a:ext cx="5486400" cy="440436"/>
          </a:xfrm>
          <a:prstGeom prst="rect">
            <a:avLst/>
          </a:prstGeom>
        </p:spPr>
        <p:txBody>
          <a:bodyPr anchor="t" rtlCol="false" tIns="0" lIns="0" bIns="0" rIns="0">
            <a:spAutoFit/>
          </a:bodyPr>
          <a:lstStyle/>
          <a:p>
            <a:pPr algn="l">
              <a:lnSpc>
                <a:spcPts val="2400"/>
              </a:lnSpc>
            </a:pPr>
            <a:r>
              <a:rPr lang="en-US" b="true" sz="2000" spc="300">
                <a:solidFill>
                  <a:srgbClr val="5B6785"/>
                </a:solidFill>
                <a:latin typeface="Calibri (MS) Bold"/>
                <a:ea typeface="Calibri (MS) Bold"/>
                <a:cs typeface="Calibri (MS) Bold"/>
                <a:sym typeface="Calibri (MS) Bold"/>
              </a:rPr>
              <a:t>TECHNOLOGIES</a:t>
            </a:r>
          </a:p>
        </p:txBody>
      </p:sp>
      <p:sp>
        <p:nvSpPr>
          <p:cNvPr name="TextBox 55" id="55"/>
          <p:cNvSpPr txBox="true"/>
          <p:nvPr/>
        </p:nvSpPr>
        <p:spPr>
          <a:xfrm rot="0">
            <a:off x="1280160" y="6928866"/>
            <a:ext cx="3108960" cy="1154430"/>
          </a:xfrm>
          <a:prstGeom prst="rect">
            <a:avLst/>
          </a:prstGeom>
        </p:spPr>
        <p:txBody>
          <a:bodyPr anchor="t" rtlCol="false" tIns="0" lIns="0" bIns="0" rIns="0">
            <a:spAutoFit/>
          </a:bodyPr>
          <a:lstStyle/>
          <a:p>
            <a:pPr algn="l">
              <a:lnSpc>
                <a:spcPts val="3120"/>
              </a:lnSpc>
            </a:pPr>
            <a:r>
              <a:rPr lang="en-US" sz="2600">
                <a:solidFill>
                  <a:srgbClr val="5B6785"/>
                </a:solidFill>
                <a:latin typeface="Calibri (MS)"/>
                <a:ea typeface="Calibri (MS)"/>
                <a:cs typeface="Calibri (MS)"/>
                <a:sym typeface="Calibri (MS)"/>
              </a:rPr>
              <a:t>L'interface que l'on voit</a:t>
            </a:r>
          </a:p>
        </p:txBody>
      </p:sp>
      <p:sp>
        <p:nvSpPr>
          <p:cNvPr name="TextBox 56" id="56"/>
          <p:cNvSpPr txBox="true"/>
          <p:nvPr/>
        </p:nvSpPr>
        <p:spPr>
          <a:xfrm rot="0">
            <a:off x="5486400" y="6928866"/>
            <a:ext cx="3108960" cy="1154430"/>
          </a:xfrm>
          <a:prstGeom prst="rect">
            <a:avLst/>
          </a:prstGeom>
        </p:spPr>
        <p:txBody>
          <a:bodyPr anchor="t" rtlCol="false" tIns="0" lIns="0" bIns="0" rIns="0">
            <a:spAutoFit/>
          </a:bodyPr>
          <a:lstStyle/>
          <a:p>
            <a:pPr algn="l">
              <a:lnSpc>
                <a:spcPts val="3120"/>
              </a:lnSpc>
            </a:pPr>
            <a:r>
              <a:rPr lang="en-US" sz="2600">
                <a:solidFill>
                  <a:srgbClr val="5B6785"/>
                </a:solidFill>
                <a:latin typeface="Calibri (MS)"/>
                <a:ea typeface="Calibri (MS)"/>
                <a:cs typeface="Calibri (MS)"/>
                <a:sym typeface="Calibri (MS)"/>
              </a:rPr>
              <a:t>Règles de gestion et sécurité</a:t>
            </a:r>
          </a:p>
        </p:txBody>
      </p:sp>
      <p:sp>
        <p:nvSpPr>
          <p:cNvPr name="TextBox 57" id="57"/>
          <p:cNvSpPr txBox="true"/>
          <p:nvPr/>
        </p:nvSpPr>
        <p:spPr>
          <a:xfrm rot="0">
            <a:off x="9692640" y="6928866"/>
            <a:ext cx="3108960" cy="1154430"/>
          </a:xfrm>
          <a:prstGeom prst="rect">
            <a:avLst/>
          </a:prstGeom>
        </p:spPr>
        <p:txBody>
          <a:bodyPr anchor="t" rtlCol="false" tIns="0" lIns="0" bIns="0" rIns="0">
            <a:spAutoFit/>
          </a:bodyPr>
          <a:lstStyle/>
          <a:p>
            <a:pPr algn="l">
              <a:lnSpc>
                <a:spcPts val="3120"/>
              </a:lnSpc>
            </a:pPr>
            <a:r>
              <a:rPr lang="en-US" sz="2600">
                <a:solidFill>
                  <a:srgbClr val="5B6785"/>
                </a:solidFill>
                <a:latin typeface="Calibri (MS)"/>
                <a:ea typeface="Calibri (MS)"/>
                <a:cs typeface="Calibri (MS)"/>
                <a:sym typeface="Calibri (MS)"/>
              </a:rPr>
              <a:t>Stockage fiable des données</a:t>
            </a:r>
          </a:p>
        </p:txBody>
      </p:sp>
      <p:sp>
        <p:nvSpPr>
          <p:cNvPr name="TextBox 58" id="58"/>
          <p:cNvSpPr txBox="true"/>
          <p:nvPr/>
        </p:nvSpPr>
        <p:spPr>
          <a:xfrm rot="0">
            <a:off x="13898880" y="6928866"/>
            <a:ext cx="3108960" cy="1154430"/>
          </a:xfrm>
          <a:prstGeom prst="rect">
            <a:avLst/>
          </a:prstGeom>
        </p:spPr>
        <p:txBody>
          <a:bodyPr anchor="t" rtlCol="false" tIns="0" lIns="0" bIns="0" rIns="0">
            <a:spAutoFit/>
          </a:bodyPr>
          <a:lstStyle/>
          <a:p>
            <a:pPr algn="l">
              <a:lnSpc>
                <a:spcPts val="3120"/>
              </a:lnSpc>
            </a:pPr>
            <a:r>
              <a:rPr lang="en-US" sz="2600">
                <a:solidFill>
                  <a:srgbClr val="5B6785"/>
                </a:solidFill>
                <a:latin typeface="Calibri (MS)"/>
                <a:ea typeface="Calibri (MS)"/>
                <a:cs typeface="Calibri (MS)"/>
                <a:sym typeface="Calibri (MS)"/>
              </a:rPr>
              <a:t>Suivi du code et tests automatiques</a:t>
            </a:r>
          </a:p>
        </p:txBody>
      </p:sp>
      <p:sp>
        <p:nvSpPr>
          <p:cNvPr name="TextBox 59" id="59"/>
          <p:cNvSpPr txBox="true"/>
          <p:nvPr/>
        </p:nvSpPr>
        <p:spPr>
          <a:xfrm rot="0">
            <a:off x="15819120" y="9608820"/>
            <a:ext cx="731520" cy="403860"/>
          </a:xfrm>
          <a:prstGeom prst="rect">
            <a:avLst/>
          </a:prstGeom>
        </p:spPr>
        <p:txBody>
          <a:bodyPr anchor="t" rtlCol="false" tIns="0" lIns="0" bIns="0" rIns="0">
            <a:spAutoFit/>
          </a:bodyPr>
          <a:lstStyle/>
          <a:p>
            <a:pPr algn="r">
              <a:lnSpc>
                <a:spcPts val="2400"/>
              </a:lnSpc>
            </a:pPr>
            <a:r>
              <a:rPr lang="en-US" sz="2000">
                <a:solidFill>
                  <a:srgbClr val="5B6785"/>
                </a:solidFill>
                <a:latin typeface="Calibri (MS)"/>
                <a:ea typeface="Calibri (MS)"/>
                <a:cs typeface="Calibri (MS)"/>
                <a:sym typeface="Calibri (MS)"/>
              </a:rPr>
              <a:t>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7145000" y="0"/>
            <a:ext cx="1143000" cy="1751990"/>
            <a:chOff x="0" y="0"/>
            <a:chExt cx="1524000" cy="2335987"/>
          </a:xfrm>
        </p:grpSpPr>
        <p:sp>
          <p:nvSpPr>
            <p:cNvPr name="Freeform 3" id="3" descr="assets/blob_tr.png"/>
            <p:cNvSpPr/>
            <p:nvPr/>
          </p:nvSpPr>
          <p:spPr>
            <a:xfrm flipH="false" flipV="false" rot="0">
              <a:off x="0" y="0"/>
              <a:ext cx="1524000" cy="2336038"/>
            </a:xfrm>
            <a:custGeom>
              <a:avLst/>
              <a:gdLst/>
              <a:ahLst/>
              <a:cxnLst/>
              <a:rect r="r" b="b" t="t" l="l"/>
              <a:pathLst>
                <a:path h="2336038" w="1524000">
                  <a:moveTo>
                    <a:pt x="0" y="0"/>
                  </a:moveTo>
                  <a:lnTo>
                    <a:pt x="1524000" y="0"/>
                  </a:lnTo>
                  <a:lnTo>
                    <a:pt x="1524000" y="2336038"/>
                  </a:lnTo>
                  <a:lnTo>
                    <a:pt x="0" y="2336038"/>
                  </a:lnTo>
                  <a:lnTo>
                    <a:pt x="0" y="0"/>
                  </a:lnTo>
                  <a:close/>
                </a:path>
              </a:pathLst>
            </a:custGeom>
            <a:blipFill>
              <a:blip r:embed="rId3"/>
              <a:stretch>
                <a:fillRect l="-25" t="0" r="-26" b="2"/>
              </a:stretch>
            </a:blipFill>
          </p:spPr>
        </p:sp>
      </p:grpSp>
      <p:grpSp>
        <p:nvGrpSpPr>
          <p:cNvPr name="Group 4" id="4"/>
          <p:cNvGrpSpPr/>
          <p:nvPr/>
        </p:nvGrpSpPr>
        <p:grpSpPr>
          <a:xfrm rot="0">
            <a:off x="1028700" y="875995"/>
            <a:ext cx="14996160" cy="1133856"/>
            <a:chOff x="0" y="0"/>
            <a:chExt cx="19994880" cy="1511808"/>
          </a:xfrm>
        </p:grpSpPr>
        <p:sp>
          <p:nvSpPr>
            <p:cNvPr name="Freeform 5" id="5"/>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4">
                <a:alphaModFix amt="0"/>
              </a:blip>
              <a:stretch>
                <a:fillRect l="0" t="-207705" r="0" b="-207705"/>
              </a:stretch>
            </a:blipFill>
          </p:spPr>
        </p:sp>
        <p:sp>
          <p:nvSpPr>
            <p:cNvPr name="TextBox 6" id="6"/>
            <p:cNvSpPr txBox="true"/>
            <p:nvPr/>
          </p:nvSpPr>
          <p:spPr>
            <a:xfrm>
              <a:off x="0" y="-19050"/>
              <a:ext cx="19994880"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FONCTIONNEMENT DE LA PLATEFORME</a:t>
              </a:r>
            </a:p>
          </p:txBody>
        </p:sp>
      </p:grpSp>
      <p:sp>
        <p:nvSpPr>
          <p:cNvPr name="TextBox 7" id="7"/>
          <p:cNvSpPr txBox="true"/>
          <p:nvPr/>
        </p:nvSpPr>
        <p:spPr>
          <a:xfrm rot="0">
            <a:off x="15819120" y="9608820"/>
            <a:ext cx="731520" cy="403860"/>
          </a:xfrm>
          <a:prstGeom prst="rect">
            <a:avLst/>
          </a:prstGeom>
        </p:spPr>
        <p:txBody>
          <a:bodyPr anchor="t" rtlCol="false" tIns="0" lIns="0" bIns="0" rIns="0">
            <a:spAutoFit/>
          </a:bodyPr>
          <a:lstStyle/>
          <a:p>
            <a:pPr algn="r">
              <a:lnSpc>
                <a:spcPts val="2400"/>
              </a:lnSpc>
            </a:pPr>
            <a:r>
              <a:rPr lang="en-US" sz="2000">
                <a:solidFill>
                  <a:srgbClr val="5B6785"/>
                </a:solidFill>
                <a:latin typeface="Calibri (MS)"/>
                <a:ea typeface="Calibri (MS)"/>
                <a:cs typeface="Calibri (MS)"/>
                <a:sym typeface="Calibri (MS)"/>
              </a:rPr>
              <a:t>1</a:t>
            </a:r>
          </a:p>
        </p:txBody>
      </p:sp>
      <p:grpSp>
        <p:nvGrpSpPr>
          <p:cNvPr name="Group 8" id="8"/>
          <p:cNvGrpSpPr/>
          <p:nvPr/>
        </p:nvGrpSpPr>
        <p:grpSpPr>
          <a:xfrm rot="0">
            <a:off x="908047" y="3451222"/>
            <a:ext cx="1201417" cy="1201417"/>
            <a:chOff x="0" y="0"/>
            <a:chExt cx="1601889" cy="1601889"/>
          </a:xfrm>
        </p:grpSpPr>
        <p:sp>
          <p:nvSpPr>
            <p:cNvPr name="Freeform 9" id="9"/>
            <p:cNvSpPr/>
            <p:nvPr/>
          </p:nvSpPr>
          <p:spPr>
            <a:xfrm flipH="false" flipV="false" rot="0">
              <a:off x="0" y="0"/>
              <a:ext cx="1601978" cy="1601978"/>
            </a:xfrm>
            <a:custGeom>
              <a:avLst/>
              <a:gdLst/>
              <a:ahLst/>
              <a:cxnLst/>
              <a:rect r="r" b="b" t="t" l="l"/>
              <a:pathLst>
                <a:path h="1601978" w="1601978">
                  <a:moveTo>
                    <a:pt x="0" y="800989"/>
                  </a:moveTo>
                  <a:cubicBezTo>
                    <a:pt x="0" y="358648"/>
                    <a:pt x="358648" y="0"/>
                    <a:pt x="800989" y="0"/>
                  </a:cubicBezTo>
                  <a:cubicBezTo>
                    <a:pt x="1243330" y="0"/>
                    <a:pt x="1601978" y="358648"/>
                    <a:pt x="1601978" y="800989"/>
                  </a:cubicBezTo>
                  <a:cubicBezTo>
                    <a:pt x="1601978" y="1243330"/>
                    <a:pt x="1243330" y="1601978"/>
                    <a:pt x="800989" y="1601978"/>
                  </a:cubicBezTo>
                  <a:cubicBezTo>
                    <a:pt x="358648" y="1601978"/>
                    <a:pt x="0" y="1243330"/>
                    <a:pt x="0" y="800989"/>
                  </a:cubicBezTo>
                  <a:close/>
                </a:path>
              </a:pathLst>
            </a:custGeom>
            <a:solidFill>
              <a:srgbClr val="0A1D42"/>
            </a:solidFill>
            <a:ln w="12700" cap="sq">
              <a:solidFill>
                <a:srgbClr val="0A1D42"/>
              </a:solidFill>
              <a:prstDash val="solid"/>
              <a:miter/>
            </a:ln>
          </p:spPr>
        </p:sp>
      </p:grpSp>
      <p:grpSp>
        <p:nvGrpSpPr>
          <p:cNvPr name="Group 10" id="10"/>
          <p:cNvGrpSpPr/>
          <p:nvPr/>
        </p:nvGrpSpPr>
        <p:grpSpPr>
          <a:xfrm rot="0">
            <a:off x="1211580" y="3754755"/>
            <a:ext cx="594360" cy="594360"/>
            <a:chOff x="0" y="0"/>
            <a:chExt cx="792480" cy="792480"/>
          </a:xfrm>
        </p:grpSpPr>
        <p:sp>
          <p:nvSpPr>
            <p:cNvPr name="Freeform 11" id="11" descr="Icône Catalogue filtrable"/>
            <p:cNvSpPr/>
            <p:nvPr/>
          </p:nvSpPr>
          <p:spPr>
            <a:xfrm flipH="false" flipV="false" rot="0">
              <a:off x="0" y="0"/>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5"/>
              <a:stretch>
                <a:fillRect l="0" t="0" r="0" b="0"/>
              </a:stretch>
            </a:blipFill>
          </p:spPr>
        </p:sp>
      </p:grpSp>
      <p:grpSp>
        <p:nvGrpSpPr>
          <p:cNvPr name="Group 12" id="12"/>
          <p:cNvGrpSpPr/>
          <p:nvPr/>
        </p:nvGrpSpPr>
        <p:grpSpPr>
          <a:xfrm rot="0">
            <a:off x="2560320" y="3366135"/>
            <a:ext cx="6766560" cy="694944"/>
            <a:chOff x="0" y="0"/>
            <a:chExt cx="9022080" cy="926592"/>
          </a:xfrm>
        </p:grpSpPr>
        <p:sp>
          <p:nvSpPr>
            <p:cNvPr name="Freeform 13" id="13"/>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4">
                <a:alphaModFix amt="0"/>
              </a:blip>
              <a:stretch>
                <a:fillRect l="0" t="-139722" r="0" b="-139722"/>
              </a:stretch>
            </a:blipFill>
          </p:spPr>
        </p:sp>
        <p:sp>
          <p:nvSpPr>
            <p:cNvPr name="TextBox 14" id="14"/>
            <p:cNvSpPr txBox="true"/>
            <p:nvPr/>
          </p:nvSpPr>
          <p:spPr>
            <a:xfrm>
              <a:off x="0" y="-66675"/>
              <a:ext cx="9022080" cy="993267"/>
            </a:xfrm>
            <a:prstGeom prst="rect">
              <a:avLst/>
            </a:prstGeom>
          </p:spPr>
          <p:txBody>
            <a:bodyPr anchor="ctr" rtlCol="false" tIns="0" lIns="0" bIns="0" rIns="0"/>
            <a:lstStyle/>
            <a:p>
              <a:pPr algn="l">
                <a:lnSpc>
                  <a:spcPts val="4079"/>
                </a:lnSpc>
              </a:pPr>
              <a:r>
                <a:rPr lang="en-US" sz="3399" b="true">
                  <a:solidFill>
                    <a:srgbClr val="0A1D42"/>
                  </a:solidFill>
                  <a:latin typeface="Calibri (MS) Bold"/>
                  <a:ea typeface="Calibri (MS) Bold"/>
                  <a:cs typeface="Calibri (MS) Bold"/>
                  <a:sym typeface="Calibri (MS) Bold"/>
                </a:rPr>
                <a:t>Catalogue filtrable</a:t>
              </a:r>
            </a:p>
          </p:txBody>
        </p:sp>
      </p:grpSp>
      <p:sp>
        <p:nvSpPr>
          <p:cNvPr name="TextBox 15" id="15"/>
          <p:cNvSpPr txBox="true"/>
          <p:nvPr/>
        </p:nvSpPr>
        <p:spPr>
          <a:xfrm rot="0">
            <a:off x="2560320" y="4030980"/>
            <a:ext cx="6129652" cy="904875"/>
          </a:xfrm>
          <a:prstGeom prst="rect">
            <a:avLst/>
          </a:prstGeom>
        </p:spPr>
        <p:txBody>
          <a:bodyPr anchor="t" rtlCol="false" tIns="0" lIns="0" bIns="0" rIns="0">
            <a:spAutoFit/>
          </a:bodyPr>
          <a:lstStyle/>
          <a:p>
            <a:pPr algn="l">
              <a:lnSpc>
                <a:spcPts val="3359"/>
              </a:lnSpc>
            </a:pPr>
            <a:r>
              <a:rPr lang="en-US" sz="2799">
                <a:solidFill>
                  <a:srgbClr val="0A1D42"/>
                </a:solidFill>
                <a:latin typeface="Calibri (MS)"/>
                <a:ea typeface="Calibri (MS)"/>
                <a:cs typeface="Calibri (MS)"/>
                <a:sym typeface="Calibri (MS)"/>
              </a:rPr>
              <a:t>Par région, zone et prix, avec carte interactive.</a:t>
            </a:r>
          </a:p>
        </p:txBody>
      </p:sp>
      <p:grpSp>
        <p:nvGrpSpPr>
          <p:cNvPr name="Group 16" id="16"/>
          <p:cNvGrpSpPr/>
          <p:nvPr/>
        </p:nvGrpSpPr>
        <p:grpSpPr>
          <a:xfrm rot="0">
            <a:off x="908047" y="5645782"/>
            <a:ext cx="1201417" cy="1201417"/>
            <a:chOff x="0" y="0"/>
            <a:chExt cx="1601889" cy="1601889"/>
          </a:xfrm>
        </p:grpSpPr>
        <p:sp>
          <p:nvSpPr>
            <p:cNvPr name="Freeform 17" id="17"/>
            <p:cNvSpPr/>
            <p:nvPr/>
          </p:nvSpPr>
          <p:spPr>
            <a:xfrm flipH="false" flipV="false" rot="0">
              <a:off x="0" y="0"/>
              <a:ext cx="1601978" cy="1601978"/>
            </a:xfrm>
            <a:custGeom>
              <a:avLst/>
              <a:gdLst/>
              <a:ahLst/>
              <a:cxnLst/>
              <a:rect r="r" b="b" t="t" l="l"/>
              <a:pathLst>
                <a:path h="1601978" w="1601978">
                  <a:moveTo>
                    <a:pt x="0" y="800989"/>
                  </a:moveTo>
                  <a:cubicBezTo>
                    <a:pt x="0" y="358648"/>
                    <a:pt x="358648" y="0"/>
                    <a:pt x="800989" y="0"/>
                  </a:cubicBezTo>
                  <a:cubicBezTo>
                    <a:pt x="1243330" y="0"/>
                    <a:pt x="1601978" y="358648"/>
                    <a:pt x="1601978" y="800989"/>
                  </a:cubicBezTo>
                  <a:cubicBezTo>
                    <a:pt x="1601978" y="1243330"/>
                    <a:pt x="1243330" y="1601978"/>
                    <a:pt x="800989" y="1601978"/>
                  </a:cubicBezTo>
                  <a:cubicBezTo>
                    <a:pt x="358648" y="1601978"/>
                    <a:pt x="0" y="1243330"/>
                    <a:pt x="0" y="800989"/>
                  </a:cubicBezTo>
                  <a:close/>
                </a:path>
              </a:pathLst>
            </a:custGeom>
            <a:solidFill>
              <a:srgbClr val="0A1D42"/>
            </a:solidFill>
            <a:ln w="12700" cap="sq">
              <a:solidFill>
                <a:srgbClr val="0A1D42"/>
              </a:solidFill>
              <a:prstDash val="solid"/>
              <a:miter/>
            </a:ln>
          </p:spPr>
        </p:sp>
      </p:grpSp>
      <p:grpSp>
        <p:nvGrpSpPr>
          <p:cNvPr name="Group 18" id="18"/>
          <p:cNvGrpSpPr/>
          <p:nvPr/>
        </p:nvGrpSpPr>
        <p:grpSpPr>
          <a:xfrm rot="0">
            <a:off x="1211580" y="5949315"/>
            <a:ext cx="594360" cy="594360"/>
            <a:chOff x="0" y="0"/>
            <a:chExt cx="792480" cy="792480"/>
          </a:xfrm>
        </p:grpSpPr>
        <p:sp>
          <p:nvSpPr>
            <p:cNvPr name="Freeform 19" id="19" descr="Icône Fiche terrain complète"/>
            <p:cNvSpPr/>
            <p:nvPr/>
          </p:nvSpPr>
          <p:spPr>
            <a:xfrm flipH="false" flipV="false" rot="0">
              <a:off x="0" y="0"/>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6"/>
              <a:stretch>
                <a:fillRect l="0" t="0" r="0" b="0"/>
              </a:stretch>
            </a:blipFill>
          </p:spPr>
        </p:sp>
      </p:grpSp>
      <p:grpSp>
        <p:nvGrpSpPr>
          <p:cNvPr name="Group 20" id="20"/>
          <p:cNvGrpSpPr/>
          <p:nvPr/>
        </p:nvGrpSpPr>
        <p:grpSpPr>
          <a:xfrm rot="0">
            <a:off x="2560320" y="5560695"/>
            <a:ext cx="6766560" cy="694944"/>
            <a:chOff x="0" y="0"/>
            <a:chExt cx="9022080" cy="926592"/>
          </a:xfrm>
        </p:grpSpPr>
        <p:sp>
          <p:nvSpPr>
            <p:cNvPr name="Freeform 21" id="21"/>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4">
                <a:alphaModFix amt="0"/>
              </a:blip>
              <a:stretch>
                <a:fillRect l="0" t="-139722" r="0" b="-139722"/>
              </a:stretch>
            </a:blipFill>
          </p:spPr>
        </p:sp>
        <p:sp>
          <p:nvSpPr>
            <p:cNvPr name="TextBox 22" id="22"/>
            <p:cNvSpPr txBox="true"/>
            <p:nvPr/>
          </p:nvSpPr>
          <p:spPr>
            <a:xfrm>
              <a:off x="0" y="-66675"/>
              <a:ext cx="9022080" cy="993267"/>
            </a:xfrm>
            <a:prstGeom prst="rect">
              <a:avLst/>
            </a:prstGeom>
          </p:spPr>
          <p:txBody>
            <a:bodyPr anchor="ctr" rtlCol="false" tIns="0" lIns="0" bIns="0" rIns="0"/>
            <a:lstStyle/>
            <a:p>
              <a:pPr algn="l">
                <a:lnSpc>
                  <a:spcPts val="4079"/>
                </a:lnSpc>
              </a:pPr>
              <a:r>
                <a:rPr lang="en-US" sz="3399" b="true">
                  <a:solidFill>
                    <a:srgbClr val="0A1D42"/>
                  </a:solidFill>
                  <a:latin typeface="Calibri (MS) Bold"/>
                  <a:ea typeface="Calibri (MS) Bold"/>
                  <a:cs typeface="Calibri (MS) Bold"/>
                  <a:sym typeface="Calibri (MS) Bold"/>
                </a:rPr>
                <a:t>Fiche terrain complète</a:t>
              </a:r>
            </a:p>
          </p:txBody>
        </p:sp>
      </p:grpSp>
      <p:sp>
        <p:nvSpPr>
          <p:cNvPr name="TextBox 23" id="23"/>
          <p:cNvSpPr txBox="true"/>
          <p:nvPr/>
        </p:nvSpPr>
        <p:spPr>
          <a:xfrm rot="0">
            <a:off x="2560320" y="6225540"/>
            <a:ext cx="6766560" cy="1255395"/>
          </a:xfrm>
          <a:prstGeom prst="rect">
            <a:avLst/>
          </a:prstGeom>
        </p:spPr>
        <p:txBody>
          <a:bodyPr anchor="t" rtlCol="false" tIns="0" lIns="0" bIns="0" rIns="0">
            <a:spAutoFit/>
          </a:bodyPr>
          <a:lstStyle/>
          <a:p>
            <a:pPr algn="l">
              <a:lnSpc>
                <a:spcPts val="3359"/>
              </a:lnSpc>
            </a:pPr>
            <a:r>
              <a:rPr lang="en-US" sz="2799">
                <a:solidFill>
                  <a:srgbClr val="0A1D42"/>
                </a:solidFill>
                <a:latin typeface="Calibri (MS)"/>
                <a:ea typeface="Calibri (MS)"/>
                <a:cs typeface="Calibri (MS)"/>
                <a:sym typeface="Calibri (MS)"/>
              </a:rPr>
              <a:t>Photos, informations clés, localisation et modalités.</a:t>
            </a:r>
          </a:p>
        </p:txBody>
      </p:sp>
      <p:grpSp>
        <p:nvGrpSpPr>
          <p:cNvPr name="Group 24" id="24"/>
          <p:cNvGrpSpPr/>
          <p:nvPr/>
        </p:nvGrpSpPr>
        <p:grpSpPr>
          <a:xfrm rot="0">
            <a:off x="908047" y="7840342"/>
            <a:ext cx="1201417" cy="1201417"/>
            <a:chOff x="0" y="0"/>
            <a:chExt cx="1601889" cy="1601889"/>
          </a:xfrm>
        </p:grpSpPr>
        <p:sp>
          <p:nvSpPr>
            <p:cNvPr name="Freeform 25" id="25"/>
            <p:cNvSpPr/>
            <p:nvPr/>
          </p:nvSpPr>
          <p:spPr>
            <a:xfrm flipH="false" flipV="false" rot="0">
              <a:off x="0" y="0"/>
              <a:ext cx="1601978" cy="1601978"/>
            </a:xfrm>
            <a:custGeom>
              <a:avLst/>
              <a:gdLst/>
              <a:ahLst/>
              <a:cxnLst/>
              <a:rect r="r" b="b" t="t" l="l"/>
              <a:pathLst>
                <a:path h="1601978" w="1601978">
                  <a:moveTo>
                    <a:pt x="0" y="800989"/>
                  </a:moveTo>
                  <a:cubicBezTo>
                    <a:pt x="0" y="358648"/>
                    <a:pt x="358648" y="0"/>
                    <a:pt x="800989" y="0"/>
                  </a:cubicBezTo>
                  <a:cubicBezTo>
                    <a:pt x="1243330" y="0"/>
                    <a:pt x="1601978" y="358648"/>
                    <a:pt x="1601978" y="800989"/>
                  </a:cubicBezTo>
                  <a:cubicBezTo>
                    <a:pt x="1601978" y="1243330"/>
                    <a:pt x="1243330" y="1601978"/>
                    <a:pt x="800989" y="1601978"/>
                  </a:cubicBezTo>
                  <a:cubicBezTo>
                    <a:pt x="358648" y="1601978"/>
                    <a:pt x="0" y="1243330"/>
                    <a:pt x="0" y="800989"/>
                  </a:cubicBezTo>
                  <a:close/>
                </a:path>
              </a:pathLst>
            </a:custGeom>
            <a:solidFill>
              <a:srgbClr val="0A1D42"/>
            </a:solidFill>
            <a:ln w="12700" cap="sq">
              <a:solidFill>
                <a:srgbClr val="0A1D42"/>
              </a:solidFill>
              <a:prstDash val="solid"/>
              <a:miter/>
            </a:ln>
          </p:spPr>
        </p:sp>
      </p:grpSp>
      <p:grpSp>
        <p:nvGrpSpPr>
          <p:cNvPr name="Group 26" id="26"/>
          <p:cNvGrpSpPr/>
          <p:nvPr/>
        </p:nvGrpSpPr>
        <p:grpSpPr>
          <a:xfrm rot="0">
            <a:off x="1211580" y="8143875"/>
            <a:ext cx="594360" cy="594360"/>
            <a:chOff x="0" y="0"/>
            <a:chExt cx="792480" cy="792480"/>
          </a:xfrm>
        </p:grpSpPr>
        <p:sp>
          <p:nvSpPr>
            <p:cNvPr name="Freeform 27" id="27" descr="Icône Demandes tracées"/>
            <p:cNvSpPr/>
            <p:nvPr/>
          </p:nvSpPr>
          <p:spPr>
            <a:xfrm flipH="false" flipV="false" rot="0">
              <a:off x="0" y="0"/>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7"/>
              <a:stretch>
                <a:fillRect l="0" t="0" r="0" b="0"/>
              </a:stretch>
            </a:blipFill>
          </p:spPr>
        </p:sp>
      </p:grpSp>
      <p:grpSp>
        <p:nvGrpSpPr>
          <p:cNvPr name="Group 28" id="28"/>
          <p:cNvGrpSpPr/>
          <p:nvPr/>
        </p:nvGrpSpPr>
        <p:grpSpPr>
          <a:xfrm rot="0">
            <a:off x="2560320" y="7755255"/>
            <a:ext cx="6766560" cy="694944"/>
            <a:chOff x="0" y="0"/>
            <a:chExt cx="9022080" cy="926592"/>
          </a:xfrm>
        </p:grpSpPr>
        <p:sp>
          <p:nvSpPr>
            <p:cNvPr name="Freeform 29" id="29"/>
            <p:cNvSpPr/>
            <p:nvPr/>
          </p:nvSpPr>
          <p:spPr>
            <a:xfrm flipH="false" flipV="false" rot="0">
              <a:off x="0" y="0"/>
              <a:ext cx="9022080" cy="926592"/>
            </a:xfrm>
            <a:custGeom>
              <a:avLst/>
              <a:gdLst/>
              <a:ahLst/>
              <a:cxnLst/>
              <a:rect r="r" b="b" t="t" l="l"/>
              <a:pathLst>
                <a:path h="926592" w="9022080">
                  <a:moveTo>
                    <a:pt x="0" y="0"/>
                  </a:moveTo>
                  <a:lnTo>
                    <a:pt x="9022080" y="0"/>
                  </a:lnTo>
                  <a:lnTo>
                    <a:pt x="9022080" y="926592"/>
                  </a:lnTo>
                  <a:lnTo>
                    <a:pt x="0" y="926592"/>
                  </a:lnTo>
                  <a:close/>
                </a:path>
              </a:pathLst>
            </a:custGeom>
            <a:blipFill>
              <a:blip r:embed="rId4">
                <a:alphaModFix amt="0"/>
              </a:blip>
              <a:stretch>
                <a:fillRect l="0" t="-139722" r="0" b="-139722"/>
              </a:stretch>
            </a:blipFill>
          </p:spPr>
        </p:sp>
        <p:sp>
          <p:nvSpPr>
            <p:cNvPr name="TextBox 30" id="30"/>
            <p:cNvSpPr txBox="true"/>
            <p:nvPr/>
          </p:nvSpPr>
          <p:spPr>
            <a:xfrm>
              <a:off x="0" y="-66675"/>
              <a:ext cx="9022080" cy="993267"/>
            </a:xfrm>
            <a:prstGeom prst="rect">
              <a:avLst/>
            </a:prstGeom>
          </p:spPr>
          <p:txBody>
            <a:bodyPr anchor="ctr" rtlCol="false" tIns="0" lIns="0" bIns="0" rIns="0"/>
            <a:lstStyle/>
            <a:p>
              <a:pPr algn="l">
                <a:lnSpc>
                  <a:spcPts val="4079"/>
                </a:lnSpc>
              </a:pPr>
              <a:r>
                <a:rPr lang="en-US" sz="3399" b="true">
                  <a:solidFill>
                    <a:srgbClr val="0A1D42"/>
                  </a:solidFill>
                  <a:latin typeface="Calibri (MS) Bold"/>
                  <a:ea typeface="Calibri (MS) Bold"/>
                  <a:cs typeface="Calibri (MS) Bold"/>
                  <a:sym typeface="Calibri (MS) Bold"/>
                </a:rPr>
                <a:t>Demandes tracées</a:t>
              </a:r>
            </a:p>
          </p:txBody>
        </p:sp>
      </p:grpSp>
      <p:sp>
        <p:nvSpPr>
          <p:cNvPr name="TextBox 31" id="31"/>
          <p:cNvSpPr txBox="true"/>
          <p:nvPr/>
        </p:nvSpPr>
        <p:spPr>
          <a:xfrm rot="0">
            <a:off x="2560320" y="8420100"/>
            <a:ext cx="6766560" cy="1255395"/>
          </a:xfrm>
          <a:prstGeom prst="rect">
            <a:avLst/>
          </a:prstGeom>
        </p:spPr>
        <p:txBody>
          <a:bodyPr anchor="t" rtlCol="false" tIns="0" lIns="0" bIns="0" rIns="0">
            <a:spAutoFit/>
          </a:bodyPr>
          <a:lstStyle/>
          <a:p>
            <a:pPr algn="l">
              <a:lnSpc>
                <a:spcPts val="3359"/>
              </a:lnSpc>
            </a:pPr>
            <a:r>
              <a:rPr lang="en-US" sz="2799">
                <a:solidFill>
                  <a:srgbClr val="0A1D42"/>
                </a:solidFill>
                <a:latin typeface="Calibri (MS)"/>
                <a:ea typeface="Calibri (MS)"/>
                <a:cs typeface="Calibri (MS)"/>
                <a:sym typeface="Calibri (MS)"/>
              </a:rPr>
              <a:t>Chaque demande est validée, datée et référencée.</a:t>
            </a:r>
          </a:p>
        </p:txBody>
      </p:sp>
      <p:grpSp>
        <p:nvGrpSpPr>
          <p:cNvPr name="Group 32" id="32"/>
          <p:cNvGrpSpPr/>
          <p:nvPr/>
        </p:nvGrpSpPr>
        <p:grpSpPr>
          <a:xfrm rot="0">
            <a:off x="9137647" y="3451222"/>
            <a:ext cx="1201417" cy="1201417"/>
            <a:chOff x="0" y="0"/>
            <a:chExt cx="1601889" cy="1601889"/>
          </a:xfrm>
        </p:grpSpPr>
        <p:sp>
          <p:nvSpPr>
            <p:cNvPr name="Freeform 33" id="33"/>
            <p:cNvSpPr/>
            <p:nvPr/>
          </p:nvSpPr>
          <p:spPr>
            <a:xfrm flipH="false" flipV="false" rot="0">
              <a:off x="0" y="0"/>
              <a:ext cx="1601978" cy="1601978"/>
            </a:xfrm>
            <a:custGeom>
              <a:avLst/>
              <a:gdLst/>
              <a:ahLst/>
              <a:cxnLst/>
              <a:rect r="r" b="b" t="t" l="l"/>
              <a:pathLst>
                <a:path h="1601978" w="1601978">
                  <a:moveTo>
                    <a:pt x="0" y="800989"/>
                  </a:moveTo>
                  <a:cubicBezTo>
                    <a:pt x="0" y="358648"/>
                    <a:pt x="358648" y="0"/>
                    <a:pt x="800989" y="0"/>
                  </a:cubicBezTo>
                  <a:cubicBezTo>
                    <a:pt x="1243330" y="0"/>
                    <a:pt x="1601978" y="358648"/>
                    <a:pt x="1601978" y="800989"/>
                  </a:cubicBezTo>
                  <a:cubicBezTo>
                    <a:pt x="1601978" y="1243330"/>
                    <a:pt x="1243330" y="1601978"/>
                    <a:pt x="800989" y="1601978"/>
                  </a:cubicBezTo>
                  <a:cubicBezTo>
                    <a:pt x="358648" y="1601978"/>
                    <a:pt x="0" y="1243330"/>
                    <a:pt x="0" y="800989"/>
                  </a:cubicBezTo>
                  <a:close/>
                </a:path>
              </a:pathLst>
            </a:custGeom>
            <a:solidFill>
              <a:srgbClr val="0A1D42"/>
            </a:solidFill>
            <a:ln w="12700" cap="sq">
              <a:solidFill>
                <a:srgbClr val="0A1D42"/>
              </a:solidFill>
              <a:prstDash val="solid"/>
              <a:miter/>
            </a:ln>
          </p:spPr>
        </p:sp>
      </p:grpSp>
      <p:grpSp>
        <p:nvGrpSpPr>
          <p:cNvPr name="Group 34" id="34"/>
          <p:cNvGrpSpPr/>
          <p:nvPr/>
        </p:nvGrpSpPr>
        <p:grpSpPr>
          <a:xfrm rot="0">
            <a:off x="9441180" y="3754755"/>
            <a:ext cx="594360" cy="594360"/>
            <a:chOff x="0" y="0"/>
            <a:chExt cx="792480" cy="792480"/>
          </a:xfrm>
        </p:grpSpPr>
        <p:sp>
          <p:nvSpPr>
            <p:cNvPr name="Freeform 35" id="35" descr="Icône Tableau de bord"/>
            <p:cNvSpPr/>
            <p:nvPr/>
          </p:nvSpPr>
          <p:spPr>
            <a:xfrm flipH="false" flipV="false" rot="0">
              <a:off x="0" y="0"/>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8"/>
              <a:stretch>
                <a:fillRect l="0" t="0" r="0" b="0"/>
              </a:stretch>
            </a:blipFill>
          </p:spPr>
        </p:sp>
      </p:grpSp>
      <p:grpSp>
        <p:nvGrpSpPr>
          <p:cNvPr name="Group 36" id="36"/>
          <p:cNvGrpSpPr/>
          <p:nvPr/>
        </p:nvGrpSpPr>
        <p:grpSpPr>
          <a:xfrm rot="0">
            <a:off x="10789920" y="3366135"/>
            <a:ext cx="6583680" cy="694944"/>
            <a:chOff x="0" y="0"/>
            <a:chExt cx="8778240" cy="926592"/>
          </a:xfrm>
        </p:grpSpPr>
        <p:sp>
          <p:nvSpPr>
            <p:cNvPr name="Freeform 37" id="37"/>
            <p:cNvSpPr/>
            <p:nvPr/>
          </p:nvSpPr>
          <p:spPr>
            <a:xfrm flipH="false" flipV="false" rot="0">
              <a:off x="0" y="0"/>
              <a:ext cx="8778240" cy="926592"/>
            </a:xfrm>
            <a:custGeom>
              <a:avLst/>
              <a:gdLst/>
              <a:ahLst/>
              <a:cxnLst/>
              <a:rect r="r" b="b" t="t" l="l"/>
              <a:pathLst>
                <a:path h="926592" w="8778240">
                  <a:moveTo>
                    <a:pt x="0" y="0"/>
                  </a:moveTo>
                  <a:lnTo>
                    <a:pt x="8778240" y="0"/>
                  </a:lnTo>
                  <a:lnTo>
                    <a:pt x="8778240" y="926592"/>
                  </a:lnTo>
                  <a:lnTo>
                    <a:pt x="0" y="926592"/>
                  </a:lnTo>
                  <a:close/>
                </a:path>
              </a:pathLst>
            </a:custGeom>
            <a:blipFill>
              <a:blip r:embed="rId4">
                <a:alphaModFix amt="0"/>
              </a:blip>
              <a:stretch>
                <a:fillRect l="0" t="-134595" r="0" b="-134595"/>
              </a:stretch>
            </a:blipFill>
          </p:spPr>
        </p:sp>
        <p:sp>
          <p:nvSpPr>
            <p:cNvPr name="TextBox 38" id="38"/>
            <p:cNvSpPr txBox="true"/>
            <p:nvPr/>
          </p:nvSpPr>
          <p:spPr>
            <a:xfrm>
              <a:off x="0" y="-66675"/>
              <a:ext cx="8778240" cy="993267"/>
            </a:xfrm>
            <a:prstGeom prst="rect">
              <a:avLst/>
            </a:prstGeom>
          </p:spPr>
          <p:txBody>
            <a:bodyPr anchor="ctr" rtlCol="false" tIns="0" lIns="0" bIns="0" rIns="0"/>
            <a:lstStyle/>
            <a:p>
              <a:pPr algn="l">
                <a:lnSpc>
                  <a:spcPts val="4079"/>
                </a:lnSpc>
              </a:pPr>
              <a:r>
                <a:rPr lang="en-US" sz="3399" b="true">
                  <a:solidFill>
                    <a:srgbClr val="0A1D42"/>
                  </a:solidFill>
                  <a:latin typeface="Calibri (MS) Bold"/>
                  <a:ea typeface="Calibri (MS) Bold"/>
                  <a:cs typeface="Calibri (MS) Bold"/>
                  <a:sym typeface="Calibri (MS) Bold"/>
                </a:rPr>
                <a:t>Tableau de bord</a:t>
              </a:r>
            </a:p>
          </p:txBody>
        </p:sp>
      </p:grpSp>
      <p:sp>
        <p:nvSpPr>
          <p:cNvPr name="TextBox 39" id="39"/>
          <p:cNvSpPr txBox="true"/>
          <p:nvPr/>
        </p:nvSpPr>
        <p:spPr>
          <a:xfrm rot="0">
            <a:off x="10789920" y="4030980"/>
            <a:ext cx="6583680" cy="1255395"/>
          </a:xfrm>
          <a:prstGeom prst="rect">
            <a:avLst/>
          </a:prstGeom>
        </p:spPr>
        <p:txBody>
          <a:bodyPr anchor="t" rtlCol="false" tIns="0" lIns="0" bIns="0" rIns="0">
            <a:spAutoFit/>
          </a:bodyPr>
          <a:lstStyle/>
          <a:p>
            <a:pPr algn="l">
              <a:lnSpc>
                <a:spcPts val="3359"/>
              </a:lnSpc>
            </a:pPr>
            <a:r>
              <a:rPr lang="en-US" sz="2799">
                <a:solidFill>
                  <a:srgbClr val="0A1D42"/>
                </a:solidFill>
                <a:latin typeface="Calibri (MS)"/>
                <a:ea typeface="Calibri (MS)"/>
                <a:cs typeface="Calibri (MS)"/>
                <a:sym typeface="Calibri (MS)"/>
              </a:rPr>
              <a:t>Vue d'ensemble des dossiers à traiter.</a:t>
            </a:r>
          </a:p>
        </p:txBody>
      </p:sp>
      <p:grpSp>
        <p:nvGrpSpPr>
          <p:cNvPr name="Group 40" id="40"/>
          <p:cNvGrpSpPr/>
          <p:nvPr/>
        </p:nvGrpSpPr>
        <p:grpSpPr>
          <a:xfrm rot="0">
            <a:off x="9137647" y="5645782"/>
            <a:ext cx="1201417" cy="1201417"/>
            <a:chOff x="0" y="0"/>
            <a:chExt cx="1601889" cy="1601889"/>
          </a:xfrm>
        </p:grpSpPr>
        <p:sp>
          <p:nvSpPr>
            <p:cNvPr name="Freeform 41" id="41"/>
            <p:cNvSpPr/>
            <p:nvPr/>
          </p:nvSpPr>
          <p:spPr>
            <a:xfrm flipH="false" flipV="false" rot="0">
              <a:off x="0" y="0"/>
              <a:ext cx="1601978" cy="1601978"/>
            </a:xfrm>
            <a:custGeom>
              <a:avLst/>
              <a:gdLst/>
              <a:ahLst/>
              <a:cxnLst/>
              <a:rect r="r" b="b" t="t" l="l"/>
              <a:pathLst>
                <a:path h="1601978" w="1601978">
                  <a:moveTo>
                    <a:pt x="0" y="800989"/>
                  </a:moveTo>
                  <a:cubicBezTo>
                    <a:pt x="0" y="358648"/>
                    <a:pt x="358648" y="0"/>
                    <a:pt x="800989" y="0"/>
                  </a:cubicBezTo>
                  <a:cubicBezTo>
                    <a:pt x="1243330" y="0"/>
                    <a:pt x="1601978" y="358648"/>
                    <a:pt x="1601978" y="800989"/>
                  </a:cubicBezTo>
                  <a:cubicBezTo>
                    <a:pt x="1601978" y="1243330"/>
                    <a:pt x="1243330" y="1601978"/>
                    <a:pt x="800989" y="1601978"/>
                  </a:cubicBezTo>
                  <a:cubicBezTo>
                    <a:pt x="358648" y="1601978"/>
                    <a:pt x="0" y="1243330"/>
                    <a:pt x="0" y="800989"/>
                  </a:cubicBezTo>
                  <a:close/>
                </a:path>
              </a:pathLst>
            </a:custGeom>
            <a:solidFill>
              <a:srgbClr val="0A1D42"/>
            </a:solidFill>
            <a:ln w="12700" cap="sq">
              <a:solidFill>
                <a:srgbClr val="0A1D42"/>
              </a:solidFill>
              <a:prstDash val="solid"/>
              <a:miter/>
            </a:ln>
          </p:spPr>
        </p:sp>
      </p:grpSp>
      <p:grpSp>
        <p:nvGrpSpPr>
          <p:cNvPr name="Group 42" id="42"/>
          <p:cNvGrpSpPr/>
          <p:nvPr/>
        </p:nvGrpSpPr>
        <p:grpSpPr>
          <a:xfrm rot="0">
            <a:off x="9441180" y="5949315"/>
            <a:ext cx="594360" cy="594360"/>
            <a:chOff x="0" y="0"/>
            <a:chExt cx="792480" cy="792480"/>
          </a:xfrm>
        </p:grpSpPr>
        <p:sp>
          <p:nvSpPr>
            <p:cNvPr name="Freeform 43" id="43" descr="Icône Fiche client unifiée"/>
            <p:cNvSpPr/>
            <p:nvPr/>
          </p:nvSpPr>
          <p:spPr>
            <a:xfrm flipH="false" flipV="false" rot="0">
              <a:off x="0" y="0"/>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9"/>
              <a:stretch>
                <a:fillRect l="0" t="0" r="0" b="0"/>
              </a:stretch>
            </a:blipFill>
          </p:spPr>
        </p:sp>
      </p:grpSp>
      <p:grpSp>
        <p:nvGrpSpPr>
          <p:cNvPr name="Group 44" id="44"/>
          <p:cNvGrpSpPr/>
          <p:nvPr/>
        </p:nvGrpSpPr>
        <p:grpSpPr>
          <a:xfrm rot="0">
            <a:off x="10789920" y="5560695"/>
            <a:ext cx="6583680" cy="694944"/>
            <a:chOff x="0" y="0"/>
            <a:chExt cx="8778240" cy="926592"/>
          </a:xfrm>
        </p:grpSpPr>
        <p:sp>
          <p:nvSpPr>
            <p:cNvPr name="Freeform 45" id="45"/>
            <p:cNvSpPr/>
            <p:nvPr/>
          </p:nvSpPr>
          <p:spPr>
            <a:xfrm flipH="false" flipV="false" rot="0">
              <a:off x="0" y="0"/>
              <a:ext cx="8778240" cy="926592"/>
            </a:xfrm>
            <a:custGeom>
              <a:avLst/>
              <a:gdLst/>
              <a:ahLst/>
              <a:cxnLst/>
              <a:rect r="r" b="b" t="t" l="l"/>
              <a:pathLst>
                <a:path h="926592" w="8778240">
                  <a:moveTo>
                    <a:pt x="0" y="0"/>
                  </a:moveTo>
                  <a:lnTo>
                    <a:pt x="8778240" y="0"/>
                  </a:lnTo>
                  <a:lnTo>
                    <a:pt x="8778240" y="926592"/>
                  </a:lnTo>
                  <a:lnTo>
                    <a:pt x="0" y="926592"/>
                  </a:lnTo>
                  <a:close/>
                </a:path>
              </a:pathLst>
            </a:custGeom>
            <a:blipFill>
              <a:blip r:embed="rId4">
                <a:alphaModFix amt="0"/>
              </a:blip>
              <a:stretch>
                <a:fillRect l="0" t="-134595" r="0" b="-134595"/>
              </a:stretch>
            </a:blipFill>
          </p:spPr>
        </p:sp>
        <p:sp>
          <p:nvSpPr>
            <p:cNvPr name="TextBox 46" id="46"/>
            <p:cNvSpPr txBox="true"/>
            <p:nvPr/>
          </p:nvSpPr>
          <p:spPr>
            <a:xfrm>
              <a:off x="0" y="-66675"/>
              <a:ext cx="8778240" cy="993267"/>
            </a:xfrm>
            <a:prstGeom prst="rect">
              <a:avLst/>
            </a:prstGeom>
          </p:spPr>
          <p:txBody>
            <a:bodyPr anchor="ctr" rtlCol="false" tIns="0" lIns="0" bIns="0" rIns="0"/>
            <a:lstStyle/>
            <a:p>
              <a:pPr algn="l">
                <a:lnSpc>
                  <a:spcPts val="4079"/>
                </a:lnSpc>
              </a:pPr>
              <a:r>
                <a:rPr lang="en-US" sz="3399" b="true">
                  <a:solidFill>
                    <a:srgbClr val="0A1D42"/>
                  </a:solidFill>
                  <a:latin typeface="Calibri (MS) Bold"/>
                  <a:ea typeface="Calibri (MS) Bold"/>
                  <a:cs typeface="Calibri (MS) Bold"/>
                  <a:sym typeface="Calibri (MS) Bold"/>
                </a:rPr>
                <a:t>Fiche client unifiée</a:t>
              </a:r>
            </a:p>
          </p:txBody>
        </p:sp>
      </p:grpSp>
      <p:sp>
        <p:nvSpPr>
          <p:cNvPr name="TextBox 47" id="47"/>
          <p:cNvSpPr txBox="true"/>
          <p:nvPr/>
        </p:nvSpPr>
        <p:spPr>
          <a:xfrm rot="0">
            <a:off x="10789920" y="6225540"/>
            <a:ext cx="6583680" cy="1255395"/>
          </a:xfrm>
          <a:prstGeom prst="rect">
            <a:avLst/>
          </a:prstGeom>
        </p:spPr>
        <p:txBody>
          <a:bodyPr anchor="t" rtlCol="false" tIns="0" lIns="0" bIns="0" rIns="0">
            <a:spAutoFit/>
          </a:bodyPr>
          <a:lstStyle/>
          <a:p>
            <a:pPr algn="l">
              <a:lnSpc>
                <a:spcPts val="3359"/>
              </a:lnSpc>
            </a:pPr>
            <a:r>
              <a:rPr lang="en-US" sz="2799">
                <a:solidFill>
                  <a:srgbClr val="0A1D42"/>
                </a:solidFill>
                <a:latin typeface="Calibri (MS)"/>
                <a:ea typeface="Calibri (MS)"/>
                <a:cs typeface="Calibri (MS)"/>
                <a:sym typeface="Calibri (MS)"/>
              </a:rPr>
              <a:t>Tout l'historique, rapproché par téléphone ou email.</a:t>
            </a:r>
          </a:p>
        </p:txBody>
      </p:sp>
      <p:grpSp>
        <p:nvGrpSpPr>
          <p:cNvPr name="Group 48" id="48"/>
          <p:cNvGrpSpPr/>
          <p:nvPr/>
        </p:nvGrpSpPr>
        <p:grpSpPr>
          <a:xfrm rot="0">
            <a:off x="9137647" y="7840342"/>
            <a:ext cx="1201417" cy="1201417"/>
            <a:chOff x="0" y="0"/>
            <a:chExt cx="1601889" cy="1601889"/>
          </a:xfrm>
        </p:grpSpPr>
        <p:sp>
          <p:nvSpPr>
            <p:cNvPr name="Freeform 49" id="49"/>
            <p:cNvSpPr/>
            <p:nvPr/>
          </p:nvSpPr>
          <p:spPr>
            <a:xfrm flipH="false" flipV="false" rot="0">
              <a:off x="0" y="0"/>
              <a:ext cx="1601978" cy="1601978"/>
            </a:xfrm>
            <a:custGeom>
              <a:avLst/>
              <a:gdLst/>
              <a:ahLst/>
              <a:cxnLst/>
              <a:rect r="r" b="b" t="t" l="l"/>
              <a:pathLst>
                <a:path h="1601978" w="1601978">
                  <a:moveTo>
                    <a:pt x="0" y="800989"/>
                  </a:moveTo>
                  <a:cubicBezTo>
                    <a:pt x="0" y="358648"/>
                    <a:pt x="358648" y="0"/>
                    <a:pt x="800989" y="0"/>
                  </a:cubicBezTo>
                  <a:cubicBezTo>
                    <a:pt x="1243330" y="0"/>
                    <a:pt x="1601978" y="358648"/>
                    <a:pt x="1601978" y="800989"/>
                  </a:cubicBezTo>
                  <a:cubicBezTo>
                    <a:pt x="1601978" y="1243330"/>
                    <a:pt x="1243330" y="1601978"/>
                    <a:pt x="800989" y="1601978"/>
                  </a:cubicBezTo>
                  <a:cubicBezTo>
                    <a:pt x="358648" y="1601978"/>
                    <a:pt x="0" y="1243330"/>
                    <a:pt x="0" y="800989"/>
                  </a:cubicBezTo>
                  <a:close/>
                </a:path>
              </a:pathLst>
            </a:custGeom>
            <a:solidFill>
              <a:srgbClr val="0A1D42"/>
            </a:solidFill>
            <a:ln w="12700" cap="sq">
              <a:solidFill>
                <a:srgbClr val="0A1D42"/>
              </a:solidFill>
              <a:prstDash val="solid"/>
              <a:miter/>
            </a:ln>
          </p:spPr>
        </p:sp>
      </p:grpSp>
      <p:grpSp>
        <p:nvGrpSpPr>
          <p:cNvPr name="Group 50" id="50"/>
          <p:cNvGrpSpPr/>
          <p:nvPr/>
        </p:nvGrpSpPr>
        <p:grpSpPr>
          <a:xfrm rot="0">
            <a:off x="9441180" y="8143875"/>
            <a:ext cx="594360" cy="594360"/>
            <a:chOff x="0" y="0"/>
            <a:chExt cx="792480" cy="792480"/>
          </a:xfrm>
        </p:grpSpPr>
        <p:sp>
          <p:nvSpPr>
            <p:cNvPr name="Freeform 51" id="51" descr="Icône Dossiers vendeurs"/>
            <p:cNvSpPr/>
            <p:nvPr/>
          </p:nvSpPr>
          <p:spPr>
            <a:xfrm flipH="false" flipV="false" rot="0">
              <a:off x="0" y="0"/>
              <a:ext cx="792480" cy="792480"/>
            </a:xfrm>
            <a:custGeom>
              <a:avLst/>
              <a:gdLst/>
              <a:ahLst/>
              <a:cxnLst/>
              <a:rect r="r" b="b" t="t" l="l"/>
              <a:pathLst>
                <a:path h="792480" w="792480">
                  <a:moveTo>
                    <a:pt x="0" y="0"/>
                  </a:moveTo>
                  <a:lnTo>
                    <a:pt x="792480" y="0"/>
                  </a:lnTo>
                  <a:lnTo>
                    <a:pt x="792480" y="792480"/>
                  </a:lnTo>
                  <a:lnTo>
                    <a:pt x="0" y="792480"/>
                  </a:lnTo>
                  <a:lnTo>
                    <a:pt x="0" y="0"/>
                  </a:lnTo>
                  <a:close/>
                </a:path>
              </a:pathLst>
            </a:custGeom>
            <a:blipFill>
              <a:blip r:embed="rId10"/>
              <a:stretch>
                <a:fillRect l="0" t="0" r="0" b="0"/>
              </a:stretch>
            </a:blipFill>
          </p:spPr>
        </p:sp>
      </p:grpSp>
      <p:grpSp>
        <p:nvGrpSpPr>
          <p:cNvPr name="Group 52" id="52"/>
          <p:cNvGrpSpPr/>
          <p:nvPr/>
        </p:nvGrpSpPr>
        <p:grpSpPr>
          <a:xfrm rot="0">
            <a:off x="10789920" y="7755255"/>
            <a:ext cx="6583680" cy="694944"/>
            <a:chOff x="0" y="0"/>
            <a:chExt cx="8778240" cy="926592"/>
          </a:xfrm>
        </p:grpSpPr>
        <p:sp>
          <p:nvSpPr>
            <p:cNvPr name="Freeform 53" id="53"/>
            <p:cNvSpPr/>
            <p:nvPr/>
          </p:nvSpPr>
          <p:spPr>
            <a:xfrm flipH="false" flipV="false" rot="0">
              <a:off x="0" y="0"/>
              <a:ext cx="8778240" cy="926592"/>
            </a:xfrm>
            <a:custGeom>
              <a:avLst/>
              <a:gdLst/>
              <a:ahLst/>
              <a:cxnLst/>
              <a:rect r="r" b="b" t="t" l="l"/>
              <a:pathLst>
                <a:path h="926592" w="8778240">
                  <a:moveTo>
                    <a:pt x="0" y="0"/>
                  </a:moveTo>
                  <a:lnTo>
                    <a:pt x="8778240" y="0"/>
                  </a:lnTo>
                  <a:lnTo>
                    <a:pt x="8778240" y="926592"/>
                  </a:lnTo>
                  <a:lnTo>
                    <a:pt x="0" y="926592"/>
                  </a:lnTo>
                  <a:close/>
                </a:path>
              </a:pathLst>
            </a:custGeom>
            <a:blipFill>
              <a:blip r:embed="rId4">
                <a:alphaModFix amt="0"/>
              </a:blip>
              <a:stretch>
                <a:fillRect l="0" t="-134595" r="0" b="-134595"/>
              </a:stretch>
            </a:blipFill>
          </p:spPr>
        </p:sp>
        <p:sp>
          <p:nvSpPr>
            <p:cNvPr name="TextBox 54" id="54"/>
            <p:cNvSpPr txBox="true"/>
            <p:nvPr/>
          </p:nvSpPr>
          <p:spPr>
            <a:xfrm>
              <a:off x="0" y="-66675"/>
              <a:ext cx="8778240" cy="993267"/>
            </a:xfrm>
            <a:prstGeom prst="rect">
              <a:avLst/>
            </a:prstGeom>
          </p:spPr>
          <p:txBody>
            <a:bodyPr anchor="ctr" rtlCol="false" tIns="0" lIns="0" bIns="0" rIns="0"/>
            <a:lstStyle/>
            <a:p>
              <a:pPr algn="l">
                <a:lnSpc>
                  <a:spcPts val="4079"/>
                </a:lnSpc>
              </a:pPr>
              <a:r>
                <a:rPr lang="en-US" sz="3399" b="true">
                  <a:solidFill>
                    <a:srgbClr val="0A1D42"/>
                  </a:solidFill>
                  <a:latin typeface="Calibri (MS) Bold"/>
                  <a:ea typeface="Calibri (MS) Bold"/>
                  <a:cs typeface="Calibri (MS) Bold"/>
                  <a:sym typeface="Calibri (MS) Bold"/>
                </a:rPr>
                <a:t>Dossiers vendeurs</a:t>
              </a:r>
            </a:p>
          </p:txBody>
        </p:sp>
      </p:grpSp>
      <p:sp>
        <p:nvSpPr>
          <p:cNvPr name="TextBox 55" id="55"/>
          <p:cNvSpPr txBox="true"/>
          <p:nvPr/>
        </p:nvSpPr>
        <p:spPr>
          <a:xfrm rot="0">
            <a:off x="10789920" y="8420100"/>
            <a:ext cx="6583680" cy="1255395"/>
          </a:xfrm>
          <a:prstGeom prst="rect">
            <a:avLst/>
          </a:prstGeom>
        </p:spPr>
        <p:txBody>
          <a:bodyPr anchor="t" rtlCol="false" tIns="0" lIns="0" bIns="0" rIns="0">
            <a:spAutoFit/>
          </a:bodyPr>
          <a:lstStyle/>
          <a:p>
            <a:pPr algn="l">
              <a:lnSpc>
                <a:spcPts val="3359"/>
              </a:lnSpc>
            </a:pPr>
            <a:r>
              <a:rPr lang="en-US" sz="2799">
                <a:solidFill>
                  <a:srgbClr val="0A1D42"/>
                </a:solidFill>
                <a:latin typeface="Calibri (MS)"/>
                <a:ea typeface="Calibri (MS)"/>
                <a:cs typeface="Calibri (MS)"/>
                <a:sym typeface="Calibri (MS)"/>
              </a:rPr>
              <a:t>Documents privés, validation avant toute publication.</a:t>
            </a:r>
          </a:p>
        </p:txBody>
      </p:sp>
      <p:grpSp>
        <p:nvGrpSpPr>
          <p:cNvPr name="Group 56" id="56"/>
          <p:cNvGrpSpPr/>
          <p:nvPr/>
        </p:nvGrpSpPr>
        <p:grpSpPr>
          <a:xfrm rot="0">
            <a:off x="1028700" y="1956054"/>
            <a:ext cx="3969032" cy="1133856"/>
            <a:chOff x="0" y="0"/>
            <a:chExt cx="5292042" cy="1511808"/>
          </a:xfrm>
        </p:grpSpPr>
        <p:sp>
          <p:nvSpPr>
            <p:cNvPr name="Freeform 57" id="57"/>
            <p:cNvSpPr/>
            <p:nvPr/>
          </p:nvSpPr>
          <p:spPr>
            <a:xfrm flipH="false" flipV="false" rot="0">
              <a:off x="0" y="0"/>
              <a:ext cx="5292042" cy="1511808"/>
            </a:xfrm>
            <a:custGeom>
              <a:avLst/>
              <a:gdLst/>
              <a:ahLst/>
              <a:cxnLst/>
              <a:rect r="r" b="b" t="t" l="l"/>
              <a:pathLst>
                <a:path h="1511808" w="5292042">
                  <a:moveTo>
                    <a:pt x="0" y="0"/>
                  </a:moveTo>
                  <a:lnTo>
                    <a:pt x="5292042" y="0"/>
                  </a:lnTo>
                  <a:lnTo>
                    <a:pt x="5292042" y="1511808"/>
                  </a:lnTo>
                  <a:lnTo>
                    <a:pt x="0" y="1511808"/>
                  </a:lnTo>
                  <a:close/>
                </a:path>
              </a:pathLst>
            </a:custGeom>
            <a:blipFill>
              <a:blip r:embed="rId4">
                <a:alphaModFix amt="0"/>
              </a:blip>
              <a:stretch>
                <a:fillRect l="0" t="-207705" r="-277829" b="-207705"/>
              </a:stretch>
            </a:blipFill>
          </p:spPr>
        </p:sp>
        <p:sp>
          <p:nvSpPr>
            <p:cNvPr name="TextBox 58" id="58"/>
            <p:cNvSpPr txBox="true"/>
            <p:nvPr/>
          </p:nvSpPr>
          <p:spPr>
            <a:xfrm>
              <a:off x="0" y="-19050"/>
              <a:ext cx="5292042"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SITE PUBLIC</a:t>
              </a:r>
            </a:p>
          </p:txBody>
        </p:sp>
      </p:grpSp>
      <p:grpSp>
        <p:nvGrpSpPr>
          <p:cNvPr name="Group 59" id="59"/>
          <p:cNvGrpSpPr/>
          <p:nvPr/>
        </p:nvGrpSpPr>
        <p:grpSpPr>
          <a:xfrm rot="0">
            <a:off x="9608852" y="2009851"/>
            <a:ext cx="5420689" cy="1133856"/>
            <a:chOff x="0" y="0"/>
            <a:chExt cx="7227586" cy="1511808"/>
          </a:xfrm>
        </p:grpSpPr>
        <p:sp>
          <p:nvSpPr>
            <p:cNvPr name="Freeform 60" id="60"/>
            <p:cNvSpPr/>
            <p:nvPr/>
          </p:nvSpPr>
          <p:spPr>
            <a:xfrm flipH="false" flipV="false" rot="0">
              <a:off x="0" y="0"/>
              <a:ext cx="7227586" cy="1511808"/>
            </a:xfrm>
            <a:custGeom>
              <a:avLst/>
              <a:gdLst/>
              <a:ahLst/>
              <a:cxnLst/>
              <a:rect r="r" b="b" t="t" l="l"/>
              <a:pathLst>
                <a:path h="1511808" w="7227586">
                  <a:moveTo>
                    <a:pt x="0" y="0"/>
                  </a:moveTo>
                  <a:lnTo>
                    <a:pt x="7227586" y="0"/>
                  </a:lnTo>
                  <a:lnTo>
                    <a:pt x="7227586" y="1511808"/>
                  </a:lnTo>
                  <a:lnTo>
                    <a:pt x="0" y="1511808"/>
                  </a:lnTo>
                  <a:close/>
                </a:path>
              </a:pathLst>
            </a:custGeom>
            <a:blipFill>
              <a:blip r:embed="rId4">
                <a:alphaModFix amt="0"/>
              </a:blip>
              <a:stretch>
                <a:fillRect l="0" t="-207705" r="-176646" b="-207705"/>
              </a:stretch>
            </a:blipFill>
          </p:spPr>
        </p:sp>
        <p:sp>
          <p:nvSpPr>
            <p:cNvPr name="TextBox 61" id="61"/>
            <p:cNvSpPr txBox="true"/>
            <p:nvPr/>
          </p:nvSpPr>
          <p:spPr>
            <a:xfrm>
              <a:off x="0" y="-19050"/>
              <a:ext cx="7227586"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ESPACE ADMIN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7145000" y="0"/>
            <a:ext cx="1143000" cy="1751990"/>
            <a:chOff x="0" y="0"/>
            <a:chExt cx="1524000" cy="2335987"/>
          </a:xfrm>
        </p:grpSpPr>
        <p:sp>
          <p:nvSpPr>
            <p:cNvPr name="Freeform 3" id="3" descr="assets/blob_tr.png"/>
            <p:cNvSpPr/>
            <p:nvPr/>
          </p:nvSpPr>
          <p:spPr>
            <a:xfrm flipH="false" flipV="false" rot="0">
              <a:off x="0" y="0"/>
              <a:ext cx="1524000" cy="2336038"/>
            </a:xfrm>
            <a:custGeom>
              <a:avLst/>
              <a:gdLst/>
              <a:ahLst/>
              <a:cxnLst/>
              <a:rect r="r" b="b" t="t" l="l"/>
              <a:pathLst>
                <a:path h="2336038" w="1524000">
                  <a:moveTo>
                    <a:pt x="0" y="0"/>
                  </a:moveTo>
                  <a:lnTo>
                    <a:pt x="1524000" y="0"/>
                  </a:lnTo>
                  <a:lnTo>
                    <a:pt x="1524000" y="2336038"/>
                  </a:lnTo>
                  <a:lnTo>
                    <a:pt x="0" y="2336038"/>
                  </a:lnTo>
                  <a:lnTo>
                    <a:pt x="0" y="0"/>
                  </a:lnTo>
                  <a:close/>
                </a:path>
              </a:pathLst>
            </a:custGeom>
            <a:blipFill>
              <a:blip r:embed="rId3"/>
              <a:stretch>
                <a:fillRect l="-25" t="0" r="-26" b="2"/>
              </a:stretch>
            </a:blipFill>
          </p:spPr>
        </p:sp>
      </p:grpSp>
      <p:grpSp>
        <p:nvGrpSpPr>
          <p:cNvPr name="Group 4" id="4"/>
          <p:cNvGrpSpPr/>
          <p:nvPr/>
        </p:nvGrpSpPr>
        <p:grpSpPr>
          <a:xfrm rot="0">
            <a:off x="914400" y="1097280"/>
            <a:ext cx="14996160" cy="1133856"/>
            <a:chOff x="0" y="0"/>
            <a:chExt cx="19994880" cy="1511808"/>
          </a:xfrm>
        </p:grpSpPr>
        <p:sp>
          <p:nvSpPr>
            <p:cNvPr name="Freeform 5" id="5"/>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4">
                <a:alphaModFix amt="0"/>
              </a:blip>
              <a:stretch>
                <a:fillRect l="0" t="-207705" r="0" b="-207705"/>
              </a:stretch>
            </a:blipFill>
          </p:spPr>
        </p:sp>
        <p:sp>
          <p:nvSpPr>
            <p:cNvPr name="TextBox 6" id="6"/>
            <p:cNvSpPr txBox="true"/>
            <p:nvPr/>
          </p:nvSpPr>
          <p:spPr>
            <a:xfrm>
              <a:off x="0" y="-19050"/>
              <a:ext cx="19994880"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RÉSULTATS</a:t>
              </a:r>
            </a:p>
          </p:txBody>
        </p:sp>
      </p:grpSp>
      <p:grpSp>
        <p:nvGrpSpPr>
          <p:cNvPr name="Group 7" id="7"/>
          <p:cNvGrpSpPr/>
          <p:nvPr/>
        </p:nvGrpSpPr>
        <p:grpSpPr>
          <a:xfrm rot="0">
            <a:off x="914400" y="2377440"/>
            <a:ext cx="5120640" cy="2286000"/>
            <a:chOff x="0" y="0"/>
            <a:chExt cx="6827520" cy="3048000"/>
          </a:xfrm>
        </p:grpSpPr>
        <p:sp>
          <p:nvSpPr>
            <p:cNvPr name="Freeform 8" id="8"/>
            <p:cNvSpPr/>
            <p:nvPr/>
          </p:nvSpPr>
          <p:spPr>
            <a:xfrm flipH="false" flipV="false" rot="0">
              <a:off x="0" y="0"/>
              <a:ext cx="6827520" cy="3048000"/>
            </a:xfrm>
            <a:custGeom>
              <a:avLst/>
              <a:gdLst/>
              <a:ahLst/>
              <a:cxnLst/>
              <a:rect r="r" b="b" t="t" l="l"/>
              <a:pathLst>
                <a:path h="3048000" w="6827520">
                  <a:moveTo>
                    <a:pt x="0" y="213360"/>
                  </a:moveTo>
                  <a:cubicBezTo>
                    <a:pt x="0" y="95504"/>
                    <a:pt x="95504" y="0"/>
                    <a:pt x="213360" y="0"/>
                  </a:cubicBezTo>
                  <a:lnTo>
                    <a:pt x="6614160" y="0"/>
                  </a:lnTo>
                  <a:cubicBezTo>
                    <a:pt x="6732016" y="0"/>
                    <a:pt x="6827520" y="95504"/>
                    <a:pt x="6827520" y="213360"/>
                  </a:cubicBezTo>
                  <a:lnTo>
                    <a:pt x="6827520" y="2834640"/>
                  </a:lnTo>
                  <a:cubicBezTo>
                    <a:pt x="6827520" y="2952496"/>
                    <a:pt x="6732016" y="3048000"/>
                    <a:pt x="6614160" y="3048000"/>
                  </a:cubicBezTo>
                  <a:lnTo>
                    <a:pt x="213360" y="3048000"/>
                  </a:lnTo>
                  <a:cubicBezTo>
                    <a:pt x="95504" y="3048000"/>
                    <a:pt x="0" y="2952496"/>
                    <a:pt x="0" y="2834640"/>
                  </a:cubicBezTo>
                  <a:close/>
                </a:path>
              </a:pathLst>
            </a:custGeom>
            <a:solidFill>
              <a:srgbClr val="0A1D42"/>
            </a:solidFill>
          </p:spPr>
        </p:sp>
      </p:grpSp>
      <p:grpSp>
        <p:nvGrpSpPr>
          <p:cNvPr name="Group 9" id="9"/>
          <p:cNvGrpSpPr/>
          <p:nvPr/>
        </p:nvGrpSpPr>
        <p:grpSpPr>
          <a:xfrm rot="0">
            <a:off x="914400" y="2357026"/>
            <a:ext cx="5120640" cy="1613596"/>
            <a:chOff x="0" y="0"/>
            <a:chExt cx="6827520" cy="2151461"/>
          </a:xfrm>
        </p:grpSpPr>
        <p:sp>
          <p:nvSpPr>
            <p:cNvPr name="Freeform 10" id="10"/>
            <p:cNvSpPr/>
            <p:nvPr/>
          </p:nvSpPr>
          <p:spPr>
            <a:xfrm flipH="false" flipV="false" rot="0">
              <a:off x="0" y="0"/>
              <a:ext cx="6827520" cy="2151461"/>
            </a:xfrm>
            <a:custGeom>
              <a:avLst/>
              <a:gdLst/>
              <a:ahLst/>
              <a:cxnLst/>
              <a:rect r="r" b="b" t="t" l="l"/>
              <a:pathLst>
                <a:path h="2151461" w="6827520">
                  <a:moveTo>
                    <a:pt x="0" y="0"/>
                  </a:moveTo>
                  <a:lnTo>
                    <a:pt x="6827520" y="0"/>
                  </a:lnTo>
                  <a:lnTo>
                    <a:pt x="6827520" y="2151461"/>
                  </a:lnTo>
                  <a:lnTo>
                    <a:pt x="0" y="2151461"/>
                  </a:lnTo>
                  <a:close/>
                </a:path>
              </a:pathLst>
            </a:custGeom>
            <a:blipFill>
              <a:blip r:embed="rId4">
                <a:alphaModFix amt="0"/>
              </a:blip>
              <a:stretch>
                <a:fillRect l="0" t="-22166" r="0" b="-1502"/>
              </a:stretch>
            </a:blipFill>
          </p:spPr>
        </p:sp>
        <p:sp>
          <p:nvSpPr>
            <p:cNvPr name="TextBox 11" id="11"/>
            <p:cNvSpPr txBox="true"/>
            <p:nvPr/>
          </p:nvSpPr>
          <p:spPr>
            <a:xfrm>
              <a:off x="0" y="-161925"/>
              <a:ext cx="6827520" cy="2313386"/>
            </a:xfrm>
            <a:prstGeom prst="rect">
              <a:avLst/>
            </a:prstGeom>
          </p:spPr>
          <p:txBody>
            <a:bodyPr anchor="ctr" rtlCol="false" tIns="0" lIns="0" bIns="0" rIns="0"/>
            <a:lstStyle/>
            <a:p>
              <a:pPr algn="ctr">
                <a:lnSpc>
                  <a:spcPts val="9600"/>
                </a:lnSpc>
              </a:pPr>
              <a:r>
                <a:rPr lang="en-US" sz="8000" b="true">
                  <a:solidFill>
                    <a:srgbClr val="FDC830"/>
                  </a:solidFill>
                  <a:latin typeface="Calibri (MS) Bold"/>
                  <a:ea typeface="Calibri (MS) Bold"/>
                  <a:cs typeface="Calibri (MS) Bold"/>
                  <a:sym typeface="Calibri (MS) Bold"/>
                </a:rPr>
                <a:t>19</a:t>
              </a:r>
            </a:p>
          </p:txBody>
        </p:sp>
      </p:grpSp>
      <p:sp>
        <p:nvSpPr>
          <p:cNvPr name="TextBox 12" id="12"/>
          <p:cNvSpPr txBox="true"/>
          <p:nvPr/>
        </p:nvSpPr>
        <p:spPr>
          <a:xfrm rot="0">
            <a:off x="1280160" y="3765804"/>
            <a:ext cx="4389120" cy="769620"/>
          </a:xfrm>
          <a:prstGeom prst="rect">
            <a:avLst/>
          </a:prstGeom>
        </p:spPr>
        <p:txBody>
          <a:bodyPr anchor="t" rtlCol="false" tIns="0" lIns="0" bIns="0" rIns="0">
            <a:spAutoFit/>
          </a:bodyPr>
          <a:lstStyle/>
          <a:p>
            <a:pPr algn="ctr">
              <a:lnSpc>
                <a:spcPts val="2879"/>
              </a:lnSpc>
            </a:pPr>
            <a:r>
              <a:rPr lang="en-US" sz="2400">
                <a:solidFill>
                  <a:srgbClr val="FFFFFF"/>
                </a:solidFill>
                <a:latin typeface="Calibri (MS)"/>
                <a:ea typeface="Calibri (MS)"/>
                <a:cs typeface="Calibri (MS)"/>
                <a:sym typeface="Calibri (MS)"/>
              </a:rPr>
              <a:t>tests automatisés réussis</a:t>
            </a:r>
          </a:p>
        </p:txBody>
      </p:sp>
      <p:grpSp>
        <p:nvGrpSpPr>
          <p:cNvPr name="Group 13" id="13"/>
          <p:cNvGrpSpPr/>
          <p:nvPr/>
        </p:nvGrpSpPr>
        <p:grpSpPr>
          <a:xfrm rot="0">
            <a:off x="6583680" y="2377440"/>
            <a:ext cx="5120640" cy="2286000"/>
            <a:chOff x="0" y="0"/>
            <a:chExt cx="6827520" cy="3048000"/>
          </a:xfrm>
        </p:grpSpPr>
        <p:sp>
          <p:nvSpPr>
            <p:cNvPr name="Freeform 14" id="14"/>
            <p:cNvSpPr/>
            <p:nvPr/>
          </p:nvSpPr>
          <p:spPr>
            <a:xfrm flipH="false" flipV="false" rot="0">
              <a:off x="0" y="0"/>
              <a:ext cx="6827520" cy="3048000"/>
            </a:xfrm>
            <a:custGeom>
              <a:avLst/>
              <a:gdLst/>
              <a:ahLst/>
              <a:cxnLst/>
              <a:rect r="r" b="b" t="t" l="l"/>
              <a:pathLst>
                <a:path h="3048000" w="6827520">
                  <a:moveTo>
                    <a:pt x="0" y="213360"/>
                  </a:moveTo>
                  <a:cubicBezTo>
                    <a:pt x="0" y="95504"/>
                    <a:pt x="95504" y="0"/>
                    <a:pt x="213360" y="0"/>
                  </a:cubicBezTo>
                  <a:lnTo>
                    <a:pt x="6614160" y="0"/>
                  </a:lnTo>
                  <a:cubicBezTo>
                    <a:pt x="6732016" y="0"/>
                    <a:pt x="6827520" y="95504"/>
                    <a:pt x="6827520" y="213360"/>
                  </a:cubicBezTo>
                  <a:lnTo>
                    <a:pt x="6827520" y="2834640"/>
                  </a:lnTo>
                  <a:cubicBezTo>
                    <a:pt x="6827520" y="2952496"/>
                    <a:pt x="6732016" y="3048000"/>
                    <a:pt x="6614160" y="3048000"/>
                  </a:cubicBezTo>
                  <a:lnTo>
                    <a:pt x="213360" y="3048000"/>
                  </a:lnTo>
                  <a:cubicBezTo>
                    <a:pt x="95504" y="3048000"/>
                    <a:pt x="0" y="2952496"/>
                    <a:pt x="0" y="2834640"/>
                  </a:cubicBezTo>
                  <a:close/>
                </a:path>
              </a:pathLst>
            </a:custGeom>
            <a:solidFill>
              <a:srgbClr val="0A1D42"/>
            </a:solidFill>
          </p:spPr>
        </p:sp>
      </p:grpSp>
      <p:grpSp>
        <p:nvGrpSpPr>
          <p:cNvPr name="Group 15" id="15"/>
          <p:cNvGrpSpPr/>
          <p:nvPr/>
        </p:nvGrpSpPr>
        <p:grpSpPr>
          <a:xfrm rot="0">
            <a:off x="6583680" y="2523744"/>
            <a:ext cx="5120640" cy="1280160"/>
            <a:chOff x="0" y="0"/>
            <a:chExt cx="6827520" cy="1706880"/>
          </a:xfrm>
        </p:grpSpPr>
        <p:sp>
          <p:nvSpPr>
            <p:cNvPr name="Freeform 16" id="16"/>
            <p:cNvSpPr/>
            <p:nvPr/>
          </p:nvSpPr>
          <p:spPr>
            <a:xfrm flipH="false" flipV="false" rot="0">
              <a:off x="0" y="0"/>
              <a:ext cx="6827520" cy="1706880"/>
            </a:xfrm>
            <a:custGeom>
              <a:avLst/>
              <a:gdLst/>
              <a:ahLst/>
              <a:cxnLst/>
              <a:rect r="r" b="b" t="t" l="l"/>
              <a:pathLst>
                <a:path h="1706880" w="6827520">
                  <a:moveTo>
                    <a:pt x="0" y="0"/>
                  </a:moveTo>
                  <a:lnTo>
                    <a:pt x="6827520" y="0"/>
                  </a:lnTo>
                  <a:lnTo>
                    <a:pt x="6827520" y="1706880"/>
                  </a:lnTo>
                  <a:lnTo>
                    <a:pt x="0" y="1706880"/>
                  </a:lnTo>
                  <a:close/>
                </a:path>
              </a:pathLst>
            </a:custGeom>
            <a:blipFill>
              <a:blip r:embed="rId4">
                <a:alphaModFix amt="0"/>
              </a:blip>
              <a:stretch>
                <a:fillRect l="0" t="-27940" r="0" b="-27940"/>
              </a:stretch>
            </a:blipFill>
          </p:spPr>
        </p:sp>
        <p:sp>
          <p:nvSpPr>
            <p:cNvPr name="TextBox 17" id="17"/>
            <p:cNvSpPr txBox="true"/>
            <p:nvPr/>
          </p:nvSpPr>
          <p:spPr>
            <a:xfrm>
              <a:off x="0" y="-161925"/>
              <a:ext cx="6827520" cy="1868805"/>
            </a:xfrm>
            <a:prstGeom prst="rect">
              <a:avLst/>
            </a:prstGeom>
          </p:spPr>
          <p:txBody>
            <a:bodyPr anchor="ctr" rtlCol="false" tIns="0" lIns="0" bIns="0" rIns="0"/>
            <a:lstStyle/>
            <a:p>
              <a:pPr algn="ctr">
                <a:lnSpc>
                  <a:spcPts val="9600"/>
                </a:lnSpc>
              </a:pPr>
              <a:r>
                <a:rPr lang="en-US" sz="8000" b="true">
                  <a:solidFill>
                    <a:srgbClr val="FDC830"/>
                  </a:solidFill>
                  <a:latin typeface="Calibri (MS) Bold"/>
                  <a:ea typeface="Calibri (MS) Bold"/>
                  <a:cs typeface="Calibri (MS) Bold"/>
                  <a:sym typeface="Calibri (MS) Bold"/>
                </a:rPr>
                <a:t>0</a:t>
              </a:r>
            </a:p>
          </p:txBody>
        </p:sp>
      </p:grpSp>
      <p:sp>
        <p:nvSpPr>
          <p:cNvPr name="TextBox 18" id="18"/>
          <p:cNvSpPr txBox="true"/>
          <p:nvPr/>
        </p:nvSpPr>
        <p:spPr>
          <a:xfrm rot="0">
            <a:off x="6949440" y="3765804"/>
            <a:ext cx="4389120" cy="769620"/>
          </a:xfrm>
          <a:prstGeom prst="rect">
            <a:avLst/>
          </a:prstGeom>
        </p:spPr>
        <p:txBody>
          <a:bodyPr anchor="t" rtlCol="false" tIns="0" lIns="0" bIns="0" rIns="0">
            <a:spAutoFit/>
          </a:bodyPr>
          <a:lstStyle/>
          <a:p>
            <a:pPr algn="ctr">
              <a:lnSpc>
                <a:spcPts val="2879"/>
              </a:lnSpc>
            </a:pPr>
            <a:r>
              <a:rPr lang="en-US" sz="2400">
                <a:solidFill>
                  <a:srgbClr val="FFFFFF"/>
                </a:solidFill>
                <a:latin typeface="Calibri (MS)"/>
                <a:ea typeface="Calibri (MS)"/>
                <a:cs typeface="Calibri (MS)"/>
                <a:sym typeface="Calibri (MS)"/>
              </a:rPr>
              <a:t>vulnérabilité détectée</a:t>
            </a:r>
          </a:p>
        </p:txBody>
      </p:sp>
      <p:grpSp>
        <p:nvGrpSpPr>
          <p:cNvPr name="Group 19" id="19"/>
          <p:cNvGrpSpPr/>
          <p:nvPr/>
        </p:nvGrpSpPr>
        <p:grpSpPr>
          <a:xfrm rot="0">
            <a:off x="12252960" y="2377440"/>
            <a:ext cx="5120640" cy="2286000"/>
            <a:chOff x="0" y="0"/>
            <a:chExt cx="6827520" cy="3048000"/>
          </a:xfrm>
        </p:grpSpPr>
        <p:sp>
          <p:nvSpPr>
            <p:cNvPr name="Freeform 20" id="20"/>
            <p:cNvSpPr/>
            <p:nvPr/>
          </p:nvSpPr>
          <p:spPr>
            <a:xfrm flipH="false" flipV="false" rot="0">
              <a:off x="0" y="0"/>
              <a:ext cx="6827520" cy="3048000"/>
            </a:xfrm>
            <a:custGeom>
              <a:avLst/>
              <a:gdLst/>
              <a:ahLst/>
              <a:cxnLst/>
              <a:rect r="r" b="b" t="t" l="l"/>
              <a:pathLst>
                <a:path h="3048000" w="6827520">
                  <a:moveTo>
                    <a:pt x="0" y="213360"/>
                  </a:moveTo>
                  <a:cubicBezTo>
                    <a:pt x="0" y="95504"/>
                    <a:pt x="95504" y="0"/>
                    <a:pt x="213360" y="0"/>
                  </a:cubicBezTo>
                  <a:lnTo>
                    <a:pt x="6614160" y="0"/>
                  </a:lnTo>
                  <a:cubicBezTo>
                    <a:pt x="6732016" y="0"/>
                    <a:pt x="6827520" y="95504"/>
                    <a:pt x="6827520" y="213360"/>
                  </a:cubicBezTo>
                  <a:lnTo>
                    <a:pt x="6827520" y="2834640"/>
                  </a:lnTo>
                  <a:cubicBezTo>
                    <a:pt x="6827520" y="2952496"/>
                    <a:pt x="6732016" y="3048000"/>
                    <a:pt x="6614160" y="3048000"/>
                  </a:cubicBezTo>
                  <a:lnTo>
                    <a:pt x="213360" y="3048000"/>
                  </a:lnTo>
                  <a:cubicBezTo>
                    <a:pt x="95504" y="3048000"/>
                    <a:pt x="0" y="2952496"/>
                    <a:pt x="0" y="2834640"/>
                  </a:cubicBezTo>
                  <a:close/>
                </a:path>
              </a:pathLst>
            </a:custGeom>
            <a:solidFill>
              <a:srgbClr val="0A1D42"/>
            </a:solidFill>
          </p:spPr>
        </p:sp>
      </p:grpSp>
      <p:grpSp>
        <p:nvGrpSpPr>
          <p:cNvPr name="Group 21" id="21"/>
          <p:cNvGrpSpPr/>
          <p:nvPr/>
        </p:nvGrpSpPr>
        <p:grpSpPr>
          <a:xfrm rot="0">
            <a:off x="12252960" y="2523744"/>
            <a:ext cx="5120640" cy="1280160"/>
            <a:chOff x="0" y="0"/>
            <a:chExt cx="6827520" cy="1706880"/>
          </a:xfrm>
        </p:grpSpPr>
        <p:sp>
          <p:nvSpPr>
            <p:cNvPr name="Freeform 22" id="22"/>
            <p:cNvSpPr/>
            <p:nvPr/>
          </p:nvSpPr>
          <p:spPr>
            <a:xfrm flipH="false" flipV="false" rot="0">
              <a:off x="0" y="0"/>
              <a:ext cx="6827520" cy="1706880"/>
            </a:xfrm>
            <a:custGeom>
              <a:avLst/>
              <a:gdLst/>
              <a:ahLst/>
              <a:cxnLst/>
              <a:rect r="r" b="b" t="t" l="l"/>
              <a:pathLst>
                <a:path h="1706880" w="6827520">
                  <a:moveTo>
                    <a:pt x="0" y="0"/>
                  </a:moveTo>
                  <a:lnTo>
                    <a:pt x="6827520" y="0"/>
                  </a:lnTo>
                  <a:lnTo>
                    <a:pt x="6827520" y="1706880"/>
                  </a:lnTo>
                  <a:lnTo>
                    <a:pt x="0" y="1706880"/>
                  </a:lnTo>
                  <a:close/>
                </a:path>
              </a:pathLst>
            </a:custGeom>
            <a:blipFill>
              <a:blip r:embed="rId4">
                <a:alphaModFix amt="0"/>
              </a:blip>
              <a:stretch>
                <a:fillRect l="0" t="-27940" r="0" b="-27940"/>
              </a:stretch>
            </a:blipFill>
          </p:spPr>
        </p:sp>
        <p:sp>
          <p:nvSpPr>
            <p:cNvPr name="TextBox 23" id="23"/>
            <p:cNvSpPr txBox="true"/>
            <p:nvPr/>
          </p:nvSpPr>
          <p:spPr>
            <a:xfrm>
              <a:off x="0" y="-161925"/>
              <a:ext cx="6827520" cy="1868805"/>
            </a:xfrm>
            <a:prstGeom prst="rect">
              <a:avLst/>
            </a:prstGeom>
          </p:spPr>
          <p:txBody>
            <a:bodyPr anchor="ctr" rtlCol="false" tIns="0" lIns="0" bIns="0" rIns="0"/>
            <a:lstStyle/>
            <a:p>
              <a:pPr algn="ctr">
                <a:lnSpc>
                  <a:spcPts val="9600"/>
                </a:lnSpc>
              </a:pPr>
              <a:r>
                <a:rPr lang="en-US" sz="8000" b="true">
                  <a:solidFill>
                    <a:srgbClr val="FDC830"/>
                  </a:solidFill>
                  <a:latin typeface="Calibri (MS) Bold"/>
                  <a:ea typeface="Calibri (MS) Bold"/>
                  <a:cs typeface="Calibri (MS) Bold"/>
                  <a:sym typeface="Calibri (MS) Bold"/>
                </a:rPr>
                <a:t>11</a:t>
              </a:r>
            </a:p>
          </p:txBody>
        </p:sp>
      </p:grpSp>
      <p:sp>
        <p:nvSpPr>
          <p:cNvPr name="TextBox 24" id="24"/>
          <p:cNvSpPr txBox="true"/>
          <p:nvPr/>
        </p:nvSpPr>
        <p:spPr>
          <a:xfrm rot="0">
            <a:off x="12618720" y="3765804"/>
            <a:ext cx="4389120" cy="769620"/>
          </a:xfrm>
          <a:prstGeom prst="rect">
            <a:avLst/>
          </a:prstGeom>
        </p:spPr>
        <p:txBody>
          <a:bodyPr anchor="t" rtlCol="false" tIns="0" lIns="0" bIns="0" rIns="0">
            <a:spAutoFit/>
          </a:bodyPr>
          <a:lstStyle/>
          <a:p>
            <a:pPr algn="ctr">
              <a:lnSpc>
                <a:spcPts val="2879"/>
              </a:lnSpc>
            </a:pPr>
            <a:r>
              <a:rPr lang="en-US" sz="2400">
                <a:solidFill>
                  <a:srgbClr val="FFFFFF"/>
                </a:solidFill>
                <a:latin typeface="Calibri (MS)"/>
                <a:ea typeface="Calibri (MS)"/>
                <a:cs typeface="Calibri (MS)"/>
                <a:sym typeface="Calibri (MS)"/>
              </a:rPr>
              <a:t>fonctionnalités prévues couvertes</a:t>
            </a:r>
          </a:p>
        </p:txBody>
      </p:sp>
      <p:sp>
        <p:nvSpPr>
          <p:cNvPr name="TextBox 25" id="25"/>
          <p:cNvSpPr txBox="true"/>
          <p:nvPr/>
        </p:nvSpPr>
        <p:spPr>
          <a:xfrm rot="0">
            <a:off x="914400" y="5173980"/>
            <a:ext cx="9144000" cy="440436"/>
          </a:xfrm>
          <a:prstGeom prst="rect">
            <a:avLst/>
          </a:prstGeom>
        </p:spPr>
        <p:txBody>
          <a:bodyPr anchor="t" rtlCol="false" tIns="0" lIns="0" bIns="0" rIns="0">
            <a:spAutoFit/>
          </a:bodyPr>
          <a:lstStyle/>
          <a:p>
            <a:pPr algn="l">
              <a:lnSpc>
                <a:spcPts val="2400"/>
              </a:lnSpc>
            </a:pPr>
            <a:r>
              <a:rPr lang="en-US" b="true" sz="2000" spc="300">
                <a:solidFill>
                  <a:srgbClr val="5B6785"/>
                </a:solidFill>
                <a:latin typeface="Calibri (MS) Bold"/>
                <a:ea typeface="Calibri (MS) Bold"/>
                <a:cs typeface="Calibri (MS) Bold"/>
                <a:sym typeface="Calibri (MS) Bold"/>
              </a:rPr>
              <a:t>DES PROBLÈMES AUX RÉPONSES</a:t>
            </a:r>
          </a:p>
        </p:txBody>
      </p:sp>
      <p:grpSp>
        <p:nvGrpSpPr>
          <p:cNvPr name="Group 26" id="26"/>
          <p:cNvGrpSpPr/>
          <p:nvPr/>
        </p:nvGrpSpPr>
        <p:grpSpPr>
          <a:xfrm rot="0">
            <a:off x="914400" y="5760720"/>
            <a:ext cx="3840480" cy="2377440"/>
            <a:chOff x="0" y="0"/>
            <a:chExt cx="5120640" cy="3169920"/>
          </a:xfrm>
        </p:grpSpPr>
        <p:sp>
          <p:nvSpPr>
            <p:cNvPr name="Freeform 27" id="27"/>
            <p:cNvSpPr/>
            <p:nvPr/>
          </p:nvSpPr>
          <p:spPr>
            <a:xfrm flipH="false" flipV="false" rot="0">
              <a:off x="0" y="0"/>
              <a:ext cx="5120640" cy="3169920"/>
            </a:xfrm>
            <a:custGeom>
              <a:avLst/>
              <a:gdLst/>
              <a:ahLst/>
              <a:cxnLst/>
              <a:rect r="r" b="b" t="t" l="l"/>
              <a:pathLst>
                <a:path h="3169920" w="5120640">
                  <a:moveTo>
                    <a:pt x="0" y="253619"/>
                  </a:moveTo>
                  <a:cubicBezTo>
                    <a:pt x="0" y="113538"/>
                    <a:pt x="113538" y="0"/>
                    <a:pt x="253619" y="0"/>
                  </a:cubicBezTo>
                  <a:lnTo>
                    <a:pt x="4867021" y="0"/>
                  </a:lnTo>
                  <a:cubicBezTo>
                    <a:pt x="5007102" y="0"/>
                    <a:pt x="5120640" y="113538"/>
                    <a:pt x="5120640" y="253619"/>
                  </a:cubicBezTo>
                  <a:lnTo>
                    <a:pt x="5120640" y="2916301"/>
                  </a:lnTo>
                  <a:cubicBezTo>
                    <a:pt x="5120640" y="3056382"/>
                    <a:pt x="5007102" y="3169920"/>
                    <a:pt x="4867021" y="3169920"/>
                  </a:cubicBezTo>
                  <a:lnTo>
                    <a:pt x="253619" y="3169920"/>
                  </a:lnTo>
                  <a:cubicBezTo>
                    <a:pt x="113538" y="3169920"/>
                    <a:pt x="0" y="3056382"/>
                    <a:pt x="0" y="2916301"/>
                  </a:cubicBezTo>
                  <a:close/>
                </a:path>
              </a:pathLst>
            </a:custGeom>
            <a:solidFill>
              <a:srgbClr val="FFFFFF"/>
            </a:solidFill>
          </p:spPr>
        </p:sp>
      </p:grpSp>
      <p:sp>
        <p:nvSpPr>
          <p:cNvPr name="TextBox 28" id="28"/>
          <p:cNvSpPr txBox="true"/>
          <p:nvPr/>
        </p:nvSpPr>
        <p:spPr>
          <a:xfrm rot="0">
            <a:off x="1243584" y="5942076"/>
            <a:ext cx="3291840" cy="495300"/>
          </a:xfrm>
          <a:prstGeom prst="rect">
            <a:avLst/>
          </a:prstGeom>
        </p:spPr>
        <p:txBody>
          <a:bodyPr anchor="t" rtlCol="false" tIns="0" lIns="0" bIns="0" rIns="0">
            <a:spAutoFit/>
          </a:bodyPr>
          <a:lstStyle/>
          <a:p>
            <a:pPr algn="l">
              <a:lnSpc>
                <a:spcPts val="2879"/>
              </a:lnSpc>
            </a:pPr>
            <a:r>
              <a:rPr lang="en-US" sz="2400">
                <a:solidFill>
                  <a:srgbClr val="5B6785"/>
                </a:solidFill>
                <a:latin typeface="Calibri (MS)"/>
                <a:ea typeface="Calibri (MS)"/>
                <a:cs typeface="Calibri (MS)"/>
                <a:sym typeface="Calibri (MS)"/>
              </a:rPr>
              <a:t>Offre dispersée</a:t>
            </a:r>
          </a:p>
        </p:txBody>
      </p:sp>
      <p:sp>
        <p:nvSpPr>
          <p:cNvPr name="TextBox 29" id="29"/>
          <p:cNvSpPr txBox="true"/>
          <p:nvPr/>
        </p:nvSpPr>
        <p:spPr>
          <a:xfrm rot="0">
            <a:off x="1243584" y="6388989"/>
            <a:ext cx="914400" cy="578739"/>
          </a:xfrm>
          <a:prstGeom prst="rect">
            <a:avLst/>
          </a:prstGeom>
        </p:spPr>
        <p:txBody>
          <a:bodyPr anchor="t" rtlCol="false" tIns="0" lIns="0" bIns="0" rIns="0">
            <a:spAutoFit/>
          </a:bodyPr>
          <a:lstStyle/>
          <a:p>
            <a:pPr algn="l">
              <a:lnSpc>
                <a:spcPts val="3359"/>
              </a:lnSpc>
            </a:pPr>
            <a:r>
              <a:rPr lang="en-US" sz="2799" b="true">
                <a:solidFill>
                  <a:srgbClr val="B85A1B"/>
                </a:solidFill>
                <a:latin typeface="Calibri (MS) Bold"/>
                <a:ea typeface="Calibri (MS) Bold"/>
                <a:cs typeface="Calibri (MS) Bold"/>
                <a:sym typeface="Calibri (MS) Bold"/>
              </a:rPr>
              <a:t>↓</a:t>
            </a:r>
          </a:p>
        </p:txBody>
      </p:sp>
      <p:sp>
        <p:nvSpPr>
          <p:cNvPr name="TextBox 30" id="30"/>
          <p:cNvSpPr txBox="true"/>
          <p:nvPr/>
        </p:nvSpPr>
        <p:spPr>
          <a:xfrm rot="0">
            <a:off x="1243584" y="6919341"/>
            <a:ext cx="3291840" cy="1072515"/>
          </a:xfrm>
          <a:prstGeom prst="rect">
            <a:avLst/>
          </a:prstGeom>
        </p:spPr>
        <p:txBody>
          <a:bodyPr anchor="t" rtlCol="false" tIns="0" lIns="0" bIns="0" rIns="0">
            <a:spAutoFit/>
          </a:bodyPr>
          <a:lstStyle/>
          <a:p>
            <a:pPr algn="l">
              <a:lnSpc>
                <a:spcPts val="3359"/>
              </a:lnSpc>
            </a:pPr>
            <a:r>
              <a:rPr lang="en-US" sz="2799" b="true">
                <a:solidFill>
                  <a:srgbClr val="0A1D42"/>
                </a:solidFill>
                <a:latin typeface="Calibri (MS) Bold"/>
                <a:ea typeface="Calibri (MS) Bold"/>
                <a:cs typeface="Calibri (MS) Bold"/>
                <a:sym typeface="Calibri (MS) Bold"/>
              </a:rPr>
              <a:t>Catalogue centralisé</a:t>
            </a:r>
          </a:p>
        </p:txBody>
      </p:sp>
      <p:grpSp>
        <p:nvGrpSpPr>
          <p:cNvPr name="Group 31" id="31"/>
          <p:cNvGrpSpPr/>
          <p:nvPr/>
        </p:nvGrpSpPr>
        <p:grpSpPr>
          <a:xfrm rot="0">
            <a:off x="5120640" y="5760720"/>
            <a:ext cx="3840480" cy="2377440"/>
            <a:chOff x="0" y="0"/>
            <a:chExt cx="5120640" cy="3169920"/>
          </a:xfrm>
        </p:grpSpPr>
        <p:sp>
          <p:nvSpPr>
            <p:cNvPr name="Freeform 32" id="32"/>
            <p:cNvSpPr/>
            <p:nvPr/>
          </p:nvSpPr>
          <p:spPr>
            <a:xfrm flipH="false" flipV="false" rot="0">
              <a:off x="0" y="0"/>
              <a:ext cx="5120640" cy="3169920"/>
            </a:xfrm>
            <a:custGeom>
              <a:avLst/>
              <a:gdLst/>
              <a:ahLst/>
              <a:cxnLst/>
              <a:rect r="r" b="b" t="t" l="l"/>
              <a:pathLst>
                <a:path h="3169920" w="5120640">
                  <a:moveTo>
                    <a:pt x="0" y="253619"/>
                  </a:moveTo>
                  <a:cubicBezTo>
                    <a:pt x="0" y="113538"/>
                    <a:pt x="113538" y="0"/>
                    <a:pt x="253619" y="0"/>
                  </a:cubicBezTo>
                  <a:lnTo>
                    <a:pt x="4867021" y="0"/>
                  </a:lnTo>
                  <a:cubicBezTo>
                    <a:pt x="5007102" y="0"/>
                    <a:pt x="5120640" y="113538"/>
                    <a:pt x="5120640" y="253619"/>
                  </a:cubicBezTo>
                  <a:lnTo>
                    <a:pt x="5120640" y="2916301"/>
                  </a:lnTo>
                  <a:cubicBezTo>
                    <a:pt x="5120640" y="3056382"/>
                    <a:pt x="5007102" y="3169920"/>
                    <a:pt x="4867021" y="3169920"/>
                  </a:cubicBezTo>
                  <a:lnTo>
                    <a:pt x="253619" y="3169920"/>
                  </a:lnTo>
                  <a:cubicBezTo>
                    <a:pt x="113538" y="3169920"/>
                    <a:pt x="0" y="3056382"/>
                    <a:pt x="0" y="2916301"/>
                  </a:cubicBezTo>
                  <a:close/>
                </a:path>
              </a:pathLst>
            </a:custGeom>
            <a:solidFill>
              <a:srgbClr val="FFFFFF"/>
            </a:solidFill>
          </p:spPr>
        </p:sp>
      </p:grpSp>
      <p:sp>
        <p:nvSpPr>
          <p:cNvPr name="TextBox 33" id="33"/>
          <p:cNvSpPr txBox="true"/>
          <p:nvPr/>
        </p:nvSpPr>
        <p:spPr>
          <a:xfrm rot="0">
            <a:off x="5449824" y="5942076"/>
            <a:ext cx="3291840" cy="495300"/>
          </a:xfrm>
          <a:prstGeom prst="rect">
            <a:avLst/>
          </a:prstGeom>
        </p:spPr>
        <p:txBody>
          <a:bodyPr anchor="t" rtlCol="false" tIns="0" lIns="0" bIns="0" rIns="0">
            <a:spAutoFit/>
          </a:bodyPr>
          <a:lstStyle/>
          <a:p>
            <a:pPr algn="l">
              <a:lnSpc>
                <a:spcPts val="2879"/>
              </a:lnSpc>
            </a:pPr>
            <a:r>
              <a:rPr lang="en-US" sz="2400">
                <a:solidFill>
                  <a:srgbClr val="5B6785"/>
                </a:solidFill>
                <a:latin typeface="Calibri (MS)"/>
                <a:ea typeface="Calibri (MS)"/>
                <a:cs typeface="Calibri (MS)"/>
                <a:sym typeface="Calibri (MS)"/>
              </a:rPr>
              <a:t>Demandes multi-canaux</a:t>
            </a:r>
          </a:p>
        </p:txBody>
      </p:sp>
      <p:sp>
        <p:nvSpPr>
          <p:cNvPr name="TextBox 34" id="34"/>
          <p:cNvSpPr txBox="true"/>
          <p:nvPr/>
        </p:nvSpPr>
        <p:spPr>
          <a:xfrm rot="0">
            <a:off x="5449824" y="6388989"/>
            <a:ext cx="914400" cy="578739"/>
          </a:xfrm>
          <a:prstGeom prst="rect">
            <a:avLst/>
          </a:prstGeom>
        </p:spPr>
        <p:txBody>
          <a:bodyPr anchor="t" rtlCol="false" tIns="0" lIns="0" bIns="0" rIns="0">
            <a:spAutoFit/>
          </a:bodyPr>
          <a:lstStyle/>
          <a:p>
            <a:pPr algn="l">
              <a:lnSpc>
                <a:spcPts val="3359"/>
              </a:lnSpc>
            </a:pPr>
            <a:r>
              <a:rPr lang="en-US" sz="2799" b="true">
                <a:solidFill>
                  <a:srgbClr val="B85A1B"/>
                </a:solidFill>
                <a:latin typeface="Calibri (MS) Bold"/>
                <a:ea typeface="Calibri (MS) Bold"/>
                <a:cs typeface="Calibri (MS) Bold"/>
                <a:sym typeface="Calibri (MS) Bold"/>
              </a:rPr>
              <a:t>↓</a:t>
            </a:r>
          </a:p>
        </p:txBody>
      </p:sp>
      <p:sp>
        <p:nvSpPr>
          <p:cNvPr name="TextBox 35" id="35"/>
          <p:cNvSpPr txBox="true"/>
          <p:nvPr/>
        </p:nvSpPr>
        <p:spPr>
          <a:xfrm rot="0">
            <a:off x="5449824" y="6919341"/>
            <a:ext cx="3291840" cy="1072515"/>
          </a:xfrm>
          <a:prstGeom prst="rect">
            <a:avLst/>
          </a:prstGeom>
        </p:spPr>
        <p:txBody>
          <a:bodyPr anchor="t" rtlCol="false" tIns="0" lIns="0" bIns="0" rIns="0">
            <a:spAutoFit/>
          </a:bodyPr>
          <a:lstStyle/>
          <a:p>
            <a:pPr algn="l">
              <a:lnSpc>
                <a:spcPts val="3359"/>
              </a:lnSpc>
            </a:pPr>
            <a:r>
              <a:rPr lang="en-US" sz="2799" b="true">
                <a:solidFill>
                  <a:srgbClr val="0A1D42"/>
                </a:solidFill>
                <a:latin typeface="Calibri (MS) Bold"/>
                <a:ea typeface="Calibri (MS) Bold"/>
                <a:cs typeface="Calibri (MS) Bold"/>
                <a:sym typeface="Calibri (MS) Bold"/>
              </a:rPr>
              <a:t>Formulaires reliés à l'admin</a:t>
            </a:r>
          </a:p>
        </p:txBody>
      </p:sp>
      <p:grpSp>
        <p:nvGrpSpPr>
          <p:cNvPr name="Group 36" id="36"/>
          <p:cNvGrpSpPr/>
          <p:nvPr/>
        </p:nvGrpSpPr>
        <p:grpSpPr>
          <a:xfrm rot="0">
            <a:off x="9326880" y="5760720"/>
            <a:ext cx="3840480" cy="2377440"/>
            <a:chOff x="0" y="0"/>
            <a:chExt cx="5120640" cy="3169920"/>
          </a:xfrm>
        </p:grpSpPr>
        <p:sp>
          <p:nvSpPr>
            <p:cNvPr name="Freeform 37" id="37"/>
            <p:cNvSpPr/>
            <p:nvPr/>
          </p:nvSpPr>
          <p:spPr>
            <a:xfrm flipH="false" flipV="false" rot="0">
              <a:off x="0" y="0"/>
              <a:ext cx="5120640" cy="3169920"/>
            </a:xfrm>
            <a:custGeom>
              <a:avLst/>
              <a:gdLst/>
              <a:ahLst/>
              <a:cxnLst/>
              <a:rect r="r" b="b" t="t" l="l"/>
              <a:pathLst>
                <a:path h="3169920" w="5120640">
                  <a:moveTo>
                    <a:pt x="0" y="253619"/>
                  </a:moveTo>
                  <a:cubicBezTo>
                    <a:pt x="0" y="113538"/>
                    <a:pt x="113538" y="0"/>
                    <a:pt x="253619" y="0"/>
                  </a:cubicBezTo>
                  <a:lnTo>
                    <a:pt x="4867021" y="0"/>
                  </a:lnTo>
                  <a:cubicBezTo>
                    <a:pt x="5007102" y="0"/>
                    <a:pt x="5120640" y="113538"/>
                    <a:pt x="5120640" y="253619"/>
                  </a:cubicBezTo>
                  <a:lnTo>
                    <a:pt x="5120640" y="2916301"/>
                  </a:lnTo>
                  <a:cubicBezTo>
                    <a:pt x="5120640" y="3056382"/>
                    <a:pt x="5007102" y="3169920"/>
                    <a:pt x="4867021" y="3169920"/>
                  </a:cubicBezTo>
                  <a:lnTo>
                    <a:pt x="253619" y="3169920"/>
                  </a:lnTo>
                  <a:cubicBezTo>
                    <a:pt x="113538" y="3169920"/>
                    <a:pt x="0" y="3056382"/>
                    <a:pt x="0" y="2916301"/>
                  </a:cubicBezTo>
                  <a:close/>
                </a:path>
              </a:pathLst>
            </a:custGeom>
            <a:solidFill>
              <a:srgbClr val="FFFFFF"/>
            </a:solidFill>
          </p:spPr>
        </p:sp>
      </p:grpSp>
      <p:sp>
        <p:nvSpPr>
          <p:cNvPr name="TextBox 38" id="38"/>
          <p:cNvSpPr txBox="true"/>
          <p:nvPr/>
        </p:nvSpPr>
        <p:spPr>
          <a:xfrm rot="0">
            <a:off x="9656064" y="5942076"/>
            <a:ext cx="3291840" cy="495300"/>
          </a:xfrm>
          <a:prstGeom prst="rect">
            <a:avLst/>
          </a:prstGeom>
        </p:spPr>
        <p:txBody>
          <a:bodyPr anchor="t" rtlCol="false" tIns="0" lIns="0" bIns="0" rIns="0">
            <a:spAutoFit/>
          </a:bodyPr>
          <a:lstStyle/>
          <a:p>
            <a:pPr algn="l">
              <a:lnSpc>
                <a:spcPts val="2879"/>
              </a:lnSpc>
            </a:pPr>
            <a:r>
              <a:rPr lang="en-US" sz="2400">
                <a:solidFill>
                  <a:srgbClr val="5B6785"/>
                </a:solidFill>
                <a:latin typeface="Calibri (MS)"/>
                <a:ea typeface="Calibri (MS)"/>
                <a:cs typeface="Calibri (MS)"/>
                <a:sym typeface="Calibri (MS)"/>
              </a:rPr>
              <a:t>Fichiers clients séparés</a:t>
            </a:r>
          </a:p>
        </p:txBody>
      </p:sp>
      <p:sp>
        <p:nvSpPr>
          <p:cNvPr name="TextBox 39" id="39"/>
          <p:cNvSpPr txBox="true"/>
          <p:nvPr/>
        </p:nvSpPr>
        <p:spPr>
          <a:xfrm rot="0">
            <a:off x="9656064" y="6388989"/>
            <a:ext cx="914400" cy="578739"/>
          </a:xfrm>
          <a:prstGeom prst="rect">
            <a:avLst/>
          </a:prstGeom>
        </p:spPr>
        <p:txBody>
          <a:bodyPr anchor="t" rtlCol="false" tIns="0" lIns="0" bIns="0" rIns="0">
            <a:spAutoFit/>
          </a:bodyPr>
          <a:lstStyle/>
          <a:p>
            <a:pPr algn="l">
              <a:lnSpc>
                <a:spcPts val="3359"/>
              </a:lnSpc>
            </a:pPr>
            <a:r>
              <a:rPr lang="en-US" sz="2799" b="true">
                <a:solidFill>
                  <a:srgbClr val="B85A1B"/>
                </a:solidFill>
                <a:latin typeface="Calibri (MS) Bold"/>
                <a:ea typeface="Calibri (MS) Bold"/>
                <a:cs typeface="Calibri (MS) Bold"/>
                <a:sym typeface="Calibri (MS) Bold"/>
              </a:rPr>
              <a:t>↓</a:t>
            </a:r>
          </a:p>
        </p:txBody>
      </p:sp>
      <p:sp>
        <p:nvSpPr>
          <p:cNvPr name="TextBox 40" id="40"/>
          <p:cNvSpPr txBox="true"/>
          <p:nvPr/>
        </p:nvSpPr>
        <p:spPr>
          <a:xfrm rot="0">
            <a:off x="9656064" y="6919341"/>
            <a:ext cx="3291840" cy="1072515"/>
          </a:xfrm>
          <a:prstGeom prst="rect">
            <a:avLst/>
          </a:prstGeom>
        </p:spPr>
        <p:txBody>
          <a:bodyPr anchor="t" rtlCol="false" tIns="0" lIns="0" bIns="0" rIns="0">
            <a:spAutoFit/>
          </a:bodyPr>
          <a:lstStyle/>
          <a:p>
            <a:pPr algn="l">
              <a:lnSpc>
                <a:spcPts val="3359"/>
              </a:lnSpc>
            </a:pPr>
            <a:r>
              <a:rPr lang="en-US" sz="2799" b="true">
                <a:solidFill>
                  <a:srgbClr val="0A1D42"/>
                </a:solidFill>
                <a:latin typeface="Calibri (MS) Bold"/>
                <a:ea typeface="Calibri (MS) Bold"/>
                <a:cs typeface="Calibri (MS) Bold"/>
                <a:sym typeface="Calibri (MS) Bold"/>
              </a:rPr>
              <a:t>Fiche client unifiée</a:t>
            </a:r>
          </a:p>
        </p:txBody>
      </p:sp>
      <p:grpSp>
        <p:nvGrpSpPr>
          <p:cNvPr name="Group 41" id="41"/>
          <p:cNvGrpSpPr/>
          <p:nvPr/>
        </p:nvGrpSpPr>
        <p:grpSpPr>
          <a:xfrm rot="0">
            <a:off x="13533120" y="5760720"/>
            <a:ext cx="3840480" cy="2377440"/>
            <a:chOff x="0" y="0"/>
            <a:chExt cx="5120640" cy="3169920"/>
          </a:xfrm>
        </p:grpSpPr>
        <p:sp>
          <p:nvSpPr>
            <p:cNvPr name="Freeform 42" id="42"/>
            <p:cNvSpPr/>
            <p:nvPr/>
          </p:nvSpPr>
          <p:spPr>
            <a:xfrm flipH="false" flipV="false" rot="0">
              <a:off x="0" y="0"/>
              <a:ext cx="5120640" cy="3169920"/>
            </a:xfrm>
            <a:custGeom>
              <a:avLst/>
              <a:gdLst/>
              <a:ahLst/>
              <a:cxnLst/>
              <a:rect r="r" b="b" t="t" l="l"/>
              <a:pathLst>
                <a:path h="3169920" w="5120640">
                  <a:moveTo>
                    <a:pt x="0" y="253619"/>
                  </a:moveTo>
                  <a:cubicBezTo>
                    <a:pt x="0" y="113538"/>
                    <a:pt x="113538" y="0"/>
                    <a:pt x="253619" y="0"/>
                  </a:cubicBezTo>
                  <a:lnTo>
                    <a:pt x="4867021" y="0"/>
                  </a:lnTo>
                  <a:cubicBezTo>
                    <a:pt x="5007102" y="0"/>
                    <a:pt x="5120640" y="113538"/>
                    <a:pt x="5120640" y="253619"/>
                  </a:cubicBezTo>
                  <a:lnTo>
                    <a:pt x="5120640" y="2916301"/>
                  </a:lnTo>
                  <a:cubicBezTo>
                    <a:pt x="5120640" y="3056382"/>
                    <a:pt x="5007102" y="3169920"/>
                    <a:pt x="4867021" y="3169920"/>
                  </a:cubicBezTo>
                  <a:lnTo>
                    <a:pt x="253619" y="3169920"/>
                  </a:lnTo>
                  <a:cubicBezTo>
                    <a:pt x="113538" y="3169920"/>
                    <a:pt x="0" y="3056382"/>
                    <a:pt x="0" y="2916301"/>
                  </a:cubicBezTo>
                  <a:close/>
                </a:path>
              </a:pathLst>
            </a:custGeom>
            <a:solidFill>
              <a:srgbClr val="FFFFFF"/>
            </a:solidFill>
          </p:spPr>
        </p:sp>
      </p:grpSp>
      <p:sp>
        <p:nvSpPr>
          <p:cNvPr name="TextBox 43" id="43"/>
          <p:cNvSpPr txBox="true"/>
          <p:nvPr/>
        </p:nvSpPr>
        <p:spPr>
          <a:xfrm rot="0">
            <a:off x="13862304" y="5942076"/>
            <a:ext cx="3291840" cy="495300"/>
          </a:xfrm>
          <a:prstGeom prst="rect">
            <a:avLst/>
          </a:prstGeom>
        </p:spPr>
        <p:txBody>
          <a:bodyPr anchor="t" rtlCol="false" tIns="0" lIns="0" bIns="0" rIns="0">
            <a:spAutoFit/>
          </a:bodyPr>
          <a:lstStyle/>
          <a:p>
            <a:pPr algn="l">
              <a:lnSpc>
                <a:spcPts val="2879"/>
              </a:lnSpc>
            </a:pPr>
            <a:r>
              <a:rPr lang="en-US" sz="2400">
                <a:solidFill>
                  <a:srgbClr val="5B6785"/>
                </a:solidFill>
                <a:latin typeface="Calibri (MS)"/>
                <a:ea typeface="Calibri (MS)"/>
                <a:cs typeface="Calibri (MS)"/>
                <a:sym typeface="Calibri (MS)"/>
              </a:rPr>
              <a:t>Documents sensibles</a:t>
            </a:r>
          </a:p>
        </p:txBody>
      </p:sp>
      <p:sp>
        <p:nvSpPr>
          <p:cNvPr name="TextBox 44" id="44"/>
          <p:cNvSpPr txBox="true"/>
          <p:nvPr/>
        </p:nvSpPr>
        <p:spPr>
          <a:xfrm rot="0">
            <a:off x="13862304" y="6388989"/>
            <a:ext cx="914400" cy="578739"/>
          </a:xfrm>
          <a:prstGeom prst="rect">
            <a:avLst/>
          </a:prstGeom>
        </p:spPr>
        <p:txBody>
          <a:bodyPr anchor="t" rtlCol="false" tIns="0" lIns="0" bIns="0" rIns="0">
            <a:spAutoFit/>
          </a:bodyPr>
          <a:lstStyle/>
          <a:p>
            <a:pPr algn="l">
              <a:lnSpc>
                <a:spcPts val="3359"/>
              </a:lnSpc>
            </a:pPr>
            <a:r>
              <a:rPr lang="en-US" sz="2799" b="true">
                <a:solidFill>
                  <a:srgbClr val="B85A1B"/>
                </a:solidFill>
                <a:latin typeface="Calibri (MS) Bold"/>
                <a:ea typeface="Calibri (MS) Bold"/>
                <a:cs typeface="Calibri (MS) Bold"/>
                <a:sym typeface="Calibri (MS) Bold"/>
              </a:rPr>
              <a:t>↓</a:t>
            </a:r>
          </a:p>
        </p:txBody>
      </p:sp>
      <p:sp>
        <p:nvSpPr>
          <p:cNvPr name="TextBox 45" id="45"/>
          <p:cNvSpPr txBox="true"/>
          <p:nvPr/>
        </p:nvSpPr>
        <p:spPr>
          <a:xfrm rot="0">
            <a:off x="13862304" y="6919341"/>
            <a:ext cx="3291840" cy="1072515"/>
          </a:xfrm>
          <a:prstGeom prst="rect">
            <a:avLst/>
          </a:prstGeom>
        </p:spPr>
        <p:txBody>
          <a:bodyPr anchor="t" rtlCol="false" tIns="0" lIns="0" bIns="0" rIns="0">
            <a:spAutoFit/>
          </a:bodyPr>
          <a:lstStyle/>
          <a:p>
            <a:pPr algn="l">
              <a:lnSpc>
                <a:spcPts val="3359"/>
              </a:lnSpc>
            </a:pPr>
            <a:r>
              <a:rPr lang="en-US" sz="2799" b="true">
                <a:solidFill>
                  <a:srgbClr val="0A1D42"/>
                </a:solidFill>
                <a:latin typeface="Calibri (MS) Bold"/>
                <a:ea typeface="Calibri (MS) Bold"/>
                <a:cs typeface="Calibri (MS) Bold"/>
                <a:sym typeface="Calibri (MS) Bold"/>
              </a:rPr>
              <a:t>Stockage privé, accès admin</a:t>
            </a:r>
          </a:p>
        </p:txBody>
      </p:sp>
      <p:sp>
        <p:nvSpPr>
          <p:cNvPr name="TextBox 46" id="46"/>
          <p:cNvSpPr txBox="true"/>
          <p:nvPr/>
        </p:nvSpPr>
        <p:spPr>
          <a:xfrm rot="0">
            <a:off x="914400" y="8337804"/>
            <a:ext cx="16459200" cy="586740"/>
          </a:xfrm>
          <a:prstGeom prst="rect">
            <a:avLst/>
          </a:prstGeom>
        </p:spPr>
        <p:txBody>
          <a:bodyPr anchor="t" rtlCol="false" tIns="0" lIns="0" bIns="0" rIns="0">
            <a:spAutoFit/>
          </a:bodyPr>
          <a:lstStyle/>
          <a:p>
            <a:pPr algn="l">
              <a:lnSpc>
                <a:spcPts val="2879"/>
              </a:lnSpc>
            </a:pPr>
            <a:r>
              <a:rPr lang="en-US" sz="2400" b="true">
                <a:solidFill>
                  <a:srgbClr val="5B6785"/>
                </a:solidFill>
                <a:latin typeface="Calibri (MS) Bold"/>
                <a:ea typeface="Calibri (MS) Bold"/>
                <a:cs typeface="Calibri (MS) Bold"/>
                <a:sym typeface="Calibri (MS) Bold"/>
              </a:rPr>
              <a:t>Sécurité : </a:t>
            </a:r>
            <a:r>
              <a:rPr lang="en-US" sz="2400">
                <a:solidFill>
                  <a:srgbClr val="5B6785"/>
                </a:solidFill>
                <a:latin typeface="Calibri (MS)"/>
                <a:ea typeface="Calibri (MS)"/>
                <a:cs typeface="Calibri (MS)"/>
                <a:sym typeface="Calibri (MS)"/>
              </a:rPr>
              <a:t>accès admin protégé · données vérifiées · documents privés · envois limités</a:t>
            </a:r>
          </a:p>
        </p:txBody>
      </p:sp>
      <p:sp>
        <p:nvSpPr>
          <p:cNvPr name="TextBox 47" id="47"/>
          <p:cNvSpPr txBox="true"/>
          <p:nvPr/>
        </p:nvSpPr>
        <p:spPr>
          <a:xfrm rot="0">
            <a:off x="15819120" y="9608820"/>
            <a:ext cx="731520" cy="403860"/>
          </a:xfrm>
          <a:prstGeom prst="rect">
            <a:avLst/>
          </a:prstGeom>
        </p:spPr>
        <p:txBody>
          <a:bodyPr anchor="t" rtlCol="false" tIns="0" lIns="0" bIns="0" rIns="0">
            <a:spAutoFit/>
          </a:bodyPr>
          <a:lstStyle/>
          <a:p>
            <a:pPr algn="r">
              <a:lnSpc>
                <a:spcPts val="2400"/>
              </a:lnSpc>
            </a:pPr>
            <a:r>
              <a:rPr lang="en-US" sz="2000">
                <a:solidFill>
                  <a:srgbClr val="5B6785"/>
                </a:solidFill>
                <a:latin typeface="Calibri (MS)"/>
                <a:ea typeface="Calibri (MS)"/>
                <a:cs typeface="Calibri (MS)"/>
                <a:sym typeface="Calibri (MS)"/>
              </a:rPr>
              <a:t>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7145000" y="0"/>
            <a:ext cx="1143000" cy="1751990"/>
            <a:chOff x="0" y="0"/>
            <a:chExt cx="1524000" cy="2335987"/>
          </a:xfrm>
        </p:grpSpPr>
        <p:sp>
          <p:nvSpPr>
            <p:cNvPr name="Freeform 3" id="3" descr="assets/blob_tr.png"/>
            <p:cNvSpPr/>
            <p:nvPr/>
          </p:nvSpPr>
          <p:spPr>
            <a:xfrm flipH="false" flipV="false" rot="0">
              <a:off x="0" y="0"/>
              <a:ext cx="1524000" cy="2336038"/>
            </a:xfrm>
            <a:custGeom>
              <a:avLst/>
              <a:gdLst/>
              <a:ahLst/>
              <a:cxnLst/>
              <a:rect r="r" b="b" t="t" l="l"/>
              <a:pathLst>
                <a:path h="2336038" w="1524000">
                  <a:moveTo>
                    <a:pt x="0" y="0"/>
                  </a:moveTo>
                  <a:lnTo>
                    <a:pt x="1524000" y="0"/>
                  </a:lnTo>
                  <a:lnTo>
                    <a:pt x="1524000" y="2336038"/>
                  </a:lnTo>
                  <a:lnTo>
                    <a:pt x="0" y="2336038"/>
                  </a:lnTo>
                  <a:lnTo>
                    <a:pt x="0" y="0"/>
                  </a:lnTo>
                  <a:close/>
                </a:path>
              </a:pathLst>
            </a:custGeom>
            <a:blipFill>
              <a:blip r:embed="rId3"/>
              <a:stretch>
                <a:fillRect l="-25" t="0" r="-26" b="2"/>
              </a:stretch>
            </a:blipFill>
          </p:spPr>
        </p:sp>
      </p:grpSp>
      <p:grpSp>
        <p:nvGrpSpPr>
          <p:cNvPr name="Group 4" id="4"/>
          <p:cNvGrpSpPr/>
          <p:nvPr/>
        </p:nvGrpSpPr>
        <p:grpSpPr>
          <a:xfrm rot="0">
            <a:off x="914400" y="1097280"/>
            <a:ext cx="14996160" cy="1133856"/>
            <a:chOff x="0" y="0"/>
            <a:chExt cx="19994880" cy="1511808"/>
          </a:xfrm>
        </p:grpSpPr>
        <p:sp>
          <p:nvSpPr>
            <p:cNvPr name="Freeform 5" id="5"/>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4">
                <a:alphaModFix amt="0"/>
              </a:blip>
              <a:stretch>
                <a:fillRect l="0" t="-207705" r="0" b="-207705"/>
              </a:stretch>
            </a:blipFill>
          </p:spPr>
        </p:sp>
        <p:sp>
          <p:nvSpPr>
            <p:cNvPr name="TextBox 6" id="6"/>
            <p:cNvSpPr txBox="true"/>
            <p:nvPr/>
          </p:nvSpPr>
          <p:spPr>
            <a:xfrm>
              <a:off x="0" y="-19050"/>
              <a:ext cx="19994880"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LIMITES &amp; PERSPECTIVES</a:t>
              </a:r>
            </a:p>
          </p:txBody>
        </p:sp>
      </p:grpSp>
      <p:grpSp>
        <p:nvGrpSpPr>
          <p:cNvPr name="Group 7" id="7"/>
          <p:cNvGrpSpPr/>
          <p:nvPr/>
        </p:nvGrpSpPr>
        <p:grpSpPr>
          <a:xfrm rot="0">
            <a:off x="914400" y="2377440"/>
            <a:ext cx="6949440" cy="5394960"/>
            <a:chOff x="0" y="0"/>
            <a:chExt cx="9265920" cy="7193280"/>
          </a:xfrm>
        </p:grpSpPr>
        <p:sp>
          <p:nvSpPr>
            <p:cNvPr name="Freeform 8" id="8"/>
            <p:cNvSpPr/>
            <p:nvPr/>
          </p:nvSpPr>
          <p:spPr>
            <a:xfrm flipH="false" flipV="false" rot="0">
              <a:off x="0" y="0"/>
              <a:ext cx="9265920" cy="7193280"/>
            </a:xfrm>
            <a:custGeom>
              <a:avLst/>
              <a:gdLst/>
              <a:ahLst/>
              <a:cxnLst/>
              <a:rect r="r" b="b" t="t" l="l"/>
              <a:pathLst>
                <a:path h="7193280" w="9265920">
                  <a:moveTo>
                    <a:pt x="0" y="575437"/>
                  </a:moveTo>
                  <a:cubicBezTo>
                    <a:pt x="0" y="257683"/>
                    <a:pt x="257683" y="0"/>
                    <a:pt x="575437" y="0"/>
                  </a:cubicBezTo>
                  <a:lnTo>
                    <a:pt x="8690483" y="0"/>
                  </a:lnTo>
                  <a:cubicBezTo>
                    <a:pt x="9008364" y="0"/>
                    <a:pt x="9265920" y="257683"/>
                    <a:pt x="9265920" y="575437"/>
                  </a:cubicBezTo>
                  <a:lnTo>
                    <a:pt x="9265920" y="6617843"/>
                  </a:lnTo>
                  <a:cubicBezTo>
                    <a:pt x="9265920" y="6935725"/>
                    <a:pt x="9008237" y="7193280"/>
                    <a:pt x="8690483" y="7193280"/>
                  </a:cubicBezTo>
                  <a:lnTo>
                    <a:pt x="575437" y="7193280"/>
                  </a:lnTo>
                  <a:cubicBezTo>
                    <a:pt x="257683" y="7193280"/>
                    <a:pt x="0" y="6935597"/>
                    <a:pt x="0" y="6617843"/>
                  </a:cubicBezTo>
                  <a:close/>
                </a:path>
              </a:pathLst>
            </a:custGeom>
            <a:solidFill>
              <a:srgbClr val="FFFFFF"/>
            </a:solidFill>
          </p:spPr>
        </p:sp>
      </p:grpSp>
      <p:grpSp>
        <p:nvGrpSpPr>
          <p:cNvPr name="Group 9" id="9"/>
          <p:cNvGrpSpPr/>
          <p:nvPr/>
        </p:nvGrpSpPr>
        <p:grpSpPr>
          <a:xfrm rot="0">
            <a:off x="1371600" y="2779776"/>
            <a:ext cx="694944" cy="694944"/>
            <a:chOff x="0" y="0"/>
            <a:chExt cx="926592" cy="926592"/>
          </a:xfrm>
        </p:grpSpPr>
        <p:sp>
          <p:nvSpPr>
            <p:cNvPr name="Freeform 10" id="10" descr="Icône limites"/>
            <p:cNvSpPr/>
            <p:nvPr/>
          </p:nvSpPr>
          <p:spPr>
            <a:xfrm flipH="false" flipV="false" rot="0">
              <a:off x="0" y="0"/>
              <a:ext cx="926592" cy="926592"/>
            </a:xfrm>
            <a:custGeom>
              <a:avLst/>
              <a:gdLst/>
              <a:ahLst/>
              <a:cxnLst/>
              <a:rect r="r" b="b" t="t" l="l"/>
              <a:pathLst>
                <a:path h="926592" w="926592">
                  <a:moveTo>
                    <a:pt x="0" y="0"/>
                  </a:moveTo>
                  <a:lnTo>
                    <a:pt x="926592" y="0"/>
                  </a:lnTo>
                  <a:lnTo>
                    <a:pt x="926592" y="926592"/>
                  </a:lnTo>
                  <a:lnTo>
                    <a:pt x="0" y="926592"/>
                  </a:lnTo>
                  <a:lnTo>
                    <a:pt x="0" y="0"/>
                  </a:lnTo>
                  <a:close/>
                </a:path>
              </a:pathLst>
            </a:custGeom>
            <a:blipFill>
              <a:blip r:embed="rId5"/>
              <a:stretch>
                <a:fillRect l="0" t="0" r="0" b="0"/>
              </a:stretch>
            </a:blipFill>
          </p:spPr>
        </p:sp>
      </p:grpSp>
      <p:grpSp>
        <p:nvGrpSpPr>
          <p:cNvPr name="Group 11" id="11"/>
          <p:cNvGrpSpPr/>
          <p:nvPr/>
        </p:nvGrpSpPr>
        <p:grpSpPr>
          <a:xfrm rot="0">
            <a:off x="2286000" y="2779776"/>
            <a:ext cx="5120640" cy="694944"/>
            <a:chOff x="0" y="0"/>
            <a:chExt cx="6827520" cy="926592"/>
          </a:xfrm>
        </p:grpSpPr>
        <p:sp>
          <p:nvSpPr>
            <p:cNvPr name="Freeform 12" id="12"/>
            <p:cNvSpPr/>
            <p:nvPr/>
          </p:nvSpPr>
          <p:spPr>
            <a:xfrm flipH="false" flipV="false" rot="0">
              <a:off x="0" y="0"/>
              <a:ext cx="6827520" cy="926592"/>
            </a:xfrm>
            <a:custGeom>
              <a:avLst/>
              <a:gdLst/>
              <a:ahLst/>
              <a:cxnLst/>
              <a:rect r="r" b="b" t="t" l="l"/>
              <a:pathLst>
                <a:path h="926592" w="6827520">
                  <a:moveTo>
                    <a:pt x="0" y="0"/>
                  </a:moveTo>
                  <a:lnTo>
                    <a:pt x="6827520" y="0"/>
                  </a:lnTo>
                  <a:lnTo>
                    <a:pt x="6827520" y="926592"/>
                  </a:lnTo>
                  <a:lnTo>
                    <a:pt x="0" y="926592"/>
                  </a:lnTo>
                  <a:close/>
                </a:path>
              </a:pathLst>
            </a:custGeom>
            <a:blipFill>
              <a:blip r:embed="rId4">
                <a:alphaModFix amt="0"/>
              </a:blip>
              <a:stretch>
                <a:fillRect l="0" t="-93573" r="0" b="-93573"/>
              </a:stretch>
            </a:blipFill>
          </p:spPr>
        </p:sp>
        <p:sp>
          <p:nvSpPr>
            <p:cNvPr name="TextBox 13" id="13"/>
            <p:cNvSpPr txBox="true"/>
            <p:nvPr/>
          </p:nvSpPr>
          <p:spPr>
            <a:xfrm>
              <a:off x="0" y="-66675"/>
              <a:ext cx="6827520" cy="993267"/>
            </a:xfrm>
            <a:prstGeom prst="rect">
              <a:avLst/>
            </a:prstGeom>
          </p:spPr>
          <p:txBody>
            <a:bodyPr anchor="ctr" rtlCol="false" tIns="0" lIns="0" bIns="0" rIns="0"/>
            <a:lstStyle/>
            <a:p>
              <a:pPr algn="l">
                <a:lnSpc>
                  <a:spcPts val="4320"/>
                </a:lnSpc>
              </a:pPr>
              <a:r>
                <a:rPr lang="en-US" sz="3600" b="true">
                  <a:solidFill>
                    <a:srgbClr val="0A1D42"/>
                  </a:solidFill>
                  <a:latin typeface="Calibri (MS) Bold"/>
                  <a:ea typeface="Calibri (MS) Bold"/>
                  <a:cs typeface="Calibri (MS) Bold"/>
                  <a:sym typeface="Calibri (MS) Bold"/>
                </a:rPr>
                <a:t>Limites</a:t>
              </a:r>
            </a:p>
          </p:txBody>
        </p:sp>
      </p:grpSp>
      <p:sp>
        <p:nvSpPr>
          <p:cNvPr name="TextBox 14" id="14"/>
          <p:cNvSpPr txBox="true"/>
          <p:nvPr/>
        </p:nvSpPr>
        <p:spPr>
          <a:xfrm rot="0">
            <a:off x="1371600" y="3956685"/>
            <a:ext cx="6126480" cy="3632835"/>
          </a:xfrm>
          <a:prstGeom prst="rect">
            <a:avLst/>
          </a:prstGeom>
        </p:spPr>
        <p:txBody>
          <a:bodyPr anchor="t" rtlCol="false" tIns="0" lIns="0" bIns="0" rIns="0">
            <a:spAutoFit/>
          </a:bodyPr>
          <a:lstStyle/>
          <a:p>
            <a:pPr algn="l" marL="675639" indent="-337820" lvl="1">
              <a:lnSpc>
                <a:spcPts val="3359"/>
              </a:lnSpc>
              <a:buFont typeface="Arial"/>
              <a:buChar char="•"/>
            </a:pPr>
            <a:r>
              <a:rPr lang="en-US" sz="2799">
                <a:solidFill>
                  <a:srgbClr val="0A1D42"/>
                </a:solidFill>
                <a:latin typeface="Calibri (MS)"/>
                <a:ea typeface="Calibri (MS)"/>
                <a:cs typeface="Calibri (MS)"/>
                <a:sym typeface="Calibri (MS)"/>
              </a:rPr>
              <a:t>Prototype avec données de démonstration</a:t>
            </a:r>
          </a:p>
          <a:p>
            <a:pPr algn="l" marL="675639" indent="-337820" lvl="1">
              <a:lnSpc>
                <a:spcPts val="3359"/>
              </a:lnSpc>
              <a:buFont typeface="Arial"/>
              <a:buChar char="•"/>
            </a:pPr>
            <a:r>
              <a:rPr lang="en-US" sz="2799">
                <a:solidFill>
                  <a:srgbClr val="0A1D42"/>
                </a:solidFill>
                <a:latin typeface="Calibri (MS)"/>
                <a:ea typeface="Calibri (MS)"/>
                <a:cs typeface="Calibri (MS)"/>
                <a:sym typeface="Calibri (MS)"/>
              </a:rPr>
              <a:t>Pas encore testé par de vrais utilisateurs</a:t>
            </a:r>
          </a:p>
          <a:p>
            <a:pPr algn="l" marL="675639" indent="-337820" lvl="1">
              <a:lnSpc>
                <a:spcPts val="3359"/>
              </a:lnSpc>
              <a:buFont typeface="Arial"/>
              <a:buChar char="•"/>
            </a:pPr>
            <a:r>
              <a:rPr lang="en-US" sz="2799">
                <a:solidFill>
                  <a:srgbClr val="0A1D42"/>
                </a:solidFill>
                <a:latin typeface="Calibri (MS)"/>
                <a:ea typeface="Calibri (MS)"/>
                <a:cs typeface="Calibri (MS)"/>
                <a:sym typeface="Calibri (MS)"/>
              </a:rPr>
              <a:t>Pas de journal d'audit ni de rôles distincts</a:t>
            </a:r>
          </a:p>
        </p:txBody>
      </p:sp>
      <p:grpSp>
        <p:nvGrpSpPr>
          <p:cNvPr name="Group 15" id="15"/>
          <p:cNvGrpSpPr/>
          <p:nvPr/>
        </p:nvGrpSpPr>
        <p:grpSpPr>
          <a:xfrm rot="0">
            <a:off x="8412480" y="2377440"/>
            <a:ext cx="8961120" cy="5394960"/>
            <a:chOff x="0" y="0"/>
            <a:chExt cx="11948160" cy="7193280"/>
          </a:xfrm>
        </p:grpSpPr>
        <p:sp>
          <p:nvSpPr>
            <p:cNvPr name="Freeform 16" id="16"/>
            <p:cNvSpPr/>
            <p:nvPr/>
          </p:nvSpPr>
          <p:spPr>
            <a:xfrm flipH="false" flipV="false" rot="0">
              <a:off x="0" y="0"/>
              <a:ext cx="11948160" cy="7193280"/>
            </a:xfrm>
            <a:custGeom>
              <a:avLst/>
              <a:gdLst/>
              <a:ahLst/>
              <a:cxnLst/>
              <a:rect r="r" b="b" t="t" l="l"/>
              <a:pathLst>
                <a:path h="7193280" w="11948160">
                  <a:moveTo>
                    <a:pt x="0" y="575437"/>
                  </a:moveTo>
                  <a:cubicBezTo>
                    <a:pt x="0" y="257683"/>
                    <a:pt x="257683" y="0"/>
                    <a:pt x="575437" y="0"/>
                  </a:cubicBezTo>
                  <a:lnTo>
                    <a:pt x="11372723" y="0"/>
                  </a:lnTo>
                  <a:cubicBezTo>
                    <a:pt x="11690604" y="0"/>
                    <a:pt x="11948160" y="257683"/>
                    <a:pt x="11948160" y="575437"/>
                  </a:cubicBezTo>
                  <a:lnTo>
                    <a:pt x="11948160" y="6617843"/>
                  </a:lnTo>
                  <a:cubicBezTo>
                    <a:pt x="11948160" y="6935725"/>
                    <a:pt x="11690477" y="7193280"/>
                    <a:pt x="11372723" y="7193280"/>
                  </a:cubicBezTo>
                  <a:lnTo>
                    <a:pt x="575437" y="7193280"/>
                  </a:lnTo>
                  <a:cubicBezTo>
                    <a:pt x="257683" y="7193280"/>
                    <a:pt x="0" y="6935597"/>
                    <a:pt x="0" y="6617843"/>
                  </a:cubicBezTo>
                  <a:close/>
                </a:path>
              </a:pathLst>
            </a:custGeom>
            <a:solidFill>
              <a:srgbClr val="FFFFFF"/>
            </a:solidFill>
          </p:spPr>
        </p:sp>
      </p:grpSp>
      <p:grpSp>
        <p:nvGrpSpPr>
          <p:cNvPr name="Group 17" id="17"/>
          <p:cNvGrpSpPr/>
          <p:nvPr/>
        </p:nvGrpSpPr>
        <p:grpSpPr>
          <a:xfrm rot="0">
            <a:off x="8869680" y="2779776"/>
            <a:ext cx="7315200" cy="694944"/>
            <a:chOff x="0" y="0"/>
            <a:chExt cx="9753600" cy="926592"/>
          </a:xfrm>
        </p:grpSpPr>
        <p:sp>
          <p:nvSpPr>
            <p:cNvPr name="Freeform 18" id="18"/>
            <p:cNvSpPr/>
            <p:nvPr/>
          </p:nvSpPr>
          <p:spPr>
            <a:xfrm flipH="false" flipV="false" rot="0">
              <a:off x="0" y="0"/>
              <a:ext cx="9753600" cy="926592"/>
            </a:xfrm>
            <a:custGeom>
              <a:avLst/>
              <a:gdLst/>
              <a:ahLst/>
              <a:cxnLst/>
              <a:rect r="r" b="b" t="t" l="l"/>
              <a:pathLst>
                <a:path h="926592" w="9753600">
                  <a:moveTo>
                    <a:pt x="0" y="0"/>
                  </a:moveTo>
                  <a:lnTo>
                    <a:pt x="9753600" y="0"/>
                  </a:lnTo>
                  <a:lnTo>
                    <a:pt x="9753600" y="926592"/>
                  </a:lnTo>
                  <a:lnTo>
                    <a:pt x="0" y="926592"/>
                  </a:lnTo>
                  <a:close/>
                </a:path>
              </a:pathLst>
            </a:custGeom>
            <a:blipFill>
              <a:blip r:embed="rId4">
                <a:alphaModFix amt="0"/>
              </a:blip>
              <a:stretch>
                <a:fillRect l="0" t="-155105" r="0" b="-155105"/>
              </a:stretch>
            </a:blipFill>
          </p:spPr>
        </p:sp>
        <p:sp>
          <p:nvSpPr>
            <p:cNvPr name="TextBox 19" id="19"/>
            <p:cNvSpPr txBox="true"/>
            <p:nvPr/>
          </p:nvSpPr>
          <p:spPr>
            <a:xfrm>
              <a:off x="0" y="-66675"/>
              <a:ext cx="9753600" cy="993267"/>
            </a:xfrm>
            <a:prstGeom prst="rect">
              <a:avLst/>
            </a:prstGeom>
          </p:spPr>
          <p:txBody>
            <a:bodyPr anchor="ctr" rtlCol="false" tIns="0" lIns="0" bIns="0" rIns="0"/>
            <a:lstStyle/>
            <a:p>
              <a:pPr algn="l">
                <a:lnSpc>
                  <a:spcPts val="4320"/>
                </a:lnSpc>
              </a:pPr>
              <a:r>
                <a:rPr lang="en-US" sz="3600" b="true">
                  <a:solidFill>
                    <a:srgbClr val="0A1D42"/>
                  </a:solidFill>
                  <a:latin typeface="Calibri (MS) Bold"/>
                  <a:ea typeface="Calibri (MS) Bold"/>
                  <a:cs typeface="Calibri (MS) Bold"/>
                  <a:sym typeface="Calibri (MS) Bold"/>
                </a:rPr>
                <a:t>Perspectives</a:t>
              </a:r>
            </a:p>
          </p:txBody>
        </p:sp>
      </p:grpSp>
      <p:grpSp>
        <p:nvGrpSpPr>
          <p:cNvPr name="Group 20" id="20"/>
          <p:cNvGrpSpPr/>
          <p:nvPr/>
        </p:nvGrpSpPr>
        <p:grpSpPr>
          <a:xfrm rot="0">
            <a:off x="8869680" y="3931920"/>
            <a:ext cx="2194560" cy="694944"/>
            <a:chOff x="0" y="0"/>
            <a:chExt cx="2926080" cy="926592"/>
          </a:xfrm>
        </p:grpSpPr>
        <p:sp>
          <p:nvSpPr>
            <p:cNvPr name="Freeform 21" id="21"/>
            <p:cNvSpPr/>
            <p:nvPr/>
          </p:nvSpPr>
          <p:spPr>
            <a:xfrm flipH="false" flipV="false" rot="0">
              <a:off x="0" y="0"/>
              <a:ext cx="2926080" cy="926592"/>
            </a:xfrm>
            <a:custGeom>
              <a:avLst/>
              <a:gdLst/>
              <a:ahLst/>
              <a:cxnLst/>
              <a:rect r="r" b="b" t="t" l="l"/>
              <a:pathLst>
                <a:path h="926592" w="2926080">
                  <a:moveTo>
                    <a:pt x="0" y="463296"/>
                  </a:moveTo>
                  <a:cubicBezTo>
                    <a:pt x="0" y="207391"/>
                    <a:pt x="207391" y="0"/>
                    <a:pt x="463296" y="0"/>
                  </a:cubicBezTo>
                  <a:lnTo>
                    <a:pt x="2462784" y="0"/>
                  </a:lnTo>
                  <a:cubicBezTo>
                    <a:pt x="2718689" y="0"/>
                    <a:pt x="2926080" y="207391"/>
                    <a:pt x="2926080" y="463296"/>
                  </a:cubicBezTo>
                  <a:cubicBezTo>
                    <a:pt x="2926080" y="719201"/>
                    <a:pt x="2718689" y="926592"/>
                    <a:pt x="2462784" y="926592"/>
                  </a:cubicBezTo>
                  <a:lnTo>
                    <a:pt x="463296" y="926592"/>
                  </a:lnTo>
                  <a:cubicBezTo>
                    <a:pt x="207391" y="926592"/>
                    <a:pt x="0" y="719201"/>
                    <a:pt x="0" y="463296"/>
                  </a:cubicBezTo>
                  <a:close/>
                </a:path>
              </a:pathLst>
            </a:custGeom>
            <a:solidFill>
              <a:srgbClr val="0A1D42"/>
            </a:solidFill>
          </p:spPr>
        </p:sp>
        <p:sp>
          <p:nvSpPr>
            <p:cNvPr name="TextBox 22" id="22"/>
            <p:cNvSpPr txBox="true"/>
            <p:nvPr/>
          </p:nvSpPr>
          <p:spPr>
            <a:xfrm>
              <a:off x="0" y="-38100"/>
              <a:ext cx="2926080" cy="964692"/>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Court terme</a:t>
              </a:r>
            </a:p>
          </p:txBody>
        </p:sp>
      </p:grpSp>
      <p:grpSp>
        <p:nvGrpSpPr>
          <p:cNvPr name="Group 23" id="23"/>
          <p:cNvGrpSpPr/>
          <p:nvPr/>
        </p:nvGrpSpPr>
        <p:grpSpPr>
          <a:xfrm rot="0">
            <a:off x="11338560" y="3749040"/>
            <a:ext cx="5669280" cy="1097280"/>
            <a:chOff x="0" y="0"/>
            <a:chExt cx="7559040" cy="1463040"/>
          </a:xfrm>
        </p:grpSpPr>
        <p:sp>
          <p:nvSpPr>
            <p:cNvPr name="Freeform 24" id="24"/>
            <p:cNvSpPr/>
            <p:nvPr/>
          </p:nvSpPr>
          <p:spPr>
            <a:xfrm flipH="false" flipV="false" rot="0">
              <a:off x="0" y="0"/>
              <a:ext cx="7559040" cy="1463040"/>
            </a:xfrm>
            <a:custGeom>
              <a:avLst/>
              <a:gdLst/>
              <a:ahLst/>
              <a:cxnLst/>
              <a:rect r="r" b="b" t="t" l="l"/>
              <a:pathLst>
                <a:path h="1463040" w="7559040">
                  <a:moveTo>
                    <a:pt x="0" y="0"/>
                  </a:moveTo>
                  <a:lnTo>
                    <a:pt x="7559040" y="0"/>
                  </a:lnTo>
                  <a:lnTo>
                    <a:pt x="7559040" y="1463040"/>
                  </a:lnTo>
                  <a:lnTo>
                    <a:pt x="0" y="1463040"/>
                  </a:lnTo>
                  <a:close/>
                </a:path>
              </a:pathLst>
            </a:custGeom>
            <a:blipFill>
              <a:blip r:embed="rId4">
                <a:alphaModFix amt="0"/>
              </a:blip>
              <a:stretch>
                <a:fillRect l="0" t="-50672" r="0" b="-50672"/>
              </a:stretch>
            </a:blipFill>
          </p:spPr>
        </p:sp>
        <p:sp>
          <p:nvSpPr>
            <p:cNvPr name="TextBox 25" id="25"/>
            <p:cNvSpPr txBox="true"/>
            <p:nvPr/>
          </p:nvSpPr>
          <p:spPr>
            <a:xfrm>
              <a:off x="0" y="-47625"/>
              <a:ext cx="7559040" cy="1510665"/>
            </a:xfrm>
            <a:prstGeom prst="rect">
              <a:avLst/>
            </a:prstGeom>
          </p:spPr>
          <p:txBody>
            <a:bodyPr anchor="ctr" rtlCol="false" tIns="0" lIns="0" bIns="0" rIns="0"/>
            <a:lstStyle/>
            <a:p>
              <a:pPr algn="l">
                <a:lnSpc>
                  <a:spcPts val="2999"/>
                </a:lnSpc>
              </a:pPr>
              <a:r>
                <a:rPr lang="en-US" sz="2499">
                  <a:solidFill>
                    <a:srgbClr val="0A1D42"/>
                  </a:solidFill>
                  <a:latin typeface="Calibri (MS)"/>
                  <a:ea typeface="Calibri (MS)"/>
                  <a:cs typeface="Calibri (MS)"/>
                  <a:sym typeface="Calibri (MS)"/>
                </a:rPr>
                <a:t>Mise en exploitation : HTTPS, sauvegardes, données réelles, formation</a:t>
              </a:r>
            </a:p>
          </p:txBody>
        </p:sp>
      </p:grpSp>
      <p:grpSp>
        <p:nvGrpSpPr>
          <p:cNvPr name="Group 26" id="26"/>
          <p:cNvGrpSpPr/>
          <p:nvPr/>
        </p:nvGrpSpPr>
        <p:grpSpPr>
          <a:xfrm rot="0">
            <a:off x="8869680" y="5212080"/>
            <a:ext cx="2194560" cy="694944"/>
            <a:chOff x="0" y="0"/>
            <a:chExt cx="2926080" cy="926592"/>
          </a:xfrm>
        </p:grpSpPr>
        <p:sp>
          <p:nvSpPr>
            <p:cNvPr name="Freeform 27" id="27"/>
            <p:cNvSpPr/>
            <p:nvPr/>
          </p:nvSpPr>
          <p:spPr>
            <a:xfrm flipH="false" flipV="false" rot="0">
              <a:off x="0" y="0"/>
              <a:ext cx="2926080" cy="926592"/>
            </a:xfrm>
            <a:custGeom>
              <a:avLst/>
              <a:gdLst/>
              <a:ahLst/>
              <a:cxnLst/>
              <a:rect r="r" b="b" t="t" l="l"/>
              <a:pathLst>
                <a:path h="926592" w="2926080">
                  <a:moveTo>
                    <a:pt x="0" y="463296"/>
                  </a:moveTo>
                  <a:cubicBezTo>
                    <a:pt x="0" y="207391"/>
                    <a:pt x="207391" y="0"/>
                    <a:pt x="463296" y="0"/>
                  </a:cubicBezTo>
                  <a:lnTo>
                    <a:pt x="2462784" y="0"/>
                  </a:lnTo>
                  <a:cubicBezTo>
                    <a:pt x="2718689" y="0"/>
                    <a:pt x="2926080" y="207391"/>
                    <a:pt x="2926080" y="463296"/>
                  </a:cubicBezTo>
                  <a:cubicBezTo>
                    <a:pt x="2926080" y="719201"/>
                    <a:pt x="2718689" y="926592"/>
                    <a:pt x="2462784" y="926592"/>
                  </a:cubicBezTo>
                  <a:lnTo>
                    <a:pt x="463296" y="926592"/>
                  </a:lnTo>
                  <a:cubicBezTo>
                    <a:pt x="207391" y="926592"/>
                    <a:pt x="0" y="719201"/>
                    <a:pt x="0" y="463296"/>
                  </a:cubicBezTo>
                  <a:close/>
                </a:path>
              </a:pathLst>
            </a:custGeom>
            <a:solidFill>
              <a:srgbClr val="0A1D42"/>
            </a:solidFill>
          </p:spPr>
        </p:sp>
        <p:sp>
          <p:nvSpPr>
            <p:cNvPr name="TextBox 28" id="28"/>
            <p:cNvSpPr txBox="true"/>
            <p:nvPr/>
          </p:nvSpPr>
          <p:spPr>
            <a:xfrm>
              <a:off x="0" y="-38100"/>
              <a:ext cx="2926080" cy="964692"/>
            </a:xfrm>
            <a:prstGeom prst="rect">
              <a:avLst/>
            </a:prstGeom>
          </p:spPr>
          <p:txBody>
            <a:bodyPr anchor="ctr" rtlCol="false" tIns="50800" lIns="50800" bIns="50800" rIns="50800"/>
            <a:lstStyle/>
            <a:p>
              <a:pPr algn="ctr">
                <a:lnSpc>
                  <a:spcPts val="2879"/>
                </a:lnSpc>
              </a:pPr>
              <a:r>
                <a:rPr lang="en-US" sz="2400" b="true">
                  <a:solidFill>
                    <a:srgbClr val="FFFFFF"/>
                  </a:solidFill>
                  <a:latin typeface="Calibri (MS) Bold"/>
                  <a:ea typeface="Calibri (MS) Bold"/>
                  <a:cs typeface="Calibri (MS) Bold"/>
                  <a:sym typeface="Calibri (MS) Bold"/>
                </a:rPr>
                <a:t>Moyen terme</a:t>
              </a:r>
            </a:p>
          </p:txBody>
        </p:sp>
      </p:grpSp>
      <p:grpSp>
        <p:nvGrpSpPr>
          <p:cNvPr name="Group 29" id="29"/>
          <p:cNvGrpSpPr/>
          <p:nvPr/>
        </p:nvGrpSpPr>
        <p:grpSpPr>
          <a:xfrm rot="0">
            <a:off x="11338560" y="5029200"/>
            <a:ext cx="5669280" cy="1097280"/>
            <a:chOff x="0" y="0"/>
            <a:chExt cx="7559040" cy="1463040"/>
          </a:xfrm>
        </p:grpSpPr>
        <p:sp>
          <p:nvSpPr>
            <p:cNvPr name="Freeform 30" id="30"/>
            <p:cNvSpPr/>
            <p:nvPr/>
          </p:nvSpPr>
          <p:spPr>
            <a:xfrm flipH="false" flipV="false" rot="0">
              <a:off x="0" y="0"/>
              <a:ext cx="7559040" cy="1463040"/>
            </a:xfrm>
            <a:custGeom>
              <a:avLst/>
              <a:gdLst/>
              <a:ahLst/>
              <a:cxnLst/>
              <a:rect r="r" b="b" t="t" l="l"/>
              <a:pathLst>
                <a:path h="1463040" w="7559040">
                  <a:moveTo>
                    <a:pt x="0" y="0"/>
                  </a:moveTo>
                  <a:lnTo>
                    <a:pt x="7559040" y="0"/>
                  </a:lnTo>
                  <a:lnTo>
                    <a:pt x="7559040" y="1463040"/>
                  </a:lnTo>
                  <a:lnTo>
                    <a:pt x="0" y="1463040"/>
                  </a:lnTo>
                  <a:close/>
                </a:path>
              </a:pathLst>
            </a:custGeom>
            <a:blipFill>
              <a:blip r:embed="rId4">
                <a:alphaModFix amt="0"/>
              </a:blip>
              <a:stretch>
                <a:fillRect l="0" t="-50672" r="0" b="-50672"/>
              </a:stretch>
            </a:blipFill>
          </p:spPr>
        </p:sp>
        <p:sp>
          <p:nvSpPr>
            <p:cNvPr name="TextBox 31" id="31"/>
            <p:cNvSpPr txBox="true"/>
            <p:nvPr/>
          </p:nvSpPr>
          <p:spPr>
            <a:xfrm>
              <a:off x="0" y="-47625"/>
              <a:ext cx="7559040" cy="1510665"/>
            </a:xfrm>
            <a:prstGeom prst="rect">
              <a:avLst/>
            </a:prstGeom>
          </p:spPr>
          <p:txBody>
            <a:bodyPr anchor="ctr" rtlCol="false" tIns="0" lIns="0" bIns="0" rIns="0"/>
            <a:lstStyle/>
            <a:p>
              <a:pPr algn="l">
                <a:lnSpc>
                  <a:spcPts val="2999"/>
                </a:lnSpc>
              </a:pPr>
              <a:r>
                <a:rPr lang="en-US" sz="2499">
                  <a:solidFill>
                    <a:srgbClr val="0A1D42"/>
                  </a:solidFill>
                  <a:latin typeface="Calibri (MS)"/>
                  <a:ea typeface="Calibri (MS)"/>
                  <a:cs typeface="Calibri (MS)"/>
                  <a:sym typeface="Calibri (MS)"/>
                </a:rPr>
                <a:t>Qualité et pilotage : journal d'audit, rôles distincts, notifications</a:t>
              </a:r>
            </a:p>
          </p:txBody>
        </p:sp>
      </p:grpSp>
      <p:grpSp>
        <p:nvGrpSpPr>
          <p:cNvPr name="Group 32" id="32"/>
          <p:cNvGrpSpPr/>
          <p:nvPr/>
        </p:nvGrpSpPr>
        <p:grpSpPr>
          <a:xfrm rot="0">
            <a:off x="8869680" y="6492240"/>
            <a:ext cx="2194560" cy="694944"/>
            <a:chOff x="0" y="0"/>
            <a:chExt cx="2926080" cy="926592"/>
          </a:xfrm>
        </p:grpSpPr>
        <p:sp>
          <p:nvSpPr>
            <p:cNvPr name="Freeform 33" id="33"/>
            <p:cNvSpPr/>
            <p:nvPr/>
          </p:nvSpPr>
          <p:spPr>
            <a:xfrm flipH="false" flipV="false" rot="0">
              <a:off x="0" y="0"/>
              <a:ext cx="2926080" cy="926592"/>
            </a:xfrm>
            <a:custGeom>
              <a:avLst/>
              <a:gdLst/>
              <a:ahLst/>
              <a:cxnLst/>
              <a:rect r="r" b="b" t="t" l="l"/>
              <a:pathLst>
                <a:path h="926592" w="2926080">
                  <a:moveTo>
                    <a:pt x="0" y="463296"/>
                  </a:moveTo>
                  <a:cubicBezTo>
                    <a:pt x="0" y="207391"/>
                    <a:pt x="207391" y="0"/>
                    <a:pt x="463296" y="0"/>
                  </a:cubicBezTo>
                  <a:lnTo>
                    <a:pt x="2462784" y="0"/>
                  </a:lnTo>
                  <a:cubicBezTo>
                    <a:pt x="2718689" y="0"/>
                    <a:pt x="2926080" y="207391"/>
                    <a:pt x="2926080" y="463296"/>
                  </a:cubicBezTo>
                  <a:cubicBezTo>
                    <a:pt x="2926080" y="719201"/>
                    <a:pt x="2718689" y="926592"/>
                    <a:pt x="2462784" y="926592"/>
                  </a:cubicBezTo>
                  <a:lnTo>
                    <a:pt x="463296" y="926592"/>
                  </a:lnTo>
                  <a:cubicBezTo>
                    <a:pt x="207391" y="926592"/>
                    <a:pt x="0" y="719201"/>
                    <a:pt x="0" y="463296"/>
                  </a:cubicBezTo>
                  <a:close/>
                </a:path>
              </a:pathLst>
            </a:custGeom>
            <a:solidFill>
              <a:srgbClr val="FDC830"/>
            </a:solidFill>
          </p:spPr>
        </p:sp>
        <p:sp>
          <p:nvSpPr>
            <p:cNvPr name="TextBox 34" id="34"/>
            <p:cNvSpPr txBox="true"/>
            <p:nvPr/>
          </p:nvSpPr>
          <p:spPr>
            <a:xfrm>
              <a:off x="0" y="-38100"/>
              <a:ext cx="2926080" cy="964692"/>
            </a:xfrm>
            <a:prstGeom prst="rect">
              <a:avLst/>
            </a:prstGeom>
          </p:spPr>
          <p:txBody>
            <a:bodyPr anchor="ctr" rtlCol="false" tIns="50800" lIns="50800" bIns="50800" rIns="50800"/>
            <a:lstStyle/>
            <a:p>
              <a:pPr algn="ctr">
                <a:lnSpc>
                  <a:spcPts val="2879"/>
                </a:lnSpc>
              </a:pPr>
              <a:r>
                <a:rPr lang="en-US" sz="2400" b="true">
                  <a:solidFill>
                    <a:srgbClr val="0A1D42"/>
                  </a:solidFill>
                  <a:latin typeface="Calibri (MS) Bold"/>
                  <a:ea typeface="Calibri (MS) Bold"/>
                  <a:cs typeface="Calibri (MS) Bold"/>
                  <a:sym typeface="Calibri (MS) Bold"/>
                </a:rPr>
                <a:t>Long terme</a:t>
              </a:r>
            </a:p>
          </p:txBody>
        </p:sp>
      </p:grpSp>
      <p:grpSp>
        <p:nvGrpSpPr>
          <p:cNvPr name="Group 35" id="35"/>
          <p:cNvGrpSpPr/>
          <p:nvPr/>
        </p:nvGrpSpPr>
        <p:grpSpPr>
          <a:xfrm rot="0">
            <a:off x="11338560" y="6309360"/>
            <a:ext cx="5669280" cy="1097280"/>
            <a:chOff x="0" y="0"/>
            <a:chExt cx="7559040" cy="1463040"/>
          </a:xfrm>
        </p:grpSpPr>
        <p:sp>
          <p:nvSpPr>
            <p:cNvPr name="Freeform 36" id="36"/>
            <p:cNvSpPr/>
            <p:nvPr/>
          </p:nvSpPr>
          <p:spPr>
            <a:xfrm flipH="false" flipV="false" rot="0">
              <a:off x="0" y="0"/>
              <a:ext cx="7559040" cy="1463040"/>
            </a:xfrm>
            <a:custGeom>
              <a:avLst/>
              <a:gdLst/>
              <a:ahLst/>
              <a:cxnLst/>
              <a:rect r="r" b="b" t="t" l="l"/>
              <a:pathLst>
                <a:path h="1463040" w="7559040">
                  <a:moveTo>
                    <a:pt x="0" y="0"/>
                  </a:moveTo>
                  <a:lnTo>
                    <a:pt x="7559040" y="0"/>
                  </a:lnTo>
                  <a:lnTo>
                    <a:pt x="7559040" y="1463040"/>
                  </a:lnTo>
                  <a:lnTo>
                    <a:pt x="0" y="1463040"/>
                  </a:lnTo>
                  <a:close/>
                </a:path>
              </a:pathLst>
            </a:custGeom>
            <a:blipFill>
              <a:blip r:embed="rId4">
                <a:alphaModFix amt="0"/>
              </a:blip>
              <a:stretch>
                <a:fillRect l="0" t="-50672" r="0" b="-50672"/>
              </a:stretch>
            </a:blipFill>
          </p:spPr>
        </p:sp>
        <p:sp>
          <p:nvSpPr>
            <p:cNvPr name="TextBox 37" id="37"/>
            <p:cNvSpPr txBox="true"/>
            <p:nvPr/>
          </p:nvSpPr>
          <p:spPr>
            <a:xfrm>
              <a:off x="0" y="-47625"/>
              <a:ext cx="7559040" cy="1510665"/>
            </a:xfrm>
            <a:prstGeom prst="rect">
              <a:avLst/>
            </a:prstGeom>
          </p:spPr>
          <p:txBody>
            <a:bodyPr anchor="ctr" rtlCol="false" tIns="0" lIns="0" bIns="0" rIns="0"/>
            <a:lstStyle/>
            <a:p>
              <a:pPr algn="l">
                <a:lnSpc>
                  <a:spcPts val="2999"/>
                </a:lnSpc>
              </a:pPr>
              <a:r>
                <a:rPr lang="en-US" sz="2499">
                  <a:solidFill>
                    <a:srgbClr val="0A1D42"/>
                  </a:solidFill>
                  <a:latin typeface="Calibri (MS)"/>
                  <a:ea typeface="Calibri (MS)"/>
                  <a:cs typeface="Calibri (MS)"/>
                  <a:sym typeface="Calibri (MS)"/>
                </a:rPr>
                <a:t>Évolution : version mobile (PWA), espace de suivi pour les clients</a:t>
              </a:r>
            </a:p>
          </p:txBody>
        </p:sp>
      </p:grpSp>
      <p:sp>
        <p:nvSpPr>
          <p:cNvPr name="TextBox 38" id="38"/>
          <p:cNvSpPr txBox="true"/>
          <p:nvPr/>
        </p:nvSpPr>
        <p:spPr>
          <a:xfrm rot="0">
            <a:off x="914400" y="8100060"/>
            <a:ext cx="16459200" cy="861060"/>
          </a:xfrm>
          <a:prstGeom prst="rect">
            <a:avLst/>
          </a:prstGeom>
        </p:spPr>
        <p:txBody>
          <a:bodyPr anchor="t" rtlCol="false" tIns="0" lIns="0" bIns="0" rIns="0">
            <a:spAutoFit/>
          </a:bodyPr>
          <a:lstStyle/>
          <a:p>
            <a:pPr algn="l">
              <a:lnSpc>
                <a:spcPts val="2879"/>
              </a:lnSpc>
            </a:pPr>
            <a:r>
              <a:rPr lang="en-US" sz="2400" i="true">
                <a:solidFill>
                  <a:srgbClr val="5B6785"/>
                </a:solidFill>
                <a:latin typeface="Calibri (MS) Italics"/>
                <a:ea typeface="Calibri (MS) Italics"/>
                <a:cs typeface="Calibri (MS) Italics"/>
                <a:sym typeface="Calibri (MS) Italics"/>
              </a:rPr>
              <a:t>La plateforme est un outil d'aide à la gestion, pas une garantie juridique : les vérifications foncières restent nécessaires.</a:t>
            </a:r>
          </a:p>
        </p:txBody>
      </p:sp>
      <p:sp>
        <p:nvSpPr>
          <p:cNvPr name="TextBox 39" id="39"/>
          <p:cNvSpPr txBox="true"/>
          <p:nvPr/>
        </p:nvSpPr>
        <p:spPr>
          <a:xfrm rot="0">
            <a:off x="15819120" y="9608820"/>
            <a:ext cx="731520" cy="403860"/>
          </a:xfrm>
          <a:prstGeom prst="rect">
            <a:avLst/>
          </a:prstGeom>
        </p:spPr>
        <p:txBody>
          <a:bodyPr anchor="t" rtlCol="false" tIns="0" lIns="0" bIns="0" rIns="0">
            <a:spAutoFit/>
          </a:bodyPr>
          <a:lstStyle/>
          <a:p>
            <a:pPr algn="r">
              <a:lnSpc>
                <a:spcPts val="2400"/>
              </a:lnSpc>
            </a:pPr>
            <a:r>
              <a:rPr lang="en-US" sz="2000">
                <a:solidFill>
                  <a:srgbClr val="5B6785"/>
                </a:solidFill>
                <a:latin typeface="Calibri (MS)"/>
                <a:ea typeface="Calibri (MS)"/>
                <a:cs typeface="Calibri (MS)"/>
                <a:sym typeface="Calibri (MS)"/>
              </a:rPr>
              <a:t>1</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7145000" y="0"/>
            <a:ext cx="1143000" cy="1751990"/>
            <a:chOff x="0" y="0"/>
            <a:chExt cx="1524000" cy="2335987"/>
          </a:xfrm>
        </p:grpSpPr>
        <p:sp>
          <p:nvSpPr>
            <p:cNvPr name="Freeform 3" id="3" descr="assets/blob_tr.png"/>
            <p:cNvSpPr/>
            <p:nvPr/>
          </p:nvSpPr>
          <p:spPr>
            <a:xfrm flipH="false" flipV="false" rot="0">
              <a:off x="0" y="0"/>
              <a:ext cx="1524000" cy="2336038"/>
            </a:xfrm>
            <a:custGeom>
              <a:avLst/>
              <a:gdLst/>
              <a:ahLst/>
              <a:cxnLst/>
              <a:rect r="r" b="b" t="t" l="l"/>
              <a:pathLst>
                <a:path h="2336038" w="1524000">
                  <a:moveTo>
                    <a:pt x="0" y="0"/>
                  </a:moveTo>
                  <a:lnTo>
                    <a:pt x="1524000" y="0"/>
                  </a:lnTo>
                  <a:lnTo>
                    <a:pt x="1524000" y="2336038"/>
                  </a:lnTo>
                  <a:lnTo>
                    <a:pt x="0" y="2336038"/>
                  </a:lnTo>
                  <a:lnTo>
                    <a:pt x="0" y="0"/>
                  </a:lnTo>
                  <a:close/>
                </a:path>
              </a:pathLst>
            </a:custGeom>
            <a:blipFill>
              <a:blip r:embed="rId3"/>
              <a:stretch>
                <a:fillRect l="-25" t="0" r="-26" b="2"/>
              </a:stretch>
            </a:blipFill>
          </p:spPr>
        </p:sp>
      </p:grpSp>
      <p:grpSp>
        <p:nvGrpSpPr>
          <p:cNvPr name="Group 4" id="4"/>
          <p:cNvGrpSpPr/>
          <p:nvPr/>
        </p:nvGrpSpPr>
        <p:grpSpPr>
          <a:xfrm rot="0">
            <a:off x="914400" y="1097280"/>
            <a:ext cx="14996160" cy="1133856"/>
            <a:chOff x="0" y="0"/>
            <a:chExt cx="19994880" cy="1511808"/>
          </a:xfrm>
        </p:grpSpPr>
        <p:sp>
          <p:nvSpPr>
            <p:cNvPr name="Freeform 5" id="5"/>
            <p:cNvSpPr/>
            <p:nvPr/>
          </p:nvSpPr>
          <p:spPr>
            <a:xfrm flipH="false" flipV="false" rot="0">
              <a:off x="0" y="0"/>
              <a:ext cx="19994880" cy="1511808"/>
            </a:xfrm>
            <a:custGeom>
              <a:avLst/>
              <a:gdLst/>
              <a:ahLst/>
              <a:cxnLst/>
              <a:rect r="r" b="b" t="t" l="l"/>
              <a:pathLst>
                <a:path h="1511808" w="19994880">
                  <a:moveTo>
                    <a:pt x="0" y="0"/>
                  </a:moveTo>
                  <a:lnTo>
                    <a:pt x="19994880" y="0"/>
                  </a:lnTo>
                  <a:lnTo>
                    <a:pt x="19994880" y="1511808"/>
                  </a:lnTo>
                  <a:lnTo>
                    <a:pt x="0" y="1511808"/>
                  </a:lnTo>
                  <a:close/>
                </a:path>
              </a:pathLst>
            </a:custGeom>
            <a:blipFill>
              <a:blip r:embed="rId4">
                <a:alphaModFix amt="0"/>
              </a:blip>
              <a:stretch>
                <a:fillRect l="0" t="-207705" r="0" b="-207705"/>
              </a:stretch>
            </a:blipFill>
          </p:spPr>
        </p:sp>
        <p:sp>
          <p:nvSpPr>
            <p:cNvPr name="TextBox 6" id="6"/>
            <p:cNvSpPr txBox="true"/>
            <p:nvPr/>
          </p:nvSpPr>
          <p:spPr>
            <a:xfrm>
              <a:off x="0" y="-19050"/>
              <a:ext cx="19994880" cy="1530858"/>
            </a:xfrm>
            <a:prstGeom prst="rect">
              <a:avLst/>
            </a:prstGeom>
          </p:spPr>
          <p:txBody>
            <a:bodyPr anchor="ctr" rtlCol="false" tIns="0" lIns="0" bIns="0" rIns="0"/>
            <a:lstStyle/>
            <a:p>
              <a:pPr algn="l">
                <a:lnSpc>
                  <a:spcPts val="5759"/>
                </a:lnSpc>
              </a:pPr>
              <a:r>
                <a:rPr lang="en-US" sz="4800" b="true">
                  <a:solidFill>
                    <a:srgbClr val="0A1D42"/>
                  </a:solidFill>
                  <a:latin typeface="Arial Bold"/>
                  <a:ea typeface="Arial Bold"/>
                  <a:cs typeface="Arial Bold"/>
                  <a:sym typeface="Arial Bold"/>
                </a:rPr>
                <a:t>CONCLUSION</a:t>
              </a:r>
            </a:p>
          </p:txBody>
        </p:sp>
      </p:grpSp>
      <p:grpSp>
        <p:nvGrpSpPr>
          <p:cNvPr name="Group 7" id="7"/>
          <p:cNvGrpSpPr/>
          <p:nvPr/>
        </p:nvGrpSpPr>
        <p:grpSpPr>
          <a:xfrm rot="0">
            <a:off x="908047" y="2645407"/>
            <a:ext cx="5224777" cy="4676137"/>
            <a:chOff x="0" y="0"/>
            <a:chExt cx="6966369" cy="6234849"/>
          </a:xfrm>
        </p:grpSpPr>
        <p:sp>
          <p:nvSpPr>
            <p:cNvPr name="Freeform 8" id="8"/>
            <p:cNvSpPr/>
            <p:nvPr/>
          </p:nvSpPr>
          <p:spPr>
            <a:xfrm flipH="false" flipV="false" rot="0">
              <a:off x="0" y="0"/>
              <a:ext cx="6966331" cy="6234811"/>
            </a:xfrm>
            <a:custGeom>
              <a:avLst/>
              <a:gdLst/>
              <a:ahLst/>
              <a:cxnLst/>
              <a:rect r="r" b="b" t="t" l="l"/>
              <a:pathLst>
                <a:path h="6234811" w="6966331">
                  <a:moveTo>
                    <a:pt x="0" y="342265"/>
                  </a:moveTo>
                  <a:cubicBezTo>
                    <a:pt x="0" y="153289"/>
                    <a:pt x="153289" y="0"/>
                    <a:pt x="342265" y="0"/>
                  </a:cubicBezTo>
                  <a:lnTo>
                    <a:pt x="6624066" y="0"/>
                  </a:lnTo>
                  <a:cubicBezTo>
                    <a:pt x="6813169" y="0"/>
                    <a:pt x="6966331" y="153289"/>
                    <a:pt x="6966331" y="342265"/>
                  </a:cubicBezTo>
                  <a:lnTo>
                    <a:pt x="6966331" y="5892546"/>
                  </a:lnTo>
                  <a:cubicBezTo>
                    <a:pt x="6966331" y="6081649"/>
                    <a:pt x="6813042" y="6234811"/>
                    <a:pt x="6624066" y="6234811"/>
                  </a:cubicBezTo>
                  <a:lnTo>
                    <a:pt x="342265" y="6234811"/>
                  </a:lnTo>
                  <a:cubicBezTo>
                    <a:pt x="153289" y="6234811"/>
                    <a:pt x="0" y="6081649"/>
                    <a:pt x="0" y="5892546"/>
                  </a:cubicBezTo>
                  <a:close/>
                </a:path>
              </a:pathLst>
            </a:custGeom>
            <a:solidFill>
              <a:srgbClr val="0A1D42"/>
            </a:solidFill>
            <a:ln w="12700" cap="sq">
              <a:solidFill>
                <a:srgbClr val="0A1D42"/>
              </a:solidFill>
              <a:prstDash val="solid"/>
              <a:miter/>
            </a:ln>
          </p:spPr>
        </p:sp>
      </p:grpSp>
      <p:grpSp>
        <p:nvGrpSpPr>
          <p:cNvPr name="Group 9" id="9"/>
          <p:cNvGrpSpPr/>
          <p:nvPr/>
        </p:nvGrpSpPr>
        <p:grpSpPr>
          <a:xfrm rot="0">
            <a:off x="1371600" y="3017520"/>
            <a:ext cx="4389120" cy="512064"/>
            <a:chOff x="0" y="0"/>
            <a:chExt cx="5852160" cy="682752"/>
          </a:xfrm>
        </p:grpSpPr>
        <p:sp>
          <p:nvSpPr>
            <p:cNvPr name="Freeform 10" id="10"/>
            <p:cNvSpPr/>
            <p:nvPr/>
          </p:nvSpPr>
          <p:spPr>
            <a:xfrm flipH="false" flipV="false" rot="0">
              <a:off x="0" y="0"/>
              <a:ext cx="5852160" cy="682752"/>
            </a:xfrm>
            <a:custGeom>
              <a:avLst/>
              <a:gdLst/>
              <a:ahLst/>
              <a:cxnLst/>
              <a:rect r="r" b="b" t="t" l="l"/>
              <a:pathLst>
                <a:path h="682752" w="5852160">
                  <a:moveTo>
                    <a:pt x="0" y="0"/>
                  </a:moveTo>
                  <a:lnTo>
                    <a:pt x="5852160" y="0"/>
                  </a:lnTo>
                  <a:lnTo>
                    <a:pt x="5852160" y="682752"/>
                  </a:lnTo>
                  <a:lnTo>
                    <a:pt x="0" y="682752"/>
                  </a:lnTo>
                  <a:close/>
                </a:path>
              </a:pathLst>
            </a:custGeom>
            <a:blipFill>
              <a:blip r:embed="rId4">
                <a:alphaModFix amt="0"/>
              </a:blip>
              <a:stretch>
                <a:fillRect l="0" t="-117014" r="0" b="-117014"/>
              </a:stretch>
            </a:blipFill>
          </p:spPr>
        </p:sp>
        <p:sp>
          <p:nvSpPr>
            <p:cNvPr name="TextBox 11" id="11"/>
            <p:cNvSpPr txBox="true"/>
            <p:nvPr/>
          </p:nvSpPr>
          <p:spPr>
            <a:xfrm>
              <a:off x="0" y="-38100"/>
              <a:ext cx="5852160" cy="720852"/>
            </a:xfrm>
            <a:prstGeom prst="rect">
              <a:avLst/>
            </a:prstGeom>
          </p:spPr>
          <p:txBody>
            <a:bodyPr anchor="ctr" rtlCol="false" tIns="0" lIns="0" bIns="0" rIns="0"/>
            <a:lstStyle/>
            <a:p>
              <a:pPr algn="l">
                <a:lnSpc>
                  <a:spcPts val="2879"/>
                </a:lnSpc>
              </a:pPr>
              <a:r>
                <a:rPr lang="en-US" b="true" sz="2400" spc="600">
                  <a:solidFill>
                    <a:srgbClr val="FDC830"/>
                  </a:solidFill>
                  <a:latin typeface="Calibri (MS) Bold"/>
                  <a:ea typeface="Calibri (MS) Bold"/>
                  <a:cs typeface="Calibri (MS) Bold"/>
                  <a:sym typeface="Calibri (MS) Bold"/>
                </a:rPr>
                <a:t>LE CONSTAT</a:t>
              </a:r>
            </a:p>
          </p:txBody>
        </p:sp>
      </p:grpSp>
      <p:sp>
        <p:nvSpPr>
          <p:cNvPr name="TextBox 12" id="12"/>
          <p:cNvSpPr txBox="true"/>
          <p:nvPr/>
        </p:nvSpPr>
        <p:spPr>
          <a:xfrm rot="0">
            <a:off x="1371600" y="3581400"/>
            <a:ext cx="4389120" cy="1356360"/>
          </a:xfrm>
          <a:prstGeom prst="rect">
            <a:avLst/>
          </a:prstGeom>
        </p:spPr>
        <p:txBody>
          <a:bodyPr anchor="t" rtlCol="false" tIns="0" lIns="0" bIns="0" rIns="0">
            <a:spAutoFit/>
          </a:bodyPr>
          <a:lstStyle/>
          <a:p>
            <a:pPr algn="l">
              <a:lnSpc>
                <a:spcPts val="4560"/>
              </a:lnSpc>
            </a:pPr>
            <a:r>
              <a:rPr lang="en-US" sz="3800" b="true">
                <a:solidFill>
                  <a:srgbClr val="FFE69C"/>
                </a:solidFill>
                <a:latin typeface="Calibri (MS) Bold"/>
                <a:ea typeface="Calibri (MS) Bold"/>
                <a:cs typeface="Calibri (MS) Bold"/>
                <a:sym typeface="Calibri (MS) Bold"/>
              </a:rPr>
              <a:t>Un marché foncier dispersé</a:t>
            </a:r>
          </a:p>
        </p:txBody>
      </p:sp>
      <p:sp>
        <p:nvSpPr>
          <p:cNvPr name="TextBox 13" id="13"/>
          <p:cNvSpPr txBox="true"/>
          <p:nvPr/>
        </p:nvSpPr>
        <p:spPr>
          <a:xfrm rot="0">
            <a:off x="1371600" y="4962525"/>
            <a:ext cx="4389120" cy="2169795"/>
          </a:xfrm>
          <a:prstGeom prst="rect">
            <a:avLst/>
          </a:prstGeom>
        </p:spPr>
        <p:txBody>
          <a:bodyPr anchor="t" rtlCol="false" tIns="0" lIns="0" bIns="0" rIns="0">
            <a:spAutoFit/>
          </a:bodyPr>
          <a:lstStyle/>
          <a:p>
            <a:pPr algn="l">
              <a:lnSpc>
                <a:spcPts val="3359"/>
              </a:lnSpc>
            </a:pPr>
            <a:r>
              <a:rPr lang="en-US" sz="2799">
                <a:solidFill>
                  <a:srgbClr val="FFFFFF"/>
                </a:solidFill>
                <a:latin typeface="Calibri (MS)"/>
                <a:ea typeface="Calibri (MS)"/>
                <a:cs typeface="Calibri (MS)"/>
                <a:sym typeface="Calibri (MS)"/>
              </a:rPr>
              <a:t>Offre, clients et documents éparpillés sur plusieurs supports.</a:t>
            </a:r>
          </a:p>
        </p:txBody>
      </p:sp>
      <p:grpSp>
        <p:nvGrpSpPr>
          <p:cNvPr name="Group 14" id="14"/>
          <p:cNvGrpSpPr/>
          <p:nvPr/>
        </p:nvGrpSpPr>
        <p:grpSpPr>
          <a:xfrm rot="0">
            <a:off x="6531607" y="2645407"/>
            <a:ext cx="5224777" cy="4676137"/>
            <a:chOff x="0" y="0"/>
            <a:chExt cx="6966369" cy="6234849"/>
          </a:xfrm>
        </p:grpSpPr>
        <p:sp>
          <p:nvSpPr>
            <p:cNvPr name="Freeform 15" id="15"/>
            <p:cNvSpPr/>
            <p:nvPr/>
          </p:nvSpPr>
          <p:spPr>
            <a:xfrm flipH="false" flipV="false" rot="0">
              <a:off x="0" y="0"/>
              <a:ext cx="6966331" cy="6234811"/>
            </a:xfrm>
            <a:custGeom>
              <a:avLst/>
              <a:gdLst/>
              <a:ahLst/>
              <a:cxnLst/>
              <a:rect r="r" b="b" t="t" l="l"/>
              <a:pathLst>
                <a:path h="6234811" w="6966331">
                  <a:moveTo>
                    <a:pt x="0" y="342265"/>
                  </a:moveTo>
                  <a:cubicBezTo>
                    <a:pt x="0" y="153289"/>
                    <a:pt x="153289" y="0"/>
                    <a:pt x="342265" y="0"/>
                  </a:cubicBezTo>
                  <a:lnTo>
                    <a:pt x="6624066" y="0"/>
                  </a:lnTo>
                  <a:cubicBezTo>
                    <a:pt x="6813169" y="0"/>
                    <a:pt x="6966331" y="153289"/>
                    <a:pt x="6966331" y="342265"/>
                  </a:cubicBezTo>
                  <a:lnTo>
                    <a:pt x="6966331" y="5892546"/>
                  </a:lnTo>
                  <a:cubicBezTo>
                    <a:pt x="6966331" y="6081649"/>
                    <a:pt x="6813042" y="6234811"/>
                    <a:pt x="6624066" y="6234811"/>
                  </a:cubicBezTo>
                  <a:lnTo>
                    <a:pt x="342265" y="6234811"/>
                  </a:lnTo>
                  <a:cubicBezTo>
                    <a:pt x="153289" y="6234811"/>
                    <a:pt x="0" y="6081649"/>
                    <a:pt x="0" y="5892546"/>
                  </a:cubicBezTo>
                  <a:close/>
                </a:path>
              </a:pathLst>
            </a:custGeom>
            <a:solidFill>
              <a:srgbClr val="0A1D42"/>
            </a:solidFill>
            <a:ln w="12700" cap="sq">
              <a:solidFill>
                <a:srgbClr val="0A1D42"/>
              </a:solidFill>
              <a:prstDash val="solid"/>
              <a:miter/>
            </a:ln>
          </p:spPr>
        </p:sp>
      </p:grpSp>
      <p:grpSp>
        <p:nvGrpSpPr>
          <p:cNvPr name="Group 16" id="16"/>
          <p:cNvGrpSpPr/>
          <p:nvPr/>
        </p:nvGrpSpPr>
        <p:grpSpPr>
          <a:xfrm rot="0">
            <a:off x="6995160" y="3017520"/>
            <a:ext cx="4389120" cy="512064"/>
            <a:chOff x="0" y="0"/>
            <a:chExt cx="5852160" cy="682752"/>
          </a:xfrm>
        </p:grpSpPr>
        <p:sp>
          <p:nvSpPr>
            <p:cNvPr name="Freeform 17" id="17"/>
            <p:cNvSpPr/>
            <p:nvPr/>
          </p:nvSpPr>
          <p:spPr>
            <a:xfrm flipH="false" flipV="false" rot="0">
              <a:off x="0" y="0"/>
              <a:ext cx="5852160" cy="682752"/>
            </a:xfrm>
            <a:custGeom>
              <a:avLst/>
              <a:gdLst/>
              <a:ahLst/>
              <a:cxnLst/>
              <a:rect r="r" b="b" t="t" l="l"/>
              <a:pathLst>
                <a:path h="682752" w="5852160">
                  <a:moveTo>
                    <a:pt x="0" y="0"/>
                  </a:moveTo>
                  <a:lnTo>
                    <a:pt x="5852160" y="0"/>
                  </a:lnTo>
                  <a:lnTo>
                    <a:pt x="5852160" y="682752"/>
                  </a:lnTo>
                  <a:lnTo>
                    <a:pt x="0" y="682752"/>
                  </a:lnTo>
                  <a:close/>
                </a:path>
              </a:pathLst>
            </a:custGeom>
            <a:blipFill>
              <a:blip r:embed="rId4">
                <a:alphaModFix amt="0"/>
              </a:blip>
              <a:stretch>
                <a:fillRect l="0" t="-117014" r="0" b="-117014"/>
              </a:stretch>
            </a:blipFill>
          </p:spPr>
        </p:sp>
        <p:sp>
          <p:nvSpPr>
            <p:cNvPr name="TextBox 18" id="18"/>
            <p:cNvSpPr txBox="true"/>
            <p:nvPr/>
          </p:nvSpPr>
          <p:spPr>
            <a:xfrm>
              <a:off x="0" y="-38100"/>
              <a:ext cx="5852160" cy="720852"/>
            </a:xfrm>
            <a:prstGeom prst="rect">
              <a:avLst/>
            </a:prstGeom>
          </p:spPr>
          <p:txBody>
            <a:bodyPr anchor="ctr" rtlCol="false" tIns="0" lIns="0" bIns="0" rIns="0"/>
            <a:lstStyle/>
            <a:p>
              <a:pPr algn="l">
                <a:lnSpc>
                  <a:spcPts val="2879"/>
                </a:lnSpc>
              </a:pPr>
              <a:r>
                <a:rPr lang="en-US" b="true" sz="2400" spc="600">
                  <a:solidFill>
                    <a:srgbClr val="FDC830"/>
                  </a:solidFill>
                  <a:latin typeface="Calibri (MS) Bold"/>
                  <a:ea typeface="Calibri (MS) Bold"/>
                  <a:cs typeface="Calibri (MS) Bold"/>
                  <a:sym typeface="Calibri (MS) Bold"/>
                </a:rPr>
                <a:t>LA RÉPONSE</a:t>
              </a:r>
            </a:p>
          </p:txBody>
        </p:sp>
      </p:grpSp>
      <p:sp>
        <p:nvSpPr>
          <p:cNvPr name="TextBox 19" id="19"/>
          <p:cNvSpPr txBox="true"/>
          <p:nvPr/>
        </p:nvSpPr>
        <p:spPr>
          <a:xfrm rot="0">
            <a:off x="6995160" y="3581400"/>
            <a:ext cx="4389120" cy="1356360"/>
          </a:xfrm>
          <a:prstGeom prst="rect">
            <a:avLst/>
          </a:prstGeom>
        </p:spPr>
        <p:txBody>
          <a:bodyPr anchor="t" rtlCol="false" tIns="0" lIns="0" bIns="0" rIns="0">
            <a:spAutoFit/>
          </a:bodyPr>
          <a:lstStyle/>
          <a:p>
            <a:pPr algn="l">
              <a:lnSpc>
                <a:spcPts val="4560"/>
              </a:lnSpc>
            </a:pPr>
            <a:r>
              <a:rPr lang="en-US" sz="3800" b="true">
                <a:solidFill>
                  <a:srgbClr val="FFE69C"/>
                </a:solidFill>
                <a:latin typeface="Calibri (MS) Bold"/>
                <a:ea typeface="Calibri (MS) Bold"/>
                <a:cs typeface="Calibri (MS) Bold"/>
                <a:sym typeface="Calibri (MS) Bold"/>
              </a:rPr>
              <a:t>Une plateforme centralisée</a:t>
            </a:r>
          </a:p>
        </p:txBody>
      </p:sp>
      <p:sp>
        <p:nvSpPr>
          <p:cNvPr name="TextBox 20" id="20"/>
          <p:cNvSpPr txBox="true"/>
          <p:nvPr/>
        </p:nvSpPr>
        <p:spPr>
          <a:xfrm rot="0">
            <a:off x="6995160" y="4962525"/>
            <a:ext cx="4389120" cy="2169795"/>
          </a:xfrm>
          <a:prstGeom prst="rect">
            <a:avLst/>
          </a:prstGeom>
        </p:spPr>
        <p:txBody>
          <a:bodyPr anchor="t" rtlCol="false" tIns="0" lIns="0" bIns="0" rIns="0">
            <a:spAutoFit/>
          </a:bodyPr>
          <a:lstStyle/>
          <a:p>
            <a:pPr algn="l">
              <a:lnSpc>
                <a:spcPts val="3359"/>
              </a:lnSpc>
            </a:pPr>
            <a:r>
              <a:rPr lang="en-US" sz="2799">
                <a:solidFill>
                  <a:srgbClr val="FFFFFF"/>
                </a:solidFill>
                <a:latin typeface="Calibri (MS)"/>
                <a:ea typeface="Calibri (MS)"/>
                <a:cs typeface="Calibri (MS)"/>
                <a:sym typeface="Calibri (MS)"/>
              </a:rPr>
              <a:t>Un site public, un espace d'administration et une base de données fiable.</a:t>
            </a:r>
          </a:p>
        </p:txBody>
      </p:sp>
      <p:grpSp>
        <p:nvGrpSpPr>
          <p:cNvPr name="Group 21" id="21"/>
          <p:cNvGrpSpPr/>
          <p:nvPr/>
        </p:nvGrpSpPr>
        <p:grpSpPr>
          <a:xfrm rot="0">
            <a:off x="12155167" y="2645407"/>
            <a:ext cx="5224777" cy="4676137"/>
            <a:chOff x="0" y="0"/>
            <a:chExt cx="6966369" cy="6234849"/>
          </a:xfrm>
        </p:grpSpPr>
        <p:sp>
          <p:nvSpPr>
            <p:cNvPr name="Freeform 22" id="22"/>
            <p:cNvSpPr/>
            <p:nvPr/>
          </p:nvSpPr>
          <p:spPr>
            <a:xfrm flipH="false" flipV="false" rot="0">
              <a:off x="0" y="0"/>
              <a:ext cx="6966331" cy="6234811"/>
            </a:xfrm>
            <a:custGeom>
              <a:avLst/>
              <a:gdLst/>
              <a:ahLst/>
              <a:cxnLst/>
              <a:rect r="r" b="b" t="t" l="l"/>
              <a:pathLst>
                <a:path h="6234811" w="6966331">
                  <a:moveTo>
                    <a:pt x="0" y="342265"/>
                  </a:moveTo>
                  <a:cubicBezTo>
                    <a:pt x="0" y="153289"/>
                    <a:pt x="153289" y="0"/>
                    <a:pt x="342265" y="0"/>
                  </a:cubicBezTo>
                  <a:lnTo>
                    <a:pt x="6624066" y="0"/>
                  </a:lnTo>
                  <a:cubicBezTo>
                    <a:pt x="6813169" y="0"/>
                    <a:pt x="6966331" y="153289"/>
                    <a:pt x="6966331" y="342265"/>
                  </a:cubicBezTo>
                  <a:lnTo>
                    <a:pt x="6966331" y="5892546"/>
                  </a:lnTo>
                  <a:cubicBezTo>
                    <a:pt x="6966331" y="6081649"/>
                    <a:pt x="6813042" y="6234811"/>
                    <a:pt x="6624066" y="6234811"/>
                  </a:cubicBezTo>
                  <a:lnTo>
                    <a:pt x="342265" y="6234811"/>
                  </a:lnTo>
                  <a:cubicBezTo>
                    <a:pt x="153289" y="6234811"/>
                    <a:pt x="0" y="6081649"/>
                    <a:pt x="0" y="5892546"/>
                  </a:cubicBezTo>
                  <a:close/>
                </a:path>
              </a:pathLst>
            </a:custGeom>
            <a:solidFill>
              <a:srgbClr val="0A1D42"/>
            </a:solidFill>
            <a:ln w="12700" cap="sq">
              <a:solidFill>
                <a:srgbClr val="0A1D42"/>
              </a:solidFill>
              <a:prstDash val="solid"/>
              <a:miter/>
            </a:ln>
          </p:spPr>
        </p:sp>
      </p:grpSp>
      <p:grpSp>
        <p:nvGrpSpPr>
          <p:cNvPr name="Group 23" id="23"/>
          <p:cNvGrpSpPr/>
          <p:nvPr/>
        </p:nvGrpSpPr>
        <p:grpSpPr>
          <a:xfrm rot="0">
            <a:off x="12618720" y="3017520"/>
            <a:ext cx="4389120" cy="512064"/>
            <a:chOff x="0" y="0"/>
            <a:chExt cx="5852160" cy="682752"/>
          </a:xfrm>
        </p:grpSpPr>
        <p:sp>
          <p:nvSpPr>
            <p:cNvPr name="Freeform 24" id="24"/>
            <p:cNvSpPr/>
            <p:nvPr/>
          </p:nvSpPr>
          <p:spPr>
            <a:xfrm flipH="false" flipV="false" rot="0">
              <a:off x="0" y="0"/>
              <a:ext cx="5852160" cy="682752"/>
            </a:xfrm>
            <a:custGeom>
              <a:avLst/>
              <a:gdLst/>
              <a:ahLst/>
              <a:cxnLst/>
              <a:rect r="r" b="b" t="t" l="l"/>
              <a:pathLst>
                <a:path h="682752" w="5852160">
                  <a:moveTo>
                    <a:pt x="0" y="0"/>
                  </a:moveTo>
                  <a:lnTo>
                    <a:pt x="5852160" y="0"/>
                  </a:lnTo>
                  <a:lnTo>
                    <a:pt x="5852160" y="682752"/>
                  </a:lnTo>
                  <a:lnTo>
                    <a:pt x="0" y="682752"/>
                  </a:lnTo>
                  <a:close/>
                </a:path>
              </a:pathLst>
            </a:custGeom>
            <a:blipFill>
              <a:blip r:embed="rId4">
                <a:alphaModFix amt="0"/>
              </a:blip>
              <a:stretch>
                <a:fillRect l="0" t="-117014" r="0" b="-117014"/>
              </a:stretch>
            </a:blipFill>
          </p:spPr>
        </p:sp>
        <p:sp>
          <p:nvSpPr>
            <p:cNvPr name="TextBox 25" id="25"/>
            <p:cNvSpPr txBox="true"/>
            <p:nvPr/>
          </p:nvSpPr>
          <p:spPr>
            <a:xfrm>
              <a:off x="0" y="-38100"/>
              <a:ext cx="5852160" cy="720852"/>
            </a:xfrm>
            <a:prstGeom prst="rect">
              <a:avLst/>
            </a:prstGeom>
          </p:spPr>
          <p:txBody>
            <a:bodyPr anchor="ctr" rtlCol="false" tIns="0" lIns="0" bIns="0" rIns="0"/>
            <a:lstStyle/>
            <a:p>
              <a:pPr algn="l">
                <a:lnSpc>
                  <a:spcPts val="2879"/>
                </a:lnSpc>
              </a:pPr>
              <a:r>
                <a:rPr lang="en-US" b="true" sz="2400" spc="600">
                  <a:solidFill>
                    <a:srgbClr val="FDC830"/>
                  </a:solidFill>
                  <a:latin typeface="Calibri (MS) Bold"/>
                  <a:ea typeface="Calibri (MS) Bold"/>
                  <a:cs typeface="Calibri (MS) Bold"/>
                  <a:sym typeface="Calibri (MS) Bold"/>
                </a:rPr>
                <a:t>LA PREUVE</a:t>
              </a:r>
            </a:p>
          </p:txBody>
        </p:sp>
      </p:grpSp>
      <p:sp>
        <p:nvSpPr>
          <p:cNvPr name="TextBox 26" id="26"/>
          <p:cNvSpPr txBox="true"/>
          <p:nvPr/>
        </p:nvSpPr>
        <p:spPr>
          <a:xfrm rot="0">
            <a:off x="12618720" y="3581400"/>
            <a:ext cx="4389120" cy="1356360"/>
          </a:xfrm>
          <a:prstGeom prst="rect">
            <a:avLst/>
          </a:prstGeom>
        </p:spPr>
        <p:txBody>
          <a:bodyPr anchor="t" rtlCol="false" tIns="0" lIns="0" bIns="0" rIns="0">
            <a:spAutoFit/>
          </a:bodyPr>
          <a:lstStyle/>
          <a:p>
            <a:pPr algn="l">
              <a:lnSpc>
                <a:spcPts val="4560"/>
              </a:lnSpc>
            </a:pPr>
            <a:r>
              <a:rPr lang="en-US" sz="3800" b="true">
                <a:solidFill>
                  <a:srgbClr val="FFE69C"/>
                </a:solidFill>
                <a:latin typeface="Calibri (MS) Bold"/>
                <a:ea typeface="Calibri (MS) Bold"/>
                <a:cs typeface="Calibri (MS) Bold"/>
                <a:sym typeface="Calibri (MS) Bold"/>
              </a:rPr>
              <a:t>Un prototype fonctionnel</a:t>
            </a:r>
          </a:p>
        </p:txBody>
      </p:sp>
      <p:sp>
        <p:nvSpPr>
          <p:cNvPr name="TextBox 27" id="27"/>
          <p:cNvSpPr txBox="true"/>
          <p:nvPr/>
        </p:nvSpPr>
        <p:spPr>
          <a:xfrm rot="0">
            <a:off x="12618720" y="4962525"/>
            <a:ext cx="4389120" cy="2169795"/>
          </a:xfrm>
          <a:prstGeom prst="rect">
            <a:avLst/>
          </a:prstGeom>
        </p:spPr>
        <p:txBody>
          <a:bodyPr anchor="t" rtlCol="false" tIns="0" lIns="0" bIns="0" rIns="0">
            <a:spAutoFit/>
          </a:bodyPr>
          <a:lstStyle/>
          <a:p>
            <a:pPr algn="l">
              <a:lnSpc>
                <a:spcPts val="3359"/>
              </a:lnSpc>
            </a:pPr>
            <a:r>
              <a:rPr lang="en-US" sz="2799">
                <a:solidFill>
                  <a:srgbClr val="FFFFFF"/>
                </a:solidFill>
                <a:latin typeface="Calibri (MS)"/>
                <a:ea typeface="Calibri (MS)"/>
                <a:cs typeface="Calibri (MS)"/>
                <a:sym typeface="Calibri (MS)"/>
              </a:rPr>
              <a:t>16 tests réussis et une base crédible pour la transformation numérique de CA IMMO.</a:t>
            </a:r>
          </a:p>
        </p:txBody>
      </p:sp>
      <p:sp>
        <p:nvSpPr>
          <p:cNvPr name="TextBox 28" id="28"/>
          <p:cNvSpPr txBox="true"/>
          <p:nvPr/>
        </p:nvSpPr>
        <p:spPr>
          <a:xfrm rot="0">
            <a:off x="15819120" y="9608820"/>
            <a:ext cx="731520" cy="403860"/>
          </a:xfrm>
          <a:prstGeom prst="rect">
            <a:avLst/>
          </a:prstGeom>
        </p:spPr>
        <p:txBody>
          <a:bodyPr anchor="t" rtlCol="false" tIns="0" lIns="0" bIns="0" rIns="0">
            <a:spAutoFit/>
          </a:bodyPr>
          <a:lstStyle/>
          <a:p>
            <a:pPr algn="r">
              <a:lnSpc>
                <a:spcPts val="2400"/>
              </a:lnSpc>
            </a:pPr>
            <a:r>
              <a:rPr lang="en-US" sz="2000">
                <a:solidFill>
                  <a:srgbClr val="5B6785"/>
                </a:solidFill>
                <a:latin typeface="Calibri (MS)"/>
                <a:ea typeface="Calibri (MS)"/>
                <a:cs typeface="Calibri (MS)"/>
                <a:sym typeface="Calibri (MS)"/>
              </a:rPr>
              <a:t>14</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4657087" y="656587"/>
            <a:ext cx="8973817" cy="8973817"/>
            <a:chOff x="0" y="0"/>
            <a:chExt cx="11965089" cy="11965089"/>
          </a:xfrm>
        </p:grpSpPr>
        <p:sp>
          <p:nvSpPr>
            <p:cNvPr name="Freeform 3" id="3"/>
            <p:cNvSpPr/>
            <p:nvPr/>
          </p:nvSpPr>
          <p:spPr>
            <a:xfrm flipH="false" flipV="false" rot="0">
              <a:off x="0" y="0"/>
              <a:ext cx="11965051" cy="11965051"/>
            </a:xfrm>
            <a:custGeom>
              <a:avLst/>
              <a:gdLst/>
              <a:ahLst/>
              <a:cxnLst/>
              <a:rect r="r" b="b" t="t" l="l"/>
              <a:pathLst>
                <a:path h="11965051" w="11965051">
                  <a:moveTo>
                    <a:pt x="0" y="5982589"/>
                  </a:moveTo>
                  <a:cubicBezTo>
                    <a:pt x="0" y="2678430"/>
                    <a:pt x="2678430" y="0"/>
                    <a:pt x="5982589" y="0"/>
                  </a:cubicBezTo>
                  <a:cubicBezTo>
                    <a:pt x="9286749" y="0"/>
                    <a:pt x="11965051" y="2678430"/>
                    <a:pt x="11965051" y="5982589"/>
                  </a:cubicBezTo>
                  <a:cubicBezTo>
                    <a:pt x="11965051" y="9286749"/>
                    <a:pt x="9286621" y="11965051"/>
                    <a:pt x="5982589" y="11965051"/>
                  </a:cubicBezTo>
                  <a:cubicBezTo>
                    <a:pt x="2678557" y="11965051"/>
                    <a:pt x="0" y="9286621"/>
                    <a:pt x="0" y="5982589"/>
                  </a:cubicBezTo>
                  <a:close/>
                </a:path>
              </a:pathLst>
            </a:custGeom>
            <a:solidFill>
              <a:srgbClr val="FDC830"/>
            </a:solidFill>
            <a:ln w="12700" cap="sq">
              <a:solidFill>
                <a:srgbClr val="FDC830"/>
              </a:solidFill>
              <a:prstDash val="solid"/>
              <a:miter/>
            </a:ln>
          </p:spPr>
        </p:sp>
      </p:grpSp>
      <p:grpSp>
        <p:nvGrpSpPr>
          <p:cNvPr name="Group 4" id="4"/>
          <p:cNvGrpSpPr/>
          <p:nvPr/>
        </p:nvGrpSpPr>
        <p:grpSpPr>
          <a:xfrm rot="0">
            <a:off x="16349472" y="0"/>
            <a:ext cx="1938528" cy="2980944"/>
            <a:chOff x="0" y="0"/>
            <a:chExt cx="2584704" cy="3974592"/>
          </a:xfrm>
        </p:grpSpPr>
        <p:sp>
          <p:nvSpPr>
            <p:cNvPr name="Freeform 5" id="5" descr="Décoration"/>
            <p:cNvSpPr/>
            <p:nvPr/>
          </p:nvSpPr>
          <p:spPr>
            <a:xfrm flipH="false" flipV="false" rot="0">
              <a:off x="0" y="0"/>
              <a:ext cx="2584704" cy="3974592"/>
            </a:xfrm>
            <a:custGeom>
              <a:avLst/>
              <a:gdLst/>
              <a:ahLst/>
              <a:cxnLst/>
              <a:rect r="r" b="b" t="t" l="l"/>
              <a:pathLst>
                <a:path h="3974592" w="2584704">
                  <a:moveTo>
                    <a:pt x="0" y="0"/>
                  </a:moveTo>
                  <a:lnTo>
                    <a:pt x="2584704" y="0"/>
                  </a:lnTo>
                  <a:lnTo>
                    <a:pt x="2584704" y="3974592"/>
                  </a:lnTo>
                  <a:lnTo>
                    <a:pt x="0" y="3974592"/>
                  </a:lnTo>
                  <a:lnTo>
                    <a:pt x="0" y="0"/>
                  </a:lnTo>
                  <a:close/>
                </a:path>
              </a:pathLst>
            </a:custGeom>
            <a:blipFill>
              <a:blip r:embed="rId3"/>
              <a:stretch>
                <a:fillRect l="-187" t="0" r="-187" b="0"/>
              </a:stretch>
            </a:blipFill>
          </p:spPr>
        </p:sp>
      </p:grpSp>
      <p:grpSp>
        <p:nvGrpSpPr>
          <p:cNvPr name="Group 6" id="6"/>
          <p:cNvGrpSpPr/>
          <p:nvPr/>
        </p:nvGrpSpPr>
        <p:grpSpPr>
          <a:xfrm rot="0">
            <a:off x="0" y="6089904"/>
            <a:ext cx="2816352" cy="4187952"/>
            <a:chOff x="0" y="0"/>
            <a:chExt cx="3755136" cy="5583936"/>
          </a:xfrm>
        </p:grpSpPr>
        <p:sp>
          <p:nvSpPr>
            <p:cNvPr name="Freeform 7" id="7" descr="Décoration"/>
            <p:cNvSpPr/>
            <p:nvPr/>
          </p:nvSpPr>
          <p:spPr>
            <a:xfrm flipH="false" flipV="false" rot="0">
              <a:off x="0" y="0"/>
              <a:ext cx="3755136" cy="5583936"/>
            </a:xfrm>
            <a:custGeom>
              <a:avLst/>
              <a:gdLst/>
              <a:ahLst/>
              <a:cxnLst/>
              <a:rect r="r" b="b" t="t" l="l"/>
              <a:pathLst>
                <a:path h="5583936" w="3755136">
                  <a:moveTo>
                    <a:pt x="0" y="0"/>
                  </a:moveTo>
                  <a:lnTo>
                    <a:pt x="3755136" y="0"/>
                  </a:lnTo>
                  <a:lnTo>
                    <a:pt x="3755136" y="5583936"/>
                  </a:lnTo>
                  <a:lnTo>
                    <a:pt x="0" y="5583936"/>
                  </a:lnTo>
                  <a:lnTo>
                    <a:pt x="0" y="0"/>
                  </a:lnTo>
                  <a:close/>
                </a:path>
              </a:pathLst>
            </a:custGeom>
            <a:blipFill>
              <a:blip r:embed="rId4"/>
              <a:stretch>
                <a:fillRect l="-43" t="0" r="-43" b="0"/>
              </a:stretch>
            </a:blipFill>
          </p:spPr>
        </p:sp>
      </p:grpSp>
      <p:grpSp>
        <p:nvGrpSpPr>
          <p:cNvPr name="Group 8" id="8"/>
          <p:cNvGrpSpPr/>
          <p:nvPr/>
        </p:nvGrpSpPr>
        <p:grpSpPr>
          <a:xfrm rot="0">
            <a:off x="5120640" y="3680460"/>
            <a:ext cx="8046720" cy="2926080"/>
            <a:chOff x="0" y="0"/>
            <a:chExt cx="10728960" cy="3901440"/>
          </a:xfrm>
        </p:grpSpPr>
        <p:sp>
          <p:nvSpPr>
            <p:cNvPr name="Freeform 9" id="9"/>
            <p:cNvSpPr/>
            <p:nvPr/>
          </p:nvSpPr>
          <p:spPr>
            <a:xfrm flipH="false" flipV="false" rot="0">
              <a:off x="0" y="0"/>
              <a:ext cx="10728960" cy="3901440"/>
            </a:xfrm>
            <a:custGeom>
              <a:avLst/>
              <a:gdLst/>
              <a:ahLst/>
              <a:cxnLst/>
              <a:rect r="r" b="b" t="t" l="l"/>
              <a:pathLst>
                <a:path h="3901440" w="10728960">
                  <a:moveTo>
                    <a:pt x="0" y="0"/>
                  </a:moveTo>
                  <a:lnTo>
                    <a:pt x="10728960" y="0"/>
                  </a:lnTo>
                  <a:lnTo>
                    <a:pt x="10728960" y="3901440"/>
                  </a:lnTo>
                  <a:lnTo>
                    <a:pt x="0" y="3901440"/>
                  </a:lnTo>
                  <a:close/>
                </a:path>
              </a:pathLst>
            </a:custGeom>
            <a:blipFill>
              <a:blip r:embed="rId5">
                <a:alphaModFix amt="0"/>
              </a:blip>
              <a:stretch>
                <a:fillRect l="0" t="-3583" r="0" b="-3583"/>
              </a:stretch>
            </a:blipFill>
          </p:spPr>
        </p:sp>
        <p:sp>
          <p:nvSpPr>
            <p:cNvPr name="TextBox 10" id="10"/>
            <p:cNvSpPr txBox="true"/>
            <p:nvPr/>
          </p:nvSpPr>
          <p:spPr>
            <a:xfrm>
              <a:off x="0" y="-38100"/>
              <a:ext cx="10728960" cy="3939540"/>
            </a:xfrm>
            <a:prstGeom prst="rect">
              <a:avLst/>
            </a:prstGeom>
          </p:spPr>
          <p:txBody>
            <a:bodyPr anchor="ctr" rtlCol="false" tIns="0" lIns="0" bIns="0" rIns="0"/>
            <a:lstStyle/>
            <a:p>
              <a:pPr algn="ctr">
                <a:lnSpc>
                  <a:spcPts val="6720"/>
                </a:lnSpc>
              </a:pPr>
              <a:r>
                <a:rPr lang="en-US" sz="5600" b="true">
                  <a:solidFill>
                    <a:srgbClr val="0A1D42"/>
                  </a:solidFill>
                  <a:latin typeface="Arial Bold"/>
                  <a:ea typeface="Arial Bold"/>
                  <a:cs typeface="Arial Bold"/>
                  <a:sym typeface="Arial Bold"/>
                </a:rPr>
                <a:t>DÉMONSTRATION</a:t>
              </a:r>
            </a:p>
            <a:p>
              <a:pPr algn="ctr">
                <a:lnSpc>
                  <a:spcPts val="6720"/>
                </a:lnSpc>
              </a:pPr>
              <a:r>
                <a:rPr lang="en-US" sz="5600" b="true">
                  <a:solidFill>
                    <a:srgbClr val="0A1D42"/>
                  </a:solidFill>
                  <a:latin typeface="Arial Bold"/>
                  <a:ea typeface="Arial Bold"/>
                  <a:cs typeface="Arial Bold"/>
                  <a:sym typeface="Arial Bold"/>
                </a:rPr>
                <a:t>EN LIVE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1536192"/>
            <a:ext cx="10149840" cy="7717536"/>
            <a:chOff x="0" y="0"/>
            <a:chExt cx="13533120" cy="10290048"/>
          </a:xfrm>
        </p:grpSpPr>
        <p:sp>
          <p:nvSpPr>
            <p:cNvPr name="Freeform 3" id="3" descr="assets/blob_title.png"/>
            <p:cNvSpPr/>
            <p:nvPr/>
          </p:nvSpPr>
          <p:spPr>
            <a:xfrm flipH="false" flipV="false" rot="0">
              <a:off x="0" y="0"/>
              <a:ext cx="13533120" cy="10290048"/>
            </a:xfrm>
            <a:custGeom>
              <a:avLst/>
              <a:gdLst/>
              <a:ahLst/>
              <a:cxnLst/>
              <a:rect r="r" b="b" t="t" l="l"/>
              <a:pathLst>
                <a:path h="10290048" w="13533120">
                  <a:moveTo>
                    <a:pt x="0" y="0"/>
                  </a:moveTo>
                  <a:lnTo>
                    <a:pt x="13533120" y="0"/>
                  </a:lnTo>
                  <a:lnTo>
                    <a:pt x="13533120" y="10290048"/>
                  </a:lnTo>
                  <a:lnTo>
                    <a:pt x="0" y="10290048"/>
                  </a:lnTo>
                  <a:lnTo>
                    <a:pt x="0" y="0"/>
                  </a:lnTo>
                  <a:close/>
                </a:path>
              </a:pathLst>
            </a:custGeom>
            <a:blipFill>
              <a:blip r:embed="rId3"/>
              <a:stretch>
                <a:fillRect l="0" t="0" r="0" b="0"/>
              </a:stretch>
            </a:blipFill>
          </p:spPr>
        </p:sp>
      </p:grpSp>
      <p:grpSp>
        <p:nvGrpSpPr>
          <p:cNvPr name="Group 4" id="4"/>
          <p:cNvGrpSpPr/>
          <p:nvPr/>
        </p:nvGrpSpPr>
        <p:grpSpPr>
          <a:xfrm rot="0">
            <a:off x="8997696" y="1865376"/>
            <a:ext cx="9290304" cy="7991856"/>
            <a:chOff x="0" y="0"/>
            <a:chExt cx="12387072" cy="10655808"/>
          </a:xfrm>
        </p:grpSpPr>
        <p:sp>
          <p:nvSpPr>
            <p:cNvPr name="Freeform 5" id="5" descr="assets/laptop_crop.png"/>
            <p:cNvSpPr/>
            <p:nvPr/>
          </p:nvSpPr>
          <p:spPr>
            <a:xfrm flipH="false" flipV="false" rot="0">
              <a:off x="0" y="0"/>
              <a:ext cx="12387072" cy="10655808"/>
            </a:xfrm>
            <a:custGeom>
              <a:avLst/>
              <a:gdLst/>
              <a:ahLst/>
              <a:cxnLst/>
              <a:rect r="r" b="b" t="t" l="l"/>
              <a:pathLst>
                <a:path h="10655808" w="12387072">
                  <a:moveTo>
                    <a:pt x="0" y="0"/>
                  </a:moveTo>
                  <a:lnTo>
                    <a:pt x="12387072" y="0"/>
                  </a:lnTo>
                  <a:lnTo>
                    <a:pt x="12387072" y="10655808"/>
                  </a:lnTo>
                  <a:lnTo>
                    <a:pt x="0" y="10655808"/>
                  </a:lnTo>
                  <a:lnTo>
                    <a:pt x="0" y="0"/>
                  </a:lnTo>
                  <a:close/>
                </a:path>
              </a:pathLst>
            </a:custGeom>
            <a:blipFill>
              <a:blip r:embed="rId4"/>
              <a:stretch>
                <a:fillRect l="-16" t="0" r="-16" b="0"/>
              </a:stretch>
            </a:blipFill>
          </p:spPr>
        </p:sp>
      </p:grpSp>
      <p:grpSp>
        <p:nvGrpSpPr>
          <p:cNvPr name="Group 6" id="6"/>
          <p:cNvGrpSpPr/>
          <p:nvPr/>
        </p:nvGrpSpPr>
        <p:grpSpPr>
          <a:xfrm rot="0">
            <a:off x="0" y="36576"/>
            <a:ext cx="1645920" cy="1673352"/>
            <a:chOff x="0" y="0"/>
            <a:chExt cx="2194560" cy="2231136"/>
          </a:xfrm>
        </p:grpSpPr>
        <p:sp>
          <p:nvSpPr>
            <p:cNvPr name="Freeform 7" id="7" descr="assets/eray.png"/>
            <p:cNvSpPr/>
            <p:nvPr/>
          </p:nvSpPr>
          <p:spPr>
            <a:xfrm flipH="false" flipV="false" rot="0">
              <a:off x="0" y="0"/>
              <a:ext cx="2194560" cy="2231136"/>
            </a:xfrm>
            <a:custGeom>
              <a:avLst/>
              <a:gdLst/>
              <a:ahLst/>
              <a:cxnLst/>
              <a:rect r="r" b="b" t="t" l="l"/>
              <a:pathLst>
                <a:path h="2231136" w="2194560">
                  <a:moveTo>
                    <a:pt x="0" y="0"/>
                  </a:moveTo>
                  <a:lnTo>
                    <a:pt x="2194560" y="0"/>
                  </a:lnTo>
                  <a:lnTo>
                    <a:pt x="2194560" y="2231136"/>
                  </a:lnTo>
                  <a:lnTo>
                    <a:pt x="0" y="2231136"/>
                  </a:lnTo>
                  <a:lnTo>
                    <a:pt x="0" y="0"/>
                  </a:lnTo>
                  <a:close/>
                </a:path>
              </a:pathLst>
            </a:custGeom>
            <a:blipFill>
              <a:blip r:embed="rId5"/>
              <a:stretch>
                <a:fillRect l="0" t="-4" r="0" b="-4"/>
              </a:stretch>
            </a:blipFill>
          </p:spPr>
        </p:sp>
      </p:grpSp>
      <p:grpSp>
        <p:nvGrpSpPr>
          <p:cNvPr name="Group 8" id="8"/>
          <p:cNvGrpSpPr/>
          <p:nvPr/>
        </p:nvGrpSpPr>
        <p:grpSpPr>
          <a:xfrm rot="0">
            <a:off x="16770096" y="36576"/>
            <a:ext cx="1517904" cy="1517904"/>
            <a:chOff x="0" y="0"/>
            <a:chExt cx="2023872" cy="2023872"/>
          </a:xfrm>
        </p:grpSpPr>
        <p:sp>
          <p:nvSpPr>
            <p:cNvPr name="Freeform 9" id="9" descr="assets/geit.png"/>
            <p:cNvSpPr/>
            <p:nvPr/>
          </p:nvSpPr>
          <p:spPr>
            <a:xfrm flipH="false" flipV="false" rot="0">
              <a:off x="0" y="0"/>
              <a:ext cx="2023872" cy="2023872"/>
            </a:xfrm>
            <a:custGeom>
              <a:avLst/>
              <a:gdLst/>
              <a:ahLst/>
              <a:cxnLst/>
              <a:rect r="r" b="b" t="t" l="l"/>
              <a:pathLst>
                <a:path h="2023872" w="2023872">
                  <a:moveTo>
                    <a:pt x="0" y="0"/>
                  </a:moveTo>
                  <a:lnTo>
                    <a:pt x="2023872" y="0"/>
                  </a:lnTo>
                  <a:lnTo>
                    <a:pt x="2023872" y="2023872"/>
                  </a:lnTo>
                  <a:lnTo>
                    <a:pt x="0" y="2023872"/>
                  </a:lnTo>
                  <a:lnTo>
                    <a:pt x="0" y="0"/>
                  </a:lnTo>
                  <a:close/>
                </a:path>
              </a:pathLst>
            </a:custGeom>
            <a:blipFill>
              <a:blip r:embed="rId6"/>
              <a:stretch>
                <a:fillRect l="0" t="0" r="0" b="0"/>
              </a:stretch>
            </a:blipFill>
          </p:spPr>
        </p:sp>
      </p:grpSp>
      <p:grpSp>
        <p:nvGrpSpPr>
          <p:cNvPr name="Group 10" id="10"/>
          <p:cNvGrpSpPr/>
          <p:nvPr/>
        </p:nvGrpSpPr>
        <p:grpSpPr>
          <a:xfrm rot="0">
            <a:off x="292608" y="9509760"/>
            <a:ext cx="7315200" cy="548640"/>
            <a:chOff x="0" y="0"/>
            <a:chExt cx="9753600" cy="731520"/>
          </a:xfrm>
        </p:grpSpPr>
        <p:sp>
          <p:nvSpPr>
            <p:cNvPr name="Freeform 11" id="11"/>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7">
                <a:alphaModFix amt="0"/>
              </a:blip>
              <a:stretch>
                <a:fillRect l="0" t="-209800" r="0" b="-209800"/>
              </a:stretch>
            </a:blipFill>
          </p:spPr>
        </p:sp>
        <p:sp>
          <p:nvSpPr>
            <p:cNvPr name="TextBox 12" id="12"/>
            <p:cNvSpPr txBox="true"/>
            <p:nvPr/>
          </p:nvSpPr>
          <p:spPr>
            <a:xfrm>
              <a:off x="0" y="-38100"/>
              <a:ext cx="9753600" cy="769620"/>
            </a:xfrm>
            <a:prstGeom prst="rect">
              <a:avLst/>
            </a:prstGeom>
          </p:spPr>
          <p:txBody>
            <a:bodyPr anchor="ctr" rtlCol="false" tIns="0" lIns="0" bIns="0" rIns="0"/>
            <a:lstStyle/>
            <a:p>
              <a:pPr algn="l">
                <a:lnSpc>
                  <a:spcPts val="2879"/>
                </a:lnSpc>
              </a:pPr>
              <a:r>
                <a:rPr lang="en-US" sz="2400" b="true">
                  <a:solidFill>
                    <a:srgbClr val="0A1D42"/>
                  </a:solidFill>
                  <a:latin typeface="Calibri (MS) Bold"/>
                  <a:ea typeface="Calibri (MS) Bold"/>
                  <a:cs typeface="Calibri (MS) Bold"/>
                  <a:sym typeface="Calibri (MS) Bold"/>
                </a:rPr>
                <a:t>Année Scolaire : 2025 - 2026</a:t>
              </a:r>
            </a:p>
          </p:txBody>
        </p:sp>
      </p:grpSp>
      <p:sp>
        <p:nvSpPr>
          <p:cNvPr name="TextBox 13" id="13"/>
          <p:cNvSpPr txBox="true"/>
          <p:nvPr/>
        </p:nvSpPr>
        <p:spPr>
          <a:xfrm rot="0">
            <a:off x="2011680" y="264795"/>
            <a:ext cx="14264640" cy="1143381"/>
          </a:xfrm>
          <a:prstGeom prst="rect">
            <a:avLst/>
          </a:prstGeom>
        </p:spPr>
        <p:txBody>
          <a:bodyPr anchor="t" rtlCol="false" tIns="0" lIns="0" bIns="0" rIns="0">
            <a:spAutoFit/>
          </a:bodyPr>
          <a:lstStyle/>
          <a:p>
            <a:pPr algn="ctr">
              <a:lnSpc>
                <a:spcPts val="2879"/>
              </a:lnSpc>
            </a:pPr>
            <a:r>
              <a:rPr lang="en-US" sz="2400" b="true">
                <a:solidFill>
                  <a:srgbClr val="0A1D42"/>
                </a:solidFill>
                <a:latin typeface="Arial Bold"/>
                <a:ea typeface="Arial Bold"/>
                <a:cs typeface="Arial Bold"/>
                <a:sym typeface="Arial Bold"/>
              </a:rPr>
              <a:t>MÉMOIRE EN VUE DE L'OBTENTION DU DIPLÔME DE LICENCE</a:t>
            </a:r>
          </a:p>
          <a:p>
            <a:pPr algn="ctr">
              <a:lnSpc>
                <a:spcPts val="2879"/>
              </a:lnSpc>
            </a:pPr>
            <a:r>
              <a:rPr lang="en-US" sz="2400" b="true">
                <a:solidFill>
                  <a:srgbClr val="0A1D42"/>
                </a:solidFill>
                <a:latin typeface="Arial Bold"/>
                <a:ea typeface="Arial Bold"/>
                <a:cs typeface="Arial Bold"/>
                <a:sym typeface="Arial Bold"/>
              </a:rPr>
              <a:t>PARCOURS : DÉVELOPPEMENT WEB ET MOBILE</a:t>
            </a:r>
          </a:p>
        </p:txBody>
      </p:sp>
      <p:sp>
        <p:nvSpPr>
          <p:cNvPr name="TextBox 14" id="14"/>
          <p:cNvSpPr txBox="true"/>
          <p:nvPr/>
        </p:nvSpPr>
        <p:spPr>
          <a:xfrm rot="0">
            <a:off x="365760" y="3556635"/>
            <a:ext cx="9418320" cy="2112645"/>
          </a:xfrm>
          <a:prstGeom prst="rect">
            <a:avLst/>
          </a:prstGeom>
        </p:spPr>
        <p:txBody>
          <a:bodyPr anchor="t" rtlCol="false" tIns="0" lIns="0" bIns="0" rIns="0">
            <a:spAutoFit/>
          </a:bodyPr>
          <a:lstStyle/>
          <a:p>
            <a:pPr algn="l">
              <a:lnSpc>
                <a:spcPts val="4799"/>
              </a:lnSpc>
            </a:pPr>
            <a:r>
              <a:rPr lang="en-US" sz="3999" b="true">
                <a:solidFill>
                  <a:srgbClr val="FFE69C"/>
                </a:solidFill>
                <a:latin typeface="Arial Bold"/>
                <a:ea typeface="Arial Bold"/>
                <a:cs typeface="Arial Bold"/>
                <a:sym typeface="Arial Bold"/>
              </a:rPr>
              <a:t>MERCI DE VOTRE ATTENTION</a:t>
            </a:r>
          </a:p>
        </p:txBody>
      </p:sp>
      <p:grpSp>
        <p:nvGrpSpPr>
          <p:cNvPr name="Group 15" id="15"/>
          <p:cNvGrpSpPr/>
          <p:nvPr/>
        </p:nvGrpSpPr>
        <p:grpSpPr>
          <a:xfrm rot="0">
            <a:off x="365760" y="5212080"/>
            <a:ext cx="9326880" cy="731520"/>
            <a:chOff x="0" y="0"/>
            <a:chExt cx="12435840" cy="975360"/>
          </a:xfrm>
        </p:grpSpPr>
        <p:sp>
          <p:nvSpPr>
            <p:cNvPr name="Freeform 16" id="16"/>
            <p:cNvSpPr/>
            <p:nvPr/>
          </p:nvSpPr>
          <p:spPr>
            <a:xfrm flipH="false" flipV="false" rot="0">
              <a:off x="0" y="0"/>
              <a:ext cx="12435840" cy="975360"/>
            </a:xfrm>
            <a:custGeom>
              <a:avLst/>
              <a:gdLst/>
              <a:ahLst/>
              <a:cxnLst/>
              <a:rect r="r" b="b" t="t" l="l"/>
              <a:pathLst>
                <a:path h="975360" w="12435840">
                  <a:moveTo>
                    <a:pt x="0" y="0"/>
                  </a:moveTo>
                  <a:lnTo>
                    <a:pt x="12435840" y="0"/>
                  </a:lnTo>
                  <a:lnTo>
                    <a:pt x="12435840" y="975360"/>
                  </a:lnTo>
                  <a:lnTo>
                    <a:pt x="0" y="975360"/>
                  </a:lnTo>
                  <a:close/>
                </a:path>
              </a:pathLst>
            </a:custGeom>
            <a:blipFill>
              <a:blip r:embed="rId7">
                <a:alphaModFix amt="0"/>
              </a:blip>
              <a:stretch>
                <a:fillRect l="0" t="-198434" r="0" b="-198434"/>
              </a:stretch>
            </a:blipFill>
          </p:spPr>
        </p:sp>
        <p:sp>
          <p:nvSpPr>
            <p:cNvPr name="TextBox 17" id="17"/>
            <p:cNvSpPr txBox="true"/>
            <p:nvPr/>
          </p:nvSpPr>
          <p:spPr>
            <a:xfrm>
              <a:off x="0" y="-66675"/>
              <a:ext cx="12435840" cy="1042035"/>
            </a:xfrm>
            <a:prstGeom prst="rect">
              <a:avLst/>
            </a:prstGeom>
          </p:spPr>
          <p:txBody>
            <a:bodyPr anchor="ctr" rtlCol="false" tIns="0" lIns="0" bIns="0" rIns="0"/>
            <a:lstStyle/>
            <a:p>
              <a:pPr algn="l">
                <a:lnSpc>
                  <a:spcPts val="4320"/>
                </a:lnSpc>
              </a:pPr>
              <a:r>
                <a:rPr lang="en-US" sz="3600" b="true">
                  <a:solidFill>
                    <a:srgbClr val="FDC830"/>
                  </a:solidFill>
                  <a:latin typeface="Calibri (MS) Bold"/>
                  <a:ea typeface="Calibri (MS) Bold"/>
                  <a:cs typeface="Calibri (MS) Bold"/>
                  <a:sym typeface="Calibri (MS) Bold"/>
                </a:rPr>
                <a:t>Place à vos questions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DAHXTZvoDJ8</dc:identifier>
  <dcterms:modified xsi:type="dcterms:W3CDTF">2011-08-01T06:04:30Z</dcterms:modified>
  <cp:revision>1</cp:revision>
  <dc:title>Soutenance_CA_IMMO_allegee (2).pptx</dc:title>
</cp:coreProperties>
</file>